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70" r:id="rId7"/>
    <p:sldId id="271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8301" autoAdjust="0"/>
  </p:normalViewPr>
  <p:slideViewPr>
    <p:cSldViewPr snapToGrid="0" snapToObjects="1">
      <p:cViewPr varScale="1">
        <p:scale>
          <a:sx n="44" d="100"/>
          <a:sy n="44" d="100"/>
        </p:scale>
        <p:origin x="2088" y="6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8917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A29AF-9D86-769D-7FBF-DF7A9356E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D09902-B894-B1E6-A1C5-7D24C9ABF5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E8619F-C013-CCCC-2288-26510BEB5A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CCADD-EDF7-362C-0834-E765351FC0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129704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7C583-F889-D5A7-FC60-C4D8DC0BE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49B8AD-B9DA-C1E0-0F68-69A806FD98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FAF837-A7BB-5FDA-C47A-E45ACC462D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87FF77-C91D-5459-E3D0-53BF113D45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888126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8B7CDA-7C93-98AE-A42D-FF6220187A57}"/>
              </a:ext>
            </a:extLst>
          </p:cNvPr>
          <p:cNvSpPr txBox="1"/>
          <p:nvPr/>
        </p:nvSpPr>
        <p:spPr>
          <a:xfrm>
            <a:off x="729575" y="1781040"/>
            <a:ext cx="10252953" cy="31085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800" dirty="0"/>
              <a:t>Three tools do the work. </a:t>
            </a:r>
          </a:p>
          <a:p>
            <a:endParaRPr lang="en-US" sz="2800" dirty="0"/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US" sz="2800" b="1" i="1" dirty="0">
                <a:solidFill>
                  <a:srgbClr val="C00000"/>
                </a:solidFill>
              </a:rPr>
              <a:t>Hashing</a:t>
            </a:r>
            <a:r>
              <a:rPr lang="en-US" sz="2800" dirty="0"/>
              <a:t> detects change. 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endParaRPr lang="en-US" sz="2800" dirty="0"/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US" sz="2800" b="1" i="1" dirty="0">
                <a:solidFill>
                  <a:srgbClr val="C00000"/>
                </a:solidFill>
              </a:rPr>
              <a:t>Chaining</a:t>
            </a:r>
            <a:r>
              <a:rPr lang="en-US" sz="2800" dirty="0"/>
              <a:t> spreads that detection across the whole history. 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endParaRPr lang="en-US" sz="2800" dirty="0"/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US" sz="2800" b="1" i="1" dirty="0">
                <a:solidFill>
                  <a:srgbClr val="C00000"/>
                </a:solidFill>
              </a:rPr>
              <a:t>Signatures</a:t>
            </a:r>
            <a:r>
              <a:rPr lang="en-US" sz="2800" dirty="0"/>
              <a:t> establish who </a:t>
            </a:r>
            <a:r>
              <a:rPr lang="en-US" sz="2800" dirty="0" err="1"/>
              <a:t>authorised</a:t>
            </a:r>
            <a:r>
              <a:rPr lang="en-US" sz="2800" dirty="0"/>
              <a:t> each entry.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07AF0BE-A02F-25AE-15CA-905A5CED93FE}"/>
              </a:ext>
            </a:extLst>
          </p:cNvPr>
          <p:cNvSpPr/>
          <p:nvPr/>
        </p:nvSpPr>
        <p:spPr>
          <a:xfrm>
            <a:off x="447472" y="1342417"/>
            <a:ext cx="7675124" cy="62257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AA9E37-AD2A-94AF-A602-42E1C6193A54}"/>
              </a:ext>
            </a:extLst>
          </p:cNvPr>
          <p:cNvSpPr txBox="1"/>
          <p:nvPr/>
        </p:nvSpPr>
        <p:spPr>
          <a:xfrm>
            <a:off x="6381352" y="3920241"/>
            <a:ext cx="5804982" cy="7078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/>
              <a:t>a way for many computers in a blockchain network to agree on which version of the blockchain is valid.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B840F9-961C-460B-59FB-FD7A0364A9CE}"/>
              </a:ext>
            </a:extLst>
          </p:cNvPr>
          <p:cNvSpPr txBox="1"/>
          <p:nvPr/>
        </p:nvSpPr>
        <p:spPr>
          <a:xfrm>
            <a:off x="5946032" y="5783253"/>
            <a:ext cx="6240302" cy="4001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/>
            </a:lvl1pPr>
          </a:lstStyle>
          <a:p>
            <a:r>
              <a:rPr lang="en-US" dirty="0"/>
              <a:t>the person or organization you are dealing with.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B39F99C-B046-BDCC-49EB-E44B257F7199}"/>
              </a:ext>
            </a:extLst>
          </p:cNvPr>
          <p:cNvSpPr/>
          <p:nvPr/>
        </p:nvSpPr>
        <p:spPr>
          <a:xfrm>
            <a:off x="447472" y="1342417"/>
            <a:ext cx="7149830" cy="62257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49F6A98-7A09-20E2-A28B-F40B3623BA5C}"/>
              </a:ext>
            </a:extLst>
          </p:cNvPr>
          <p:cNvCxnSpPr/>
          <p:nvPr/>
        </p:nvCxnSpPr>
        <p:spPr>
          <a:xfrm>
            <a:off x="1089498" y="3054485"/>
            <a:ext cx="90467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FB6FE-B2E9-D726-4FEE-59222D15BE84}"/>
              </a:ext>
            </a:extLst>
          </p:cNvPr>
          <p:cNvCxnSpPr>
            <a:cxnSpLocks/>
          </p:cNvCxnSpPr>
          <p:nvPr/>
        </p:nvCxnSpPr>
        <p:spPr>
          <a:xfrm>
            <a:off x="941962" y="3654358"/>
            <a:ext cx="321174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FC8E820-2F20-EBEC-3317-073E603F46A9}"/>
              </a:ext>
            </a:extLst>
          </p:cNvPr>
          <p:cNvCxnSpPr>
            <a:cxnSpLocks/>
          </p:cNvCxnSpPr>
          <p:nvPr/>
        </p:nvCxnSpPr>
        <p:spPr>
          <a:xfrm>
            <a:off x="941962" y="4341779"/>
            <a:ext cx="197633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9D422F-A9CE-AE1D-F30C-0FB2C7B94FE7}"/>
              </a:ext>
            </a:extLst>
          </p:cNvPr>
          <p:cNvCxnSpPr/>
          <p:nvPr/>
        </p:nvCxnSpPr>
        <p:spPr>
          <a:xfrm>
            <a:off x="6692630" y="3031787"/>
            <a:ext cx="90467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A91944E-B30C-763C-108F-BF7BC3D28914}"/>
              </a:ext>
            </a:extLst>
          </p:cNvPr>
          <p:cNvCxnSpPr/>
          <p:nvPr/>
        </p:nvCxnSpPr>
        <p:spPr>
          <a:xfrm>
            <a:off x="6692630" y="3359285"/>
            <a:ext cx="90467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5D2F33C-64A9-2A8E-C89B-D42919F836E4}"/>
              </a:ext>
            </a:extLst>
          </p:cNvPr>
          <p:cNvCxnSpPr>
            <a:cxnSpLocks/>
          </p:cNvCxnSpPr>
          <p:nvPr/>
        </p:nvCxnSpPr>
        <p:spPr>
          <a:xfrm>
            <a:off x="6692630" y="3683540"/>
            <a:ext cx="191634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23993F1-A0B5-D9FB-610F-2F67579A37BC}"/>
              </a:ext>
            </a:extLst>
          </p:cNvPr>
          <p:cNvCxnSpPr>
            <a:cxnSpLocks/>
          </p:cNvCxnSpPr>
          <p:nvPr/>
        </p:nvCxnSpPr>
        <p:spPr>
          <a:xfrm>
            <a:off x="6692630" y="4108314"/>
            <a:ext cx="191634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80433-2170-20D4-1A0F-7FAA9B2AB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5.png">
            <a:extLst>
              <a:ext uri="{FF2B5EF4-FFF2-40B4-BE49-F238E27FC236}">
                <a16:creationId xmlns:a16="http://schemas.microsoft.com/office/drawing/2014/main" id="{3DA78E97-6592-75C5-EE16-FE1C1A5F9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C04DD0-471C-5C93-0070-C45E74F04AA5}"/>
              </a:ext>
            </a:extLst>
          </p:cNvPr>
          <p:cNvSpPr txBox="1"/>
          <p:nvPr/>
        </p:nvSpPr>
        <p:spPr>
          <a:xfrm>
            <a:off x="6096000" y="2066234"/>
            <a:ext cx="5854995" cy="446705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A </a:t>
            </a:r>
            <a:r>
              <a:rPr lang="en-US" sz="2400" b="1" dirty="0">
                <a:solidFill>
                  <a:srgbClr val="FF0000"/>
                </a:solidFill>
              </a:rPr>
              <a:t>digital signature answers a completely different question. </a:t>
            </a:r>
            <a:endParaRPr lang="en-US" sz="24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Hashing tells you whether something changed.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It cannot tell you who was allowed to write it in the first place.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FF0000"/>
                </a:solidFill>
              </a:rPr>
              <a:t>Signatures do that, using a private key that only the owner holds.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E5E8E3-9E9B-9DF8-3D8F-5B26E4E5337A}"/>
              </a:ext>
            </a:extLst>
          </p:cNvPr>
          <p:cNvSpPr txBox="1"/>
          <p:nvPr/>
        </p:nvSpPr>
        <p:spPr>
          <a:xfrm>
            <a:off x="6084480" y="1225689"/>
            <a:ext cx="5866515" cy="563231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A </a:t>
            </a:r>
            <a:r>
              <a:rPr lang="en-US" sz="2400" b="1" i="1" dirty="0">
                <a:solidFill>
                  <a:srgbClr val="FF0000"/>
                </a:solidFill>
              </a:rPr>
              <a:t>hash chain applies that idea to blocks.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Each block carries the fingerprint of the block before it.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So changing an old record changes that block’s fingerprint.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That fingerprint no longer matches what the next block recorded, and the mismatch breaks every link after it.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One quiet edit becomes a visible break running all the way to the present day.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A Merkle tree is the same idea applied inside a single block: many transactions summarised into one fingerprint, so one changed transaction changes the block’s summary.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33ED95-7D63-DBF9-FE7D-A1AA3FA6D332}"/>
              </a:ext>
            </a:extLst>
          </p:cNvPr>
          <p:cNvSpPr txBox="1"/>
          <p:nvPr/>
        </p:nvSpPr>
        <p:spPr>
          <a:xfrm>
            <a:off x="6148278" y="1224652"/>
            <a:ext cx="5854995" cy="55750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A </a:t>
            </a:r>
            <a:r>
              <a:rPr lang="en-US" sz="2400" b="1" i="1" dirty="0">
                <a:solidFill>
                  <a:srgbClr val="FF0000"/>
                </a:solidFill>
              </a:rPr>
              <a:t>hash</a:t>
            </a:r>
            <a:r>
              <a:rPr lang="en-US" sz="2400" dirty="0"/>
              <a:t> is a fingerprint of a piece of data.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Feed in any text and you get back a short string of fixed length.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24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The same input always produces the same fingerprint, and any change at all, even one character, produces a completely different one.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24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That is the detection mechanism.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1129E7B-C406-1BDE-FD15-17FED0195F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8164" y="4433777"/>
            <a:ext cx="4294107" cy="24338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30756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A76CC-0B1F-A28B-7F56-FEB7AA2C5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5.png">
            <a:extLst>
              <a:ext uri="{FF2B5EF4-FFF2-40B4-BE49-F238E27FC236}">
                <a16:creationId xmlns:a16="http://schemas.microsoft.com/office/drawing/2014/main" id="{C981C3AA-E291-0EAB-C15F-B46AE0CD4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E7E7FA5-ADC7-E683-2622-31E84E52A633}"/>
              </a:ext>
            </a:extLst>
          </p:cNvPr>
          <p:cNvCxnSpPr/>
          <p:nvPr/>
        </p:nvCxnSpPr>
        <p:spPr>
          <a:xfrm>
            <a:off x="6692630" y="3031787"/>
            <a:ext cx="90467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644698F-7CC4-89C5-2DA0-34742679C4C5}"/>
              </a:ext>
            </a:extLst>
          </p:cNvPr>
          <p:cNvCxnSpPr/>
          <p:nvPr/>
        </p:nvCxnSpPr>
        <p:spPr>
          <a:xfrm>
            <a:off x="6692630" y="3359285"/>
            <a:ext cx="90467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8CE0953-CD77-4667-377B-DEFC954AF1FC}"/>
              </a:ext>
            </a:extLst>
          </p:cNvPr>
          <p:cNvCxnSpPr>
            <a:cxnSpLocks/>
          </p:cNvCxnSpPr>
          <p:nvPr/>
        </p:nvCxnSpPr>
        <p:spPr>
          <a:xfrm>
            <a:off x="6692630" y="3683540"/>
            <a:ext cx="191634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5508DBC-FDF1-5DC5-BB3B-8C033C8645BC}"/>
              </a:ext>
            </a:extLst>
          </p:cNvPr>
          <p:cNvCxnSpPr>
            <a:cxnSpLocks/>
          </p:cNvCxnSpPr>
          <p:nvPr/>
        </p:nvCxnSpPr>
        <p:spPr>
          <a:xfrm>
            <a:off x="6692630" y="4108314"/>
            <a:ext cx="191634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4DAF8FB-029F-0D3D-C116-772AC7496B47}"/>
              </a:ext>
            </a:extLst>
          </p:cNvPr>
          <p:cNvSpPr txBox="1"/>
          <p:nvPr/>
        </p:nvSpPr>
        <p:spPr>
          <a:xfrm>
            <a:off x="53592" y="1438009"/>
            <a:ext cx="6077578" cy="489364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dirty="0"/>
              <a:t>A Bahraini firm records a property transfer on a shared ledger and types the wrong plot number. </a:t>
            </a:r>
          </a:p>
          <a:p>
            <a:r>
              <a:rPr lang="en-US" sz="2400" dirty="0"/>
              <a:t>Hashing guarantees that the wrong number will never be silently altered afterwards. </a:t>
            </a:r>
          </a:p>
          <a:p>
            <a:r>
              <a:rPr lang="en-US" sz="2400" dirty="0"/>
              <a:t>It guarantees nothing at all about the number being right in the first place. Integrity is a promise about the record, never about reality. </a:t>
            </a:r>
          </a:p>
          <a:p>
            <a:r>
              <a:rPr lang="en-US" sz="2400" dirty="0"/>
              <a:t>Say the pair of words that captures it: faithful, not truthful. </a:t>
            </a:r>
          </a:p>
          <a:p>
            <a:r>
              <a:rPr lang="en-US" sz="2400" dirty="0"/>
              <a:t>The ledger is faithful to what it was given, and it has no opinion about whether what it was given was true.</a:t>
            </a:r>
          </a:p>
        </p:txBody>
      </p:sp>
    </p:spTree>
    <p:extLst>
      <p:ext uri="{BB962C8B-B14F-4D97-AF65-F5344CB8AC3E}">
        <p14:creationId xmlns:p14="http://schemas.microsoft.com/office/powerpoint/2010/main" val="182137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DB482A-1E55-0941-656A-76F03B335C18}"/>
              </a:ext>
            </a:extLst>
          </p:cNvPr>
          <p:cNvSpPr txBox="1"/>
          <p:nvPr/>
        </p:nvSpPr>
        <p:spPr>
          <a:xfrm>
            <a:off x="668215" y="2740911"/>
            <a:ext cx="11781694" cy="76944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 dirty="0"/>
              <a:t>A hash of a single sentence and a hash of an entire contract are the same length. That is what makes fingerprint comparison cheap: you are always comparing two short strings, never two documents.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3FC669-DE75-B6CC-8663-DB587D71D7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85538" y="2751870"/>
            <a:ext cx="4806462" cy="2588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386</Words>
  <Application>Microsoft Office PowerPoint</Application>
  <PresentationFormat>Widescreen</PresentationFormat>
  <Paragraphs>31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Faiz Ul Islam</cp:lastModifiedBy>
  <cp:revision>15</cp:revision>
  <dcterms:created xsi:type="dcterms:W3CDTF">2013-01-27T09:14:16Z</dcterms:created>
  <dcterms:modified xsi:type="dcterms:W3CDTF">2026-10-21T07:53:58Z</dcterms:modified>
  <cp:category/>
</cp:coreProperties>
</file>