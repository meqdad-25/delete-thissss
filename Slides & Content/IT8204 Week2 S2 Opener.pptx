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9" r:id="rId5"/>
    <p:sldId id="259" r:id="rId6"/>
    <p:sldId id="260" r:id="rId7"/>
    <p:sldId id="270" r:id="rId8"/>
    <p:sldId id="272" r:id="rId9"/>
    <p:sldId id="273" r:id="rId10"/>
    <p:sldId id="274" r:id="rId11"/>
    <p:sldId id="261" r:id="rId12"/>
    <p:sldId id="275" r:id="rId13"/>
    <p:sldId id="263" r:id="rId14"/>
    <p:sldId id="262" r:id="rId15"/>
    <p:sldId id="264" r:id="rId16"/>
    <p:sldId id="271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889" autoAdjust="0"/>
  </p:normalViewPr>
  <p:slideViewPr>
    <p:cSldViewPr snapToGrid="0" snapToObjects="1">
      <p:cViewPr varScale="1">
        <p:scale>
          <a:sx n="70" d="100"/>
          <a:sy n="70" d="100"/>
        </p:scale>
        <p:origin x="10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86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D9C4-0C23-80D0-912E-2C4B1C9CE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8B437-2C5E-7627-61A8-C9CDC62CB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873D5-417F-4B32-1450-4D4D4D53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AFBA9-1812-C6A2-6221-EEDC10B6F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67635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0B37-C12D-CD4E-8172-47F172D3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79033-5560-8104-FD29-60DE37824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9CF3C-4676-3FEE-B43E-1D89736AB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05A05-8808-1D8E-0BAD-F22B2252B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773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80F4-1C43-645A-96A8-A7932651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81795-1DC5-8C12-6899-9506FD45D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A1511-1A2C-E155-6287-094FFAB5B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69307-114B-DD24-7A60-984C23B81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38070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AB9F3-FE67-F126-D918-D98F0DB6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4C603-2D37-317F-C440-48EBC8942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FE0D0-62D9-CA38-A344-E6EB68FF3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4AE66-77AE-4A24-FE31-997460844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425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FCC4-59E0-6A81-96F9-B0416B27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8B5B1-AEFC-9130-2136-178CDF78A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64DB6-38E5-33A0-780B-E08F4AE19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4E36E-ED7F-B741-820F-8C9FB93CE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43423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F96C-26E9-914F-223E-6A98D5C4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223CB-EB84-CBBC-689C-82173CB72A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811D4-379C-1C69-2FFD-684E19262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BBDE3-2F6E-FA7F-AA6C-4B9407DBB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0481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CC36-9293-2A93-299C-2D17EC1A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AFC16-68D3-5481-3F60-997E10E0C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C769B-8CAE-2CC2-C98B-5534AEEBE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A29A3-58D2-8678-BCFD-BC014466B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39869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938E33-2289-66AC-BDE9-D4130D02982B}"/>
              </a:ext>
            </a:extLst>
          </p:cNvPr>
          <p:cNvSpPr txBox="1"/>
          <p:nvPr/>
        </p:nvSpPr>
        <p:spPr>
          <a:xfrm>
            <a:off x="556908" y="1182231"/>
            <a:ext cx="10980096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Last time was about keeping records honest. </a:t>
            </a:r>
          </a:p>
          <a:p>
            <a:r>
              <a:rPr lang="en-US" sz="2800" dirty="0"/>
              <a:t>Today is about who's allowed to write them. </a:t>
            </a:r>
          </a:p>
          <a:p>
            <a:endParaRPr lang="en-US" sz="2800" dirty="0"/>
          </a:p>
          <a:p>
            <a:r>
              <a:rPr lang="en-US" sz="2800" dirty="0"/>
              <a:t>Those are two separate questions — you can have a tamper-evident ledger whether it's open to the </a:t>
            </a:r>
            <a:r>
              <a:rPr lang="en-US" sz="2800" b="1" dirty="0">
                <a:solidFill>
                  <a:srgbClr val="FF0000"/>
                </a:solidFill>
              </a:rPr>
              <a:t>whole world </a:t>
            </a:r>
            <a:r>
              <a:rPr lang="en-US" sz="2800" dirty="0"/>
              <a:t>or </a:t>
            </a:r>
            <a:r>
              <a:rPr lang="en-US" sz="2800" b="1" dirty="0">
                <a:solidFill>
                  <a:srgbClr val="FF0000"/>
                </a:solidFill>
              </a:rPr>
              <a:t>locked to eight banks?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205F8-F3C8-A41B-EAAA-F63206D4CE17}"/>
              </a:ext>
            </a:extLst>
          </p:cNvPr>
          <p:cNvSpPr txBox="1"/>
          <p:nvPr/>
        </p:nvSpPr>
        <p:spPr>
          <a:xfrm>
            <a:off x="333171" y="3460414"/>
            <a:ext cx="11592939" cy="13849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why it's a business question, not a tech one</a:t>
            </a:r>
            <a:br>
              <a:rPr lang="en-US" sz="2800" dirty="0"/>
            </a:br>
            <a:r>
              <a:rPr lang="en-US" sz="2800" dirty="0"/>
              <a:t>Whether a ledger is open or closed isn't a technical setting — it's a decision with real consequences for </a:t>
            </a:r>
            <a:r>
              <a:rPr lang="en-US" sz="2800" b="1" dirty="0">
                <a:solidFill>
                  <a:srgbClr val="FF0000"/>
                </a:solidFill>
              </a:rPr>
              <a:t>speed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FF0000"/>
                </a:solidFill>
              </a:rPr>
              <a:t>privacy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FF0000"/>
                </a:solidFill>
              </a:rPr>
              <a:t>control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rgbClr val="FF0000"/>
                </a:solidFill>
              </a:rPr>
              <a:t>licensing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860F9-0AA5-AAE6-41C8-7435B3DC7A85}"/>
              </a:ext>
            </a:extLst>
          </p:cNvPr>
          <p:cNvSpPr txBox="1"/>
          <p:nvPr/>
        </p:nvSpPr>
        <p:spPr>
          <a:xfrm>
            <a:off x="1255776" y="6006191"/>
            <a:ext cx="10936224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Hint: You don't need the math behind PoW, </a:t>
            </a:r>
            <a:r>
              <a:rPr lang="en-US" sz="2400" b="1" dirty="0" err="1">
                <a:solidFill>
                  <a:schemeClr val="bg1"/>
                </a:solidFill>
              </a:rPr>
              <a:t>PoS</a:t>
            </a:r>
            <a:r>
              <a:rPr lang="en-US" sz="2400" b="1" dirty="0">
                <a:solidFill>
                  <a:schemeClr val="bg1"/>
                </a:solidFill>
              </a:rPr>
              <a:t>, BFT, or </a:t>
            </a:r>
            <a:r>
              <a:rPr lang="en-US" sz="2400" b="1" dirty="0" err="1">
                <a:solidFill>
                  <a:schemeClr val="bg1"/>
                </a:solidFill>
              </a:rPr>
              <a:t>PoA</a:t>
            </a:r>
            <a:r>
              <a:rPr lang="en-US" sz="2400" b="1" dirty="0">
                <a:solidFill>
                  <a:schemeClr val="bg1"/>
                </a:solidFill>
              </a:rPr>
              <a:t>. You just need to know which one fits which situation, and why." Four labels, four trade-offs — that's 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62799-955A-45BC-0B09-51A182C8A9CC}"/>
              </a:ext>
            </a:extLst>
          </p:cNvPr>
          <p:cNvSpPr txBox="1"/>
          <p:nvPr/>
        </p:nvSpPr>
        <p:spPr>
          <a:xfrm>
            <a:off x="1576618" y="4262735"/>
            <a:ext cx="10936224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Hint: Evaluating a use case means picking ONE of the four criteria that actually decides the answer, and explaining why the other three don't matter as much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9AA6-0B04-3906-3DEB-A47F9CB7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>
            <a:extLst>
              <a:ext uri="{FF2B5EF4-FFF2-40B4-BE49-F238E27FC236}">
                <a16:creationId xmlns:a16="http://schemas.microsoft.com/office/drawing/2014/main" id="{BECADFE2-79E6-DAF6-0E01-15FF2E766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44D47B-3AC9-DD04-D90E-13EB25B7B468}"/>
              </a:ext>
            </a:extLst>
          </p:cNvPr>
          <p:cNvSpPr txBox="1"/>
          <p:nvPr/>
        </p:nvSpPr>
        <p:spPr>
          <a:xfrm>
            <a:off x="388883" y="174952"/>
            <a:ext cx="11414234" cy="65079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What "permissioned" means: only approved people can join and write to the ledger (like 8 specific banks).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"Permissionless" means anyone in the world can join (like Bitcoin or Ethereum).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The wrong idea students often have: they assume "open to everyone" = better/stronger, and "restricted to a few banks" = weaker or somehow "fake" blockchain.  Like ranking them 1st place vs 2nd place.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Why that's wrong: it's not a ranking, it's a choice.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one is just built for a different job: Open (permissionless) → nobody controls it, but slower, less private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Restricted (permissioned) → faster, more private, but a few parties are in charge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Neither is "more secure" — they're just secure in different ways, for different needs.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"Permissioned doesn't mean less secure, and it doesn't mean it's not a real blockchain." Just say that sentence plainly, once, clearly.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35038-A636-050C-B6C1-75F09757C7A1}"/>
              </a:ext>
            </a:extLst>
          </p:cNvPr>
          <p:cNvSpPr txBox="1"/>
          <p:nvPr/>
        </p:nvSpPr>
        <p:spPr>
          <a:xfrm rot="20844276">
            <a:off x="760777" y="2543410"/>
            <a:ext cx="11033586" cy="1200329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if a student later writes in their assignment “permissioned blockchains are less secure,” that’s a mistake</a:t>
            </a:r>
          </a:p>
        </p:txBody>
      </p:sp>
    </p:spTree>
    <p:extLst>
      <p:ext uri="{BB962C8B-B14F-4D97-AF65-F5344CB8AC3E}">
        <p14:creationId xmlns:p14="http://schemas.microsoft.com/office/powerpoint/2010/main" val="276159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3FD18-226B-676C-4F31-069B07EAC117}"/>
              </a:ext>
            </a:extLst>
          </p:cNvPr>
          <p:cNvSpPr txBox="1"/>
          <p:nvPr/>
        </p:nvSpPr>
        <p:spPr>
          <a:xfrm>
            <a:off x="712552" y="4562672"/>
            <a:ext cx="5075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A permissioned ledger is a closed or restricted distributed database where only verified and authorized participants can access data, view transactions, or validate new blocks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29DF-B3F6-A0B0-55CE-DDA890CB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>
            <a:extLst>
              <a:ext uri="{FF2B5EF4-FFF2-40B4-BE49-F238E27FC236}">
                <a16:creationId xmlns:a16="http://schemas.microsoft.com/office/drawing/2014/main" id="{FF933695-D14C-3006-AF3A-2C78D825C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19620E-C999-8D73-EF2A-4E214BE80BB3}"/>
              </a:ext>
            </a:extLst>
          </p:cNvPr>
          <p:cNvSpPr txBox="1"/>
          <p:nvPr/>
        </p:nvSpPr>
        <p:spPr>
          <a:xfrm>
            <a:off x="214745" y="80210"/>
            <a:ext cx="11762509" cy="66830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C00000"/>
                </a:solidFill>
              </a:rPr>
              <a:t>Permissionless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"Open: anyone can join and transact" → Anyone, anywhere, can join.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"Public and censorship-resistant" → Everyone can see everything.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"Needs less trust in any one party, but carries fewer transactions" → You don't have to trust one company or boss. But it’s slower — it can’t handle as many transactions at once.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"Bitcoin, Ethereum" → the two most famous real examples.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C00000"/>
                </a:solidFill>
              </a:rPr>
              <a:t>Permissioned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Closed: known, vetted participants" → Only people who are checked and approved can join. Not open to the public.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"Private and controllable" → Outsiders can't see the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"Higher throughput, more governance" → It can handle more transactions at once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“Hyperledger Fabric, Corda" → two real systems banks actually use.</a:t>
            </a:r>
          </a:p>
        </p:txBody>
      </p:sp>
    </p:spTree>
    <p:extLst>
      <p:ext uri="{BB962C8B-B14F-4D97-AF65-F5344CB8AC3E}">
        <p14:creationId xmlns:p14="http://schemas.microsoft.com/office/powerpoint/2010/main" val="216696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E489-4350-955C-C44D-A70AD973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49810D-98FF-DBD4-18B0-E4743AC3409E}"/>
              </a:ext>
            </a:extLst>
          </p:cNvPr>
          <p:cNvSpPr txBox="1"/>
          <p:nvPr/>
        </p:nvSpPr>
        <p:spPr>
          <a:xfrm>
            <a:off x="212203" y="68470"/>
            <a:ext cx="113750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Think about the normal system</a:t>
            </a:r>
          </a:p>
          <a:p>
            <a:r>
              <a:rPr lang="en-US" sz="2400" dirty="0"/>
              <a:t>Suppose </a:t>
            </a:r>
            <a:r>
              <a:rPr lang="en-US" sz="2400" b="1" dirty="0">
                <a:solidFill>
                  <a:srgbClr val="FF0000"/>
                </a:solidFill>
              </a:rPr>
              <a:t>Ali</a:t>
            </a:r>
            <a:r>
              <a:rPr lang="en-US" sz="2400" dirty="0"/>
              <a:t> has an account at </a:t>
            </a:r>
            <a:r>
              <a:rPr lang="en-US" sz="2400" b="1" dirty="0">
                <a:solidFill>
                  <a:srgbClr val="FF0000"/>
                </a:solidFill>
              </a:rPr>
              <a:t>Bank A</a:t>
            </a:r>
            <a:r>
              <a:rPr lang="en-US" sz="2400" dirty="0"/>
              <a:t> and sends </a:t>
            </a:r>
            <a:r>
              <a:rPr lang="en-US" sz="2400" b="1" dirty="0">
                <a:solidFill>
                  <a:srgbClr val="FF0000"/>
                </a:solidFill>
              </a:rPr>
              <a:t>$1,000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rgbClr val="FF0000"/>
                </a:solidFill>
              </a:rPr>
              <a:t>Ahmed</a:t>
            </a:r>
            <a:r>
              <a:rPr lang="en-US" sz="2400" dirty="0"/>
              <a:t> at </a:t>
            </a:r>
            <a:r>
              <a:rPr lang="en-US" sz="2400" b="1" dirty="0">
                <a:solidFill>
                  <a:srgbClr val="FF0000"/>
                </a:solidFill>
              </a:rPr>
              <a:t>Bank B</a:t>
            </a:r>
            <a:r>
              <a:rPr lang="en-US" sz="2400" dirty="0"/>
              <a:t>.</a:t>
            </a:r>
          </a:p>
          <a:p>
            <a:r>
              <a:rPr lang="en-US" sz="2400" dirty="0"/>
              <a:t>A traditional system can do: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Bank A:"Ali's account −$1,000“                               </a:t>
            </a:r>
            <a:r>
              <a:rPr lang="en-US" sz="2400" dirty="0">
                <a:solidFill>
                  <a:srgbClr val="00B050"/>
                </a:solidFill>
              </a:rPr>
              <a:t>Bank B:"Ahmed's account +$1,000“</a:t>
            </a:r>
          </a:p>
          <a:p>
            <a:r>
              <a:rPr lang="en-US" sz="2400" dirty="0"/>
              <a:t>The banks communicate through existing payment infrastructure.</a:t>
            </a:r>
          </a:p>
          <a:p>
            <a:r>
              <a:rPr lang="en-US" sz="2400" b="1" i="1" dirty="0">
                <a:solidFill>
                  <a:srgbClr val="FF0000"/>
                </a:solidFill>
                <a:highlight>
                  <a:srgbClr val="FFFF00"/>
                </a:highlight>
              </a:rPr>
              <a:t>So why introduce a permissioned ledger?</a:t>
            </a:r>
          </a:p>
          <a:p>
            <a:r>
              <a:rPr lang="en-US" sz="2400" dirty="0"/>
              <a:t>The problem appears when </a:t>
            </a:r>
            <a:r>
              <a:rPr lang="en-US" sz="2400" b="1" dirty="0"/>
              <a:t>MANY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organizations</a:t>
            </a:r>
            <a:r>
              <a:rPr lang="en-US" sz="2400" dirty="0"/>
              <a:t> need </a:t>
            </a:r>
            <a:r>
              <a:rPr lang="en-US" sz="2400" b="1" dirty="0">
                <a:solidFill>
                  <a:srgbClr val="FF0000"/>
                </a:solidFill>
              </a:rPr>
              <a:t>one shared record</a:t>
            </a:r>
          </a:p>
          <a:p>
            <a:r>
              <a:rPr lang="en-US" sz="2400" dirty="0"/>
              <a:t>Imagine a trade-finance transaction involving: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Manufacturer + Exporter + Bank A + Bank B + Shipping company + Customs + Insurer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376C1-43E7-32F3-097B-4F30FD7C9DE9}"/>
              </a:ext>
            </a:extLst>
          </p:cNvPr>
          <p:cNvSpPr txBox="1"/>
          <p:nvPr/>
        </p:nvSpPr>
        <p:spPr>
          <a:xfrm>
            <a:off x="115747" y="3711801"/>
            <a:ext cx="4271057" cy="279724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ooper Black" panose="0208090404030B020404" pitchFamily="18" charset="0"/>
              </a:rPr>
              <a:t>Bank A       → Database 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ooper Black" panose="0208090404030B020404" pitchFamily="18" charset="0"/>
              </a:rPr>
              <a:t>Bank B       → Database B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ooper Black" panose="0208090404030B020404" pitchFamily="18" charset="0"/>
              </a:rPr>
              <a:t>Shipping     → Database C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ooper Black" panose="0208090404030B020404" pitchFamily="18" charset="0"/>
              </a:rPr>
              <a:t>Customs      → Database D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ooper Black" panose="0208090404030B020404" pitchFamily="18" charset="0"/>
              </a:rPr>
              <a:t>Insurer      → Database 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5B8D52-9FB3-F9AF-D1D2-24747CE767D9}"/>
              </a:ext>
            </a:extLst>
          </p:cNvPr>
          <p:cNvGrpSpPr/>
          <p:nvPr/>
        </p:nvGrpSpPr>
        <p:grpSpPr>
          <a:xfrm>
            <a:off x="5573363" y="3621168"/>
            <a:ext cx="6094070" cy="3016210"/>
            <a:chOff x="5885727" y="3402261"/>
            <a:chExt cx="6094070" cy="30162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F87EC6-B579-E4C6-3374-BAD669478632}"/>
                </a:ext>
              </a:extLst>
            </p:cNvPr>
            <p:cNvSpPr txBox="1"/>
            <p:nvPr/>
          </p:nvSpPr>
          <p:spPr>
            <a:xfrm>
              <a:off x="5885727" y="3402261"/>
              <a:ext cx="6094070" cy="30162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dirty="0">
                  <a:latin typeface="Amasis MT Pro Black" panose="02040A04050005020304" pitchFamily="18" charset="0"/>
                </a:rPr>
                <a:t>PERMISSIONED LEDGER</a:t>
              </a:r>
            </a:p>
            <a:p>
              <a:pPr rtl="0">
                <a:buNone/>
              </a:pPr>
              <a:r>
                <a:rPr lang="en-US" dirty="0">
                  <a:latin typeface="Amasis MT Pro Black" panose="02040A04050005020304" pitchFamily="18" charset="0"/>
                </a:rPr>
                <a:t>       </a:t>
              </a:r>
            </a:p>
            <a:p>
              <a:pPr lvl="2"/>
              <a:r>
                <a:rPr lang="en-US" dirty="0">
                  <a:latin typeface="Amasis MT Pro Black" panose="02040A04050005020304" pitchFamily="18" charset="0"/>
                </a:rPr>
                <a:t>        </a:t>
              </a:r>
              <a:r>
                <a:rPr lang="en-US" sz="2000" dirty="0">
                  <a:latin typeface="Amasis MT Pro Black" panose="02040A04050005020304" pitchFamily="18" charset="0"/>
                </a:rPr>
                <a:t>Shipment created      </a:t>
              </a:r>
            </a:p>
            <a:p>
              <a:pPr lvl="2"/>
              <a:r>
                <a:rPr lang="en-US" sz="2000" dirty="0">
                  <a:latin typeface="Amasis MT Pro Black" panose="02040A04050005020304" pitchFamily="18" charset="0"/>
                </a:rPr>
                <a:t>        Shipment dispatched</a:t>
              </a:r>
            </a:p>
            <a:p>
              <a:pPr lvl="2"/>
              <a:r>
                <a:rPr lang="en-US" sz="2000" dirty="0">
                  <a:latin typeface="Amasis MT Pro Black" panose="02040A04050005020304" pitchFamily="18" charset="0"/>
                </a:rPr>
                <a:t>        Customs approved    </a:t>
              </a:r>
            </a:p>
            <a:p>
              <a:pPr lvl="2"/>
              <a:r>
                <a:rPr lang="en-US" sz="2000" dirty="0">
                  <a:latin typeface="Amasis MT Pro Black" panose="02040A04050005020304" pitchFamily="18" charset="0"/>
                </a:rPr>
                <a:t>        Bank payment released </a:t>
              </a:r>
            </a:p>
            <a:p>
              <a:pPr lvl="2"/>
              <a:r>
                <a:rPr lang="en-US" sz="2000" dirty="0">
                  <a:latin typeface="Amasis MT Pro Black" panose="02040A04050005020304" pitchFamily="18" charset="0"/>
                </a:rPr>
                <a:t>        Goods received       </a:t>
              </a:r>
            </a:p>
            <a:p>
              <a:pPr rtl="0">
                <a:buNone/>
              </a:pPr>
              <a:r>
                <a:rPr lang="en-US" dirty="0">
                  <a:latin typeface="Amasis MT Pro Black" panose="02040A04050005020304" pitchFamily="18" charset="0"/>
                </a:rPr>
                <a:t>       </a:t>
              </a:r>
            </a:p>
            <a:p>
              <a:pPr rtl="0">
                <a:buNone/>
              </a:pPr>
              <a:r>
                <a:rPr lang="en-US" dirty="0">
                  <a:latin typeface="Amasis MT Pro Black" panose="02040A04050005020304" pitchFamily="18" charset="0"/>
                </a:rPr>
                <a:t>             ↑              ↑                ↑                  ↑</a:t>
              </a:r>
            </a:p>
            <a:p>
              <a:pPr rtl="0">
                <a:buNone/>
              </a:pPr>
              <a:r>
                <a:rPr lang="en-US" dirty="0">
                  <a:latin typeface="Amasis MT Pro Black" panose="02040A04050005020304" pitchFamily="18" charset="0"/>
                </a:rPr>
                <a:t>        Bank     Customs     Shipping     Insurer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F3FDA33-8D64-FB26-361F-29F6F251E0C2}"/>
                </a:ext>
              </a:extLst>
            </p:cNvPr>
            <p:cNvSpPr/>
            <p:nvPr/>
          </p:nvSpPr>
          <p:spPr>
            <a:xfrm>
              <a:off x="6412375" y="3877519"/>
              <a:ext cx="4583574" cy="1770927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971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3B44-59EB-DC75-2781-A3B3867E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7EB48D-A958-B395-EA9D-F66B3C4599E3}"/>
              </a:ext>
            </a:extLst>
          </p:cNvPr>
          <p:cNvSpPr txBox="1"/>
          <p:nvPr/>
        </p:nvSpPr>
        <p:spPr>
          <a:xfrm>
            <a:off x="651076" y="723195"/>
            <a:ext cx="10807861" cy="541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1" dirty="0">
                <a:solidFill>
                  <a:srgbClr val="C00000"/>
                </a:solidFill>
              </a:rPr>
              <a:t>Permissionless: </a:t>
            </a:r>
            <a:r>
              <a:rPr lang="en-US" sz="2800" dirty="0"/>
              <a:t>Anyone can potentially join and participate in the network.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i="1" dirty="0">
                <a:solidFill>
                  <a:srgbClr val="C00000"/>
                </a:solidFill>
              </a:rPr>
              <a:t>Permissioned</a:t>
            </a:r>
            <a:r>
              <a:rPr lang="en-US" sz="2800" dirty="0"/>
              <a:t>: Only authorized participants can join and perform specified roles.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Permissioned blockchain ≠ traditional database.</a:t>
            </a:r>
          </a:p>
          <a:p>
            <a:pPr algn="just"/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800" b="1" i="1" dirty="0">
                <a:solidFill>
                  <a:srgbClr val="FF0000"/>
                </a:solidFill>
                <a:highlight>
                  <a:srgbClr val="FFFF00"/>
                </a:highlight>
              </a:rPr>
              <a:t>The important difference is that a 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permissioned blockchain </a:t>
            </a:r>
            <a:r>
              <a:rPr lang="en-US" sz="2800" b="1" i="1" dirty="0">
                <a:solidFill>
                  <a:srgbClr val="FF0000"/>
                </a:solidFill>
                <a:highlight>
                  <a:srgbClr val="FFFF00"/>
                </a:highlight>
              </a:rPr>
              <a:t>can provide a 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shared ledger </a:t>
            </a:r>
            <a:r>
              <a:rPr lang="en-US" sz="2800" b="1" i="1" dirty="0">
                <a:solidFill>
                  <a:srgbClr val="FF0000"/>
                </a:solidFill>
                <a:highlight>
                  <a:srgbClr val="FFFF00"/>
                </a:highlight>
              </a:rPr>
              <a:t>among 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multiple authorized parties</a:t>
            </a:r>
            <a:r>
              <a:rPr lang="en-US" sz="2800" b="1" i="1" dirty="0">
                <a:solidFill>
                  <a:srgbClr val="FF0000"/>
                </a:solidFill>
                <a:highlight>
                  <a:srgbClr val="FFFF00"/>
                </a:highlight>
              </a:rPr>
              <a:t>, with 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agreed rules </a:t>
            </a:r>
            <a:r>
              <a:rPr lang="en-US" sz="2800" b="1" i="1" dirty="0">
                <a:solidFill>
                  <a:srgbClr val="FF0000"/>
                </a:solidFill>
                <a:highlight>
                  <a:srgbClr val="FFFF00"/>
                </a:highlight>
              </a:rPr>
              <a:t>for 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validating</a:t>
            </a:r>
            <a:r>
              <a:rPr lang="en-US" sz="2800" b="1" i="1" dirty="0">
                <a:solidFill>
                  <a:srgbClr val="FF0000"/>
                </a:solidFill>
                <a:highlight>
                  <a:srgbClr val="FFFF00"/>
                </a:highlight>
              </a:rPr>
              <a:t> and 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recording</a:t>
            </a:r>
            <a:r>
              <a:rPr lang="en-US" sz="2800" b="1" i="1" dirty="0">
                <a:solidFill>
                  <a:srgbClr val="FF0000"/>
                </a:solidFill>
                <a:highlight>
                  <a:srgbClr val="FFFF00"/>
                </a:highlight>
              </a:rPr>
              <a:t> transactions</a:t>
            </a:r>
            <a:r>
              <a:rPr lang="en-US" sz="2800" b="1" i="1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105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788E-B3A8-A5E6-2FA1-0AC5B520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>
            <a:extLst>
              <a:ext uri="{FF2B5EF4-FFF2-40B4-BE49-F238E27FC236}">
                <a16:creationId xmlns:a16="http://schemas.microsoft.com/office/drawing/2014/main" id="{25AC5B0E-6B2C-6027-D6FA-13610EE3E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00052" cy="129377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16A0A5-3814-87F8-B30E-36A49CF4F9DA}"/>
              </a:ext>
            </a:extLst>
          </p:cNvPr>
          <p:cNvGrpSpPr/>
          <p:nvPr/>
        </p:nvGrpSpPr>
        <p:grpSpPr>
          <a:xfrm>
            <a:off x="909940" y="1293779"/>
            <a:ext cx="10247593" cy="5242703"/>
            <a:chOff x="909940" y="1293779"/>
            <a:chExt cx="10247593" cy="52427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EA70DAC-B34E-1ED8-EFBC-1180518B5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09940" y="1293779"/>
              <a:ext cx="10247593" cy="524270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058574-EBA2-8472-476D-432BB5F88461}"/>
                </a:ext>
              </a:extLst>
            </p:cNvPr>
            <p:cNvSpPr/>
            <p:nvPr/>
          </p:nvSpPr>
          <p:spPr>
            <a:xfrm>
              <a:off x="909940" y="3689131"/>
              <a:ext cx="10247593" cy="4729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34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EF445E-5543-60DF-E5B1-559DCB2E13DA}"/>
              </a:ext>
            </a:extLst>
          </p:cNvPr>
          <p:cNvSpPr txBox="1"/>
          <p:nvPr/>
        </p:nvSpPr>
        <p:spPr>
          <a:xfrm>
            <a:off x="4973053" y="1437318"/>
            <a:ext cx="7411452" cy="39130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Hint: Judge any ledger choice on these four.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i="1" dirty="0">
                <a:solidFill>
                  <a:srgbClr val="C00000"/>
                </a:solidFill>
              </a:rPr>
              <a:t>Trust</a:t>
            </a:r>
            <a:r>
              <a:rPr lang="en-US" sz="2400" dirty="0"/>
              <a:t> — how much do participants have to trust each other?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i="1" dirty="0">
                <a:solidFill>
                  <a:srgbClr val="C00000"/>
                </a:solidFill>
              </a:rPr>
              <a:t>Throughput</a:t>
            </a:r>
            <a:r>
              <a:rPr lang="en-US" sz="2400" dirty="0"/>
              <a:t> — how many transactions can it handle?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i="1" dirty="0">
                <a:solidFill>
                  <a:srgbClr val="C00000"/>
                </a:solidFill>
              </a:rPr>
              <a:t>Governance</a:t>
            </a:r>
            <a:r>
              <a:rPr lang="en-US" sz="2400" dirty="0"/>
              <a:t> — who decides the rules and who can change them?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i="1" dirty="0">
                <a:solidFill>
                  <a:srgbClr val="C00000"/>
                </a:solidFill>
              </a:rPr>
              <a:t>Regulation</a:t>
            </a:r>
            <a:r>
              <a:rPr lang="en-US" sz="2400" dirty="0"/>
              <a:t> — how does a regulator supervise it?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264E-00D0-848C-FBEA-918B31D29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>
            <a:extLst>
              <a:ext uri="{FF2B5EF4-FFF2-40B4-BE49-F238E27FC236}">
                <a16:creationId xmlns:a16="http://schemas.microsoft.com/office/drawing/2014/main" id="{0E30E6CB-CF1D-15C1-0271-E77AF21A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36757" cy="18769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9C59B9-623C-1C27-E59D-67435EAF058A}"/>
              </a:ext>
            </a:extLst>
          </p:cNvPr>
          <p:cNvSpPr txBox="1"/>
          <p:nvPr/>
        </p:nvSpPr>
        <p:spPr>
          <a:xfrm>
            <a:off x="393031" y="1757803"/>
            <a:ext cx="11405937" cy="48320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A worked mini-case for practice.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b="1" dirty="0"/>
              <a:t>Bahraini charity </a:t>
            </a:r>
            <a:r>
              <a:rPr lang="en-US" sz="2800" dirty="0"/>
              <a:t>wants </a:t>
            </a:r>
            <a:r>
              <a:rPr lang="en-US" sz="2800" b="1" dirty="0"/>
              <a:t>public proof </a:t>
            </a:r>
            <a:r>
              <a:rPr lang="en-US" sz="2800" dirty="0"/>
              <a:t>that it spent </a:t>
            </a:r>
            <a:r>
              <a:rPr lang="en-US" sz="2800" b="1" dirty="0"/>
              <a:t>donations</a:t>
            </a:r>
            <a:r>
              <a:rPr lang="en-US" sz="2800" dirty="0"/>
              <a:t> as promised.</a:t>
            </a:r>
          </a:p>
          <a:p>
            <a:endParaRPr lang="en-US" sz="2800" dirty="0"/>
          </a:p>
          <a:p>
            <a:r>
              <a:rPr lang="en-US" sz="2800" b="1" dirty="0"/>
              <a:t>Trust</a:t>
            </a:r>
            <a:r>
              <a:rPr lang="en-US" sz="2800" dirty="0"/>
              <a:t>: donors trust nobody in particular. </a:t>
            </a:r>
          </a:p>
          <a:p>
            <a:r>
              <a:rPr lang="en-US" sz="2800" b="1" dirty="0"/>
              <a:t>Throughput</a:t>
            </a:r>
            <a:r>
              <a:rPr lang="en-US" sz="2800" dirty="0"/>
              <a:t>: tiny. </a:t>
            </a:r>
          </a:p>
          <a:p>
            <a:r>
              <a:rPr lang="en-US" sz="2800" b="1" dirty="0"/>
              <a:t>Governance</a:t>
            </a:r>
            <a:r>
              <a:rPr lang="en-US" sz="2800" dirty="0"/>
              <a:t>: the charity is content to be accountable. </a:t>
            </a:r>
          </a:p>
          <a:p>
            <a:r>
              <a:rPr lang="en-US" sz="2800" b="1" dirty="0"/>
              <a:t>Regulation</a:t>
            </a:r>
            <a:r>
              <a:rPr lang="en-US" sz="2800" dirty="0"/>
              <a:t>: transparency is the goal here, not a barrier. 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C00000"/>
                </a:solidFill>
              </a:rPr>
              <a:t>Trust</a:t>
            </a:r>
            <a:r>
              <a:rPr lang="en-US" sz="2800" dirty="0"/>
              <a:t> decides it, and </a:t>
            </a:r>
            <a:r>
              <a:rPr lang="en-US" sz="2800" b="1" dirty="0">
                <a:solidFill>
                  <a:srgbClr val="C00000"/>
                </a:solidFill>
              </a:rPr>
              <a:t>it points to the open option</a:t>
            </a:r>
            <a:r>
              <a:rPr lang="en-US" sz="2800" dirty="0"/>
              <a:t>, </a:t>
            </a:r>
            <a:r>
              <a:rPr lang="en-US" sz="2800" b="1" dirty="0"/>
              <a:t>which is the opposite conclusion from the bank case,</a:t>
            </a:r>
            <a:r>
              <a:rPr lang="en-US" sz="2800" dirty="0"/>
              <a:t> produced by the same rubric.</a:t>
            </a:r>
          </a:p>
        </p:txBody>
      </p:sp>
    </p:spTree>
    <p:extLst>
      <p:ext uri="{BB962C8B-B14F-4D97-AF65-F5344CB8AC3E}">
        <p14:creationId xmlns:p14="http://schemas.microsoft.com/office/powerpoint/2010/main" val="16147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6C1C9E-91D9-147E-D603-54F770823887}"/>
              </a:ext>
            </a:extLst>
          </p:cNvPr>
          <p:cNvSpPr txBox="1"/>
          <p:nvPr/>
        </p:nvSpPr>
        <p:spPr>
          <a:xfrm>
            <a:off x="155641" y="-25039"/>
            <a:ext cx="12110937" cy="4893647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Proof of Work (PoW</a:t>
            </a:r>
            <a:r>
              <a:rPr lang="en-US" sz="2400" dirty="0"/>
              <a:t>) — Bitcoin. </a:t>
            </a:r>
          </a:p>
          <a:p>
            <a:r>
              <a:rPr lang="en-US" sz="2400" dirty="0"/>
              <a:t>You earn the right by doing expensive computation that burns real energy. </a:t>
            </a:r>
          </a:p>
          <a:p>
            <a:r>
              <a:rPr lang="en-US" sz="2400" dirty="0"/>
              <a:t>The cost is the whole point — that’s what makes attacking it expensive.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Proof of Stake (</a:t>
            </a:r>
            <a:r>
              <a:rPr lang="en-US" sz="2400" b="1" i="1" dirty="0" err="1">
                <a:solidFill>
                  <a:srgbClr val="C00000"/>
                </a:solidFill>
              </a:rPr>
              <a:t>PoS</a:t>
            </a:r>
            <a:r>
              <a:rPr lang="en-US" sz="2400" b="1" i="1" dirty="0">
                <a:solidFill>
                  <a:srgbClr val="C00000"/>
                </a:solidFill>
              </a:rPr>
              <a:t>) </a:t>
            </a:r>
            <a:r>
              <a:rPr lang="en-US" sz="2400" dirty="0"/>
              <a:t>— Ethereum. </a:t>
            </a:r>
          </a:p>
          <a:p>
            <a:r>
              <a:rPr lang="en-US" sz="2400" dirty="0"/>
              <a:t>You earn the right by locking up your own money. </a:t>
            </a:r>
          </a:p>
          <a:p>
            <a:r>
              <a:rPr lang="en-US" sz="2400" dirty="0"/>
              <a:t>Misbehave, and you lose it. </a:t>
            </a:r>
          </a:p>
          <a:p>
            <a:r>
              <a:rPr lang="en-US" sz="2400" dirty="0"/>
              <a:t>Far less energy.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Byzantine Fault Tolerant (BFT) </a:t>
            </a:r>
          </a:p>
          <a:p>
            <a:r>
              <a:rPr lang="en-US" sz="2400" dirty="0"/>
              <a:t>A known group of validators votes, and it works as long as most of them behave. </a:t>
            </a:r>
          </a:p>
          <a:p>
            <a:r>
              <a:rPr lang="en-US" sz="2400" dirty="0"/>
              <a:t>Fast — because everyone voting is already known in advance. </a:t>
            </a:r>
          </a:p>
          <a:p>
            <a:r>
              <a:rPr lang="en-US" sz="2400" dirty="0"/>
              <a:t>This is the style Fabric and Corda use.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Proof of Authority (</a:t>
            </a:r>
            <a:r>
              <a:rPr lang="en-US" sz="2400" b="1" i="1" dirty="0" err="1">
                <a:solidFill>
                  <a:srgbClr val="C00000"/>
                </a:solidFill>
              </a:rPr>
              <a:t>PoA</a:t>
            </a:r>
            <a:r>
              <a:rPr lang="en-US" sz="2400" b="1" i="1" dirty="0">
                <a:solidFill>
                  <a:srgbClr val="C00000"/>
                </a:solidFill>
              </a:rPr>
              <a:t>) </a:t>
            </a:r>
            <a:r>
              <a:rPr lang="en-US" sz="2400" dirty="0"/>
              <a:t>— a small set of named, trusted authorities decide. Fastest and simplest, but the most dependent on those specific people staying honest.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A226BA-D7D2-DD0F-7919-82A905760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0938" y="600484"/>
            <a:ext cx="4426703" cy="1821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1660B6-31BD-CC61-88F2-CBA8569160D5}"/>
              </a:ext>
            </a:extLst>
          </p:cNvPr>
          <p:cNvSpPr/>
          <p:nvPr/>
        </p:nvSpPr>
        <p:spPr>
          <a:xfrm>
            <a:off x="567559" y="4868608"/>
            <a:ext cx="11130455" cy="1500661"/>
          </a:xfrm>
          <a:custGeom>
            <a:avLst/>
            <a:gdLst>
              <a:gd name="csX0" fmla="*/ 0 w 11130455"/>
              <a:gd name="csY0" fmla="*/ 0 h 1500661"/>
              <a:gd name="csX1" fmla="*/ 474509 w 11130455"/>
              <a:gd name="csY1" fmla="*/ 0 h 1500661"/>
              <a:gd name="csX2" fmla="*/ 726409 w 11130455"/>
              <a:gd name="csY2" fmla="*/ 0 h 1500661"/>
              <a:gd name="csX3" fmla="*/ 1534831 w 11130455"/>
              <a:gd name="csY3" fmla="*/ 0 h 1500661"/>
              <a:gd name="csX4" fmla="*/ 2009340 w 11130455"/>
              <a:gd name="csY4" fmla="*/ 0 h 1500661"/>
              <a:gd name="csX5" fmla="*/ 2483849 w 11130455"/>
              <a:gd name="csY5" fmla="*/ 0 h 1500661"/>
              <a:gd name="csX6" fmla="*/ 3292271 w 11130455"/>
              <a:gd name="csY6" fmla="*/ 0 h 1500661"/>
              <a:gd name="csX7" fmla="*/ 3655476 w 11130455"/>
              <a:gd name="csY7" fmla="*/ 0 h 1500661"/>
              <a:gd name="csX8" fmla="*/ 4463898 w 11130455"/>
              <a:gd name="csY8" fmla="*/ 0 h 1500661"/>
              <a:gd name="csX9" fmla="*/ 5272321 w 11130455"/>
              <a:gd name="csY9" fmla="*/ 0 h 1500661"/>
              <a:gd name="csX10" fmla="*/ 5858134 w 11130455"/>
              <a:gd name="csY10" fmla="*/ 0 h 1500661"/>
              <a:gd name="csX11" fmla="*/ 6666557 w 11130455"/>
              <a:gd name="csY11" fmla="*/ 0 h 1500661"/>
              <a:gd name="csX12" fmla="*/ 7141066 w 11130455"/>
              <a:gd name="csY12" fmla="*/ 0 h 1500661"/>
              <a:gd name="csX13" fmla="*/ 7615574 w 11130455"/>
              <a:gd name="csY13" fmla="*/ 0 h 1500661"/>
              <a:gd name="csX14" fmla="*/ 8312692 w 11130455"/>
              <a:gd name="csY14" fmla="*/ 0 h 1500661"/>
              <a:gd name="csX15" fmla="*/ 8787201 w 11130455"/>
              <a:gd name="csY15" fmla="*/ 0 h 1500661"/>
              <a:gd name="csX16" fmla="*/ 9595624 w 11130455"/>
              <a:gd name="csY16" fmla="*/ 0 h 1500661"/>
              <a:gd name="csX17" fmla="*/ 10404046 w 11130455"/>
              <a:gd name="csY17" fmla="*/ 0 h 1500661"/>
              <a:gd name="csX18" fmla="*/ 11130455 w 11130455"/>
              <a:gd name="csY18" fmla="*/ 0 h 1500661"/>
              <a:gd name="csX19" fmla="*/ 11130455 w 11130455"/>
              <a:gd name="csY19" fmla="*/ 485214 h 1500661"/>
              <a:gd name="csX20" fmla="*/ 11130455 w 11130455"/>
              <a:gd name="csY20" fmla="*/ 940414 h 1500661"/>
              <a:gd name="csX21" fmla="*/ 11130455 w 11130455"/>
              <a:gd name="csY21" fmla="*/ 1500661 h 1500661"/>
              <a:gd name="csX22" fmla="*/ 10433337 w 11130455"/>
              <a:gd name="csY22" fmla="*/ 1500661 h 1500661"/>
              <a:gd name="csX23" fmla="*/ 10070133 w 11130455"/>
              <a:gd name="csY23" fmla="*/ 1500661 h 1500661"/>
              <a:gd name="csX24" fmla="*/ 9484319 w 11130455"/>
              <a:gd name="csY24" fmla="*/ 1500661 h 1500661"/>
              <a:gd name="csX25" fmla="*/ 9232420 w 11130455"/>
              <a:gd name="csY25" fmla="*/ 1500661 h 1500661"/>
              <a:gd name="csX26" fmla="*/ 8980520 w 11130455"/>
              <a:gd name="csY26" fmla="*/ 1500661 h 1500661"/>
              <a:gd name="csX27" fmla="*/ 8394706 w 11130455"/>
              <a:gd name="csY27" fmla="*/ 1500661 h 1500661"/>
              <a:gd name="csX28" fmla="*/ 8031502 w 11130455"/>
              <a:gd name="csY28" fmla="*/ 1500661 h 1500661"/>
              <a:gd name="csX29" fmla="*/ 7334384 w 11130455"/>
              <a:gd name="csY29" fmla="*/ 1500661 h 1500661"/>
              <a:gd name="csX30" fmla="*/ 6971180 w 11130455"/>
              <a:gd name="csY30" fmla="*/ 1500661 h 1500661"/>
              <a:gd name="csX31" fmla="*/ 6274062 w 11130455"/>
              <a:gd name="csY31" fmla="*/ 1500661 h 1500661"/>
              <a:gd name="csX32" fmla="*/ 6022162 w 11130455"/>
              <a:gd name="csY32" fmla="*/ 1500661 h 1500661"/>
              <a:gd name="csX33" fmla="*/ 5325044 w 11130455"/>
              <a:gd name="csY33" fmla="*/ 1500661 h 1500661"/>
              <a:gd name="csX34" fmla="*/ 4961840 w 11130455"/>
              <a:gd name="csY34" fmla="*/ 1500661 h 1500661"/>
              <a:gd name="csX35" fmla="*/ 4709940 w 11130455"/>
              <a:gd name="csY35" fmla="*/ 1500661 h 1500661"/>
              <a:gd name="csX36" fmla="*/ 4346736 w 11130455"/>
              <a:gd name="csY36" fmla="*/ 1500661 h 1500661"/>
              <a:gd name="csX37" fmla="*/ 3649618 w 11130455"/>
              <a:gd name="csY37" fmla="*/ 1500661 h 1500661"/>
              <a:gd name="csX38" fmla="*/ 3286413 w 11130455"/>
              <a:gd name="csY38" fmla="*/ 1500661 h 1500661"/>
              <a:gd name="csX39" fmla="*/ 3034514 w 11130455"/>
              <a:gd name="csY39" fmla="*/ 1500661 h 1500661"/>
              <a:gd name="csX40" fmla="*/ 2671309 w 11130455"/>
              <a:gd name="csY40" fmla="*/ 1500661 h 1500661"/>
              <a:gd name="csX41" fmla="*/ 2196800 w 11130455"/>
              <a:gd name="csY41" fmla="*/ 1500661 h 1500661"/>
              <a:gd name="csX42" fmla="*/ 1610987 w 11130455"/>
              <a:gd name="csY42" fmla="*/ 1500661 h 1500661"/>
              <a:gd name="csX43" fmla="*/ 1247783 w 11130455"/>
              <a:gd name="csY43" fmla="*/ 1500661 h 1500661"/>
              <a:gd name="csX44" fmla="*/ 0 w 11130455"/>
              <a:gd name="csY44" fmla="*/ 1500661 h 1500661"/>
              <a:gd name="csX45" fmla="*/ 0 w 11130455"/>
              <a:gd name="csY45" fmla="*/ 1000441 h 1500661"/>
              <a:gd name="csX46" fmla="*/ 0 w 11130455"/>
              <a:gd name="csY46" fmla="*/ 500220 h 1500661"/>
              <a:gd name="csX47" fmla="*/ 0 w 11130455"/>
              <a:gd name="csY47" fmla="*/ 0 h 1500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11130455" h="1500661" extrusionOk="0">
                <a:moveTo>
                  <a:pt x="0" y="0"/>
                </a:moveTo>
                <a:cubicBezTo>
                  <a:pt x="113366" y="-4543"/>
                  <a:pt x="306405" y="38025"/>
                  <a:pt x="474509" y="0"/>
                </a:cubicBezTo>
                <a:cubicBezTo>
                  <a:pt x="642613" y="-38025"/>
                  <a:pt x="654297" y="5585"/>
                  <a:pt x="726409" y="0"/>
                </a:cubicBezTo>
                <a:cubicBezTo>
                  <a:pt x="798521" y="-5585"/>
                  <a:pt x="1254336" y="73074"/>
                  <a:pt x="1534831" y="0"/>
                </a:cubicBezTo>
                <a:cubicBezTo>
                  <a:pt x="1815326" y="-73074"/>
                  <a:pt x="1818022" y="41831"/>
                  <a:pt x="2009340" y="0"/>
                </a:cubicBezTo>
                <a:cubicBezTo>
                  <a:pt x="2200658" y="-41831"/>
                  <a:pt x="2378671" y="8307"/>
                  <a:pt x="2483849" y="0"/>
                </a:cubicBezTo>
                <a:cubicBezTo>
                  <a:pt x="2589027" y="-8307"/>
                  <a:pt x="2983880" y="65108"/>
                  <a:pt x="3292271" y="0"/>
                </a:cubicBezTo>
                <a:cubicBezTo>
                  <a:pt x="3600662" y="-65108"/>
                  <a:pt x="3498172" y="11924"/>
                  <a:pt x="3655476" y="0"/>
                </a:cubicBezTo>
                <a:cubicBezTo>
                  <a:pt x="3812780" y="-11924"/>
                  <a:pt x="4257722" y="26145"/>
                  <a:pt x="4463898" y="0"/>
                </a:cubicBezTo>
                <a:cubicBezTo>
                  <a:pt x="4670074" y="-26145"/>
                  <a:pt x="4942325" y="84904"/>
                  <a:pt x="5272321" y="0"/>
                </a:cubicBezTo>
                <a:cubicBezTo>
                  <a:pt x="5602317" y="-84904"/>
                  <a:pt x="5584019" y="19408"/>
                  <a:pt x="5858134" y="0"/>
                </a:cubicBezTo>
                <a:cubicBezTo>
                  <a:pt x="6132249" y="-19408"/>
                  <a:pt x="6502215" y="59889"/>
                  <a:pt x="6666557" y="0"/>
                </a:cubicBezTo>
                <a:cubicBezTo>
                  <a:pt x="6830899" y="-59889"/>
                  <a:pt x="6947463" y="21203"/>
                  <a:pt x="7141066" y="0"/>
                </a:cubicBezTo>
                <a:cubicBezTo>
                  <a:pt x="7334669" y="-21203"/>
                  <a:pt x="7469769" y="39476"/>
                  <a:pt x="7615574" y="0"/>
                </a:cubicBezTo>
                <a:cubicBezTo>
                  <a:pt x="7761379" y="-39476"/>
                  <a:pt x="8061172" y="58558"/>
                  <a:pt x="8312692" y="0"/>
                </a:cubicBezTo>
                <a:cubicBezTo>
                  <a:pt x="8564212" y="-58558"/>
                  <a:pt x="8561857" y="54027"/>
                  <a:pt x="8787201" y="0"/>
                </a:cubicBezTo>
                <a:cubicBezTo>
                  <a:pt x="9012545" y="-54027"/>
                  <a:pt x="9342800" y="71810"/>
                  <a:pt x="9595624" y="0"/>
                </a:cubicBezTo>
                <a:cubicBezTo>
                  <a:pt x="9848448" y="-71810"/>
                  <a:pt x="10163950" y="66808"/>
                  <a:pt x="10404046" y="0"/>
                </a:cubicBezTo>
                <a:cubicBezTo>
                  <a:pt x="10644142" y="-66808"/>
                  <a:pt x="10953361" y="25540"/>
                  <a:pt x="11130455" y="0"/>
                </a:cubicBezTo>
                <a:cubicBezTo>
                  <a:pt x="11168119" y="131249"/>
                  <a:pt x="11105587" y="364742"/>
                  <a:pt x="11130455" y="485214"/>
                </a:cubicBezTo>
                <a:cubicBezTo>
                  <a:pt x="11155323" y="605686"/>
                  <a:pt x="11081110" y="744273"/>
                  <a:pt x="11130455" y="940414"/>
                </a:cubicBezTo>
                <a:cubicBezTo>
                  <a:pt x="11179800" y="1136555"/>
                  <a:pt x="11080519" y="1359843"/>
                  <a:pt x="11130455" y="1500661"/>
                </a:cubicBezTo>
                <a:cubicBezTo>
                  <a:pt x="10782638" y="1531728"/>
                  <a:pt x="10690610" y="1428757"/>
                  <a:pt x="10433337" y="1500661"/>
                </a:cubicBezTo>
                <a:cubicBezTo>
                  <a:pt x="10176064" y="1572565"/>
                  <a:pt x="10192901" y="1481177"/>
                  <a:pt x="10070133" y="1500661"/>
                </a:cubicBezTo>
                <a:cubicBezTo>
                  <a:pt x="9947365" y="1520145"/>
                  <a:pt x="9724227" y="1475762"/>
                  <a:pt x="9484319" y="1500661"/>
                </a:cubicBezTo>
                <a:cubicBezTo>
                  <a:pt x="9244411" y="1525560"/>
                  <a:pt x="9309970" y="1486198"/>
                  <a:pt x="9232420" y="1500661"/>
                </a:cubicBezTo>
                <a:cubicBezTo>
                  <a:pt x="9154870" y="1515124"/>
                  <a:pt x="9051276" y="1489507"/>
                  <a:pt x="8980520" y="1500661"/>
                </a:cubicBezTo>
                <a:cubicBezTo>
                  <a:pt x="8909764" y="1511815"/>
                  <a:pt x="8529099" y="1497526"/>
                  <a:pt x="8394706" y="1500661"/>
                </a:cubicBezTo>
                <a:cubicBezTo>
                  <a:pt x="8260313" y="1503796"/>
                  <a:pt x="8153833" y="1474206"/>
                  <a:pt x="8031502" y="1500661"/>
                </a:cubicBezTo>
                <a:cubicBezTo>
                  <a:pt x="7909171" y="1527116"/>
                  <a:pt x="7552545" y="1443458"/>
                  <a:pt x="7334384" y="1500661"/>
                </a:cubicBezTo>
                <a:cubicBezTo>
                  <a:pt x="7116223" y="1557864"/>
                  <a:pt x="7049082" y="1493456"/>
                  <a:pt x="6971180" y="1500661"/>
                </a:cubicBezTo>
                <a:cubicBezTo>
                  <a:pt x="6893278" y="1507866"/>
                  <a:pt x="6533332" y="1425996"/>
                  <a:pt x="6274062" y="1500661"/>
                </a:cubicBezTo>
                <a:cubicBezTo>
                  <a:pt x="6014792" y="1575326"/>
                  <a:pt x="6145420" y="1470507"/>
                  <a:pt x="6022162" y="1500661"/>
                </a:cubicBezTo>
                <a:cubicBezTo>
                  <a:pt x="5898904" y="1530815"/>
                  <a:pt x="5661663" y="1498910"/>
                  <a:pt x="5325044" y="1500661"/>
                </a:cubicBezTo>
                <a:cubicBezTo>
                  <a:pt x="4988425" y="1502412"/>
                  <a:pt x="5081552" y="1461598"/>
                  <a:pt x="4961840" y="1500661"/>
                </a:cubicBezTo>
                <a:cubicBezTo>
                  <a:pt x="4842128" y="1539724"/>
                  <a:pt x="4789772" y="1474844"/>
                  <a:pt x="4709940" y="1500661"/>
                </a:cubicBezTo>
                <a:cubicBezTo>
                  <a:pt x="4630108" y="1526478"/>
                  <a:pt x="4495400" y="1476544"/>
                  <a:pt x="4346736" y="1500661"/>
                </a:cubicBezTo>
                <a:cubicBezTo>
                  <a:pt x="4198072" y="1524778"/>
                  <a:pt x="3792897" y="1465758"/>
                  <a:pt x="3649618" y="1500661"/>
                </a:cubicBezTo>
                <a:cubicBezTo>
                  <a:pt x="3506339" y="1535564"/>
                  <a:pt x="3416297" y="1470244"/>
                  <a:pt x="3286413" y="1500661"/>
                </a:cubicBezTo>
                <a:cubicBezTo>
                  <a:pt x="3156529" y="1531078"/>
                  <a:pt x="3090673" y="1497033"/>
                  <a:pt x="3034514" y="1500661"/>
                </a:cubicBezTo>
                <a:cubicBezTo>
                  <a:pt x="2978355" y="1504289"/>
                  <a:pt x="2846689" y="1499816"/>
                  <a:pt x="2671309" y="1500661"/>
                </a:cubicBezTo>
                <a:cubicBezTo>
                  <a:pt x="2495929" y="1501506"/>
                  <a:pt x="2375128" y="1485370"/>
                  <a:pt x="2196800" y="1500661"/>
                </a:cubicBezTo>
                <a:cubicBezTo>
                  <a:pt x="2018472" y="1515952"/>
                  <a:pt x="1831394" y="1466393"/>
                  <a:pt x="1610987" y="1500661"/>
                </a:cubicBezTo>
                <a:cubicBezTo>
                  <a:pt x="1390580" y="1534929"/>
                  <a:pt x="1335173" y="1499525"/>
                  <a:pt x="1247783" y="1500661"/>
                </a:cubicBezTo>
                <a:cubicBezTo>
                  <a:pt x="1160393" y="1501797"/>
                  <a:pt x="297199" y="1426579"/>
                  <a:pt x="0" y="1500661"/>
                </a:cubicBezTo>
                <a:cubicBezTo>
                  <a:pt x="-22052" y="1283672"/>
                  <a:pt x="59954" y="1175942"/>
                  <a:pt x="0" y="1000441"/>
                </a:cubicBezTo>
                <a:cubicBezTo>
                  <a:pt x="-59954" y="824940"/>
                  <a:pt x="38842" y="699202"/>
                  <a:pt x="0" y="500220"/>
                </a:cubicBezTo>
                <a:cubicBezTo>
                  <a:pt x="-38842" y="301238"/>
                  <a:pt x="28703" y="229854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320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8FF5AC-8E41-ED4A-22B3-CC65F9B60C04}"/>
              </a:ext>
            </a:extLst>
          </p:cNvPr>
          <p:cNvSpPr txBox="1"/>
          <p:nvPr/>
        </p:nvSpPr>
        <p:spPr>
          <a:xfrm>
            <a:off x="467360" y="3826914"/>
            <a:ext cx="11257280" cy="30310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A </a:t>
            </a:r>
            <a:r>
              <a:rPr lang="en-US" sz="2600" b="1" i="1" dirty="0">
                <a:solidFill>
                  <a:srgbClr val="C00000"/>
                </a:solidFill>
              </a:rPr>
              <a:t>sukuk</a:t>
            </a:r>
            <a:r>
              <a:rPr lang="en-US" sz="2600" dirty="0"/>
              <a:t> is an </a:t>
            </a:r>
            <a:r>
              <a:rPr lang="en-US" sz="2600" dirty="0">
                <a:solidFill>
                  <a:srgbClr val="C00000"/>
                </a:solidFill>
              </a:rPr>
              <a:t>Islamic finance instrument structured to comply with Sharia</a:t>
            </a:r>
            <a:r>
              <a:rPr lang="en-US" sz="2600" dirty="0"/>
              <a:t>, giving investors a share in an underlying asset rather than interest on a loan. </a:t>
            </a:r>
          </a:p>
          <a:p>
            <a:pPr algn="just">
              <a:lnSpc>
                <a:spcPct val="150000"/>
              </a:lnSpc>
            </a:pPr>
            <a:r>
              <a:rPr lang="en-US" sz="2600" b="1" i="1" dirty="0" err="1">
                <a:solidFill>
                  <a:srgbClr val="C00000"/>
                </a:solidFill>
              </a:rPr>
              <a:t>Tokenising</a:t>
            </a:r>
            <a:r>
              <a:rPr lang="en-US" sz="2600" dirty="0"/>
              <a:t> it means representing ownership of those shares as digital records on a ledger. Bahrain is a major Islamic finance </a:t>
            </a:r>
            <a:r>
              <a:rPr lang="en-US" sz="2600" dirty="0" err="1"/>
              <a:t>centre</a:t>
            </a:r>
            <a:r>
              <a:rPr lang="en-US" sz="2600" dirty="0"/>
              <a:t>, so this is a live commercial question here and not a hypothetical 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1F702-E30E-3BEA-F717-40FCE190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>
            <a:extLst>
              <a:ext uri="{FF2B5EF4-FFF2-40B4-BE49-F238E27FC236}">
                <a16:creationId xmlns:a16="http://schemas.microsoft.com/office/drawing/2014/main" id="{631D0B11-7A78-85AC-619C-4576EA7DA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97760" cy="1348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C88791-78ED-E7B5-771A-ABF3F61E8FBF}"/>
              </a:ext>
            </a:extLst>
          </p:cNvPr>
          <p:cNvSpPr txBox="1"/>
          <p:nvPr/>
        </p:nvSpPr>
        <p:spPr>
          <a:xfrm>
            <a:off x="375920" y="1348740"/>
            <a:ext cx="108407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1" dirty="0">
                <a:solidFill>
                  <a:srgbClr val="C00000"/>
                </a:solidFill>
              </a:rPr>
              <a:t>Trust</a:t>
            </a:r>
            <a:r>
              <a:rPr lang="en-US" dirty="0"/>
              <a:t>: the participants are a bank, its investors and its regulator, all identifiable. Nothing here requires a design that assumes strangers.</a:t>
            </a:r>
          </a:p>
          <a:p>
            <a:pPr algn="just"/>
            <a:r>
              <a:rPr lang="en-US" b="1" i="1" dirty="0">
                <a:solidFill>
                  <a:srgbClr val="C00000"/>
                </a:solidFill>
              </a:rPr>
              <a:t>Throughput</a:t>
            </a:r>
            <a:r>
              <a:rPr lang="en-US" dirty="0"/>
              <a:t>: a securities issue needs reliable, timely settlement, and the permissioned option is stronger on this.</a:t>
            </a:r>
          </a:p>
          <a:p>
            <a:pPr algn="just"/>
            <a:r>
              <a:rPr lang="en-US" b="1" i="1" dirty="0">
                <a:solidFill>
                  <a:srgbClr val="C00000"/>
                </a:solidFill>
              </a:rPr>
              <a:t>Governance</a:t>
            </a:r>
            <a:r>
              <a:rPr lang="en-US" dirty="0"/>
              <a:t>: the bank must be able to say who approves a change and who is accountable for it. On an open chain the honest answer is nobody in particular.</a:t>
            </a:r>
          </a:p>
          <a:p>
            <a:pPr algn="just"/>
            <a:r>
              <a:rPr lang="en-US" b="1" i="1" dirty="0">
                <a:solidFill>
                  <a:srgbClr val="C00000"/>
                </a:solidFill>
              </a:rPr>
              <a:t>Regulation</a:t>
            </a:r>
            <a:r>
              <a:rPr lang="en-US" dirty="0"/>
              <a:t>: the Central Bank of Bahrain supervises the issuer, and a supervisor needs a named entity to hold responsible.</a:t>
            </a:r>
          </a:p>
          <a:p>
            <a:pPr algn="just"/>
            <a:r>
              <a:rPr lang="en-US" sz="2400" b="1" dirty="0">
                <a:solidFill>
                  <a:srgbClr val="7030A0"/>
                </a:solidFill>
                <a:highlight>
                  <a:srgbClr val="FFFF00"/>
                </a:highlight>
              </a:rPr>
              <a:t>Hint for the worksheet </a:t>
            </a:r>
          </a:p>
          <a:p>
            <a:pPr algn="just"/>
            <a:r>
              <a:rPr lang="en-US" dirty="0"/>
              <a:t>Governance and regulation together settle the case, and they settle it before any technical comparison begins.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The open option is not rejected for being slow or immature. It is rejected because it cannot supply an accountable party, and regulated finance requires one. </a:t>
            </a:r>
          </a:p>
          <a:p>
            <a:pPr algn="just"/>
            <a:endParaRPr lang="en-US" dirty="0"/>
          </a:p>
          <a:p>
            <a:pPr algn="just"/>
            <a:r>
              <a:rPr lang="en-US" b="1" i="1" dirty="0">
                <a:solidFill>
                  <a:srgbClr val="C00000"/>
                </a:solidFill>
              </a:rPr>
              <a:t>The wrong idea: </a:t>
            </a:r>
            <a:r>
              <a:rPr lang="en-US" dirty="0"/>
              <a:t>that permissioned always wins in banking. </a:t>
            </a:r>
          </a:p>
          <a:p>
            <a:pPr algn="just"/>
            <a:r>
              <a:rPr lang="en-US" dirty="0"/>
              <a:t>the charity example. Same rubric, opposite answer.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use case decides, and the mark is for naming which criterion did the deciding.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9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900415-C8BF-28DB-C56E-877ABD92D8B6}"/>
              </a:ext>
            </a:extLst>
          </p:cNvPr>
          <p:cNvCxnSpPr/>
          <p:nvPr/>
        </p:nvCxnSpPr>
        <p:spPr>
          <a:xfrm>
            <a:off x="8654281" y="2632841"/>
            <a:ext cx="22869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4F8402-C76E-ADF1-CE79-1E6ADA8A56CD}"/>
              </a:ext>
            </a:extLst>
          </p:cNvPr>
          <p:cNvCxnSpPr/>
          <p:nvPr/>
        </p:nvCxnSpPr>
        <p:spPr>
          <a:xfrm>
            <a:off x="4459270" y="4293199"/>
            <a:ext cx="22869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D41D8A-8FF1-A55B-422E-E7BF535D484B}"/>
              </a:ext>
            </a:extLst>
          </p:cNvPr>
          <p:cNvSpPr txBox="1"/>
          <p:nvPr/>
        </p:nvSpPr>
        <p:spPr>
          <a:xfrm>
            <a:off x="1356111" y="1160706"/>
            <a:ext cx="9585158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"Which blockchain is popular?"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Instead “we need to think”:</a:t>
            </a:r>
          </a:p>
          <a:p>
            <a:r>
              <a:rPr lang="en-US" sz="2400" dirty="0">
                <a:solidFill>
                  <a:srgbClr val="C00000"/>
                </a:solidFill>
              </a:rPr>
              <a:t>"What does my application require?“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For example: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Bitcoin-like public currency : </a:t>
            </a:r>
            <a:r>
              <a:rPr lang="en-US" sz="2400" dirty="0"/>
              <a:t>Decentralization, open participation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Bank's internal network : </a:t>
            </a:r>
            <a:r>
              <a:rPr lang="en-US" sz="2400" dirty="0"/>
              <a:t>Control, identity, compliance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Supply-chain consortium : </a:t>
            </a:r>
            <a:r>
              <a:rPr lang="en-US" sz="2400" dirty="0"/>
              <a:t>Multiple known organizations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Public cryptocurrency : </a:t>
            </a:r>
            <a:r>
              <a:rPr lang="en-US" sz="2400" dirty="0"/>
              <a:t>Open participation and censorship resistance</a:t>
            </a:r>
          </a:p>
          <a:p>
            <a:r>
              <a:rPr lang="en-US" sz="2400" b="1" i="1" dirty="0">
                <a:solidFill>
                  <a:srgbClr val="C00000"/>
                </a:solidFill>
                <a:highlight>
                  <a:srgbClr val="FFFF00"/>
                </a:highlight>
              </a:rPr>
              <a:t>So different applications can require different consensus approaches.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CFE8B-885A-B28D-0AF2-142CE5A8F5A3}"/>
              </a:ext>
            </a:extLst>
          </p:cNvPr>
          <p:cNvSpPr txBox="1"/>
          <p:nvPr/>
        </p:nvSpPr>
        <p:spPr>
          <a:xfrm rot="21055927">
            <a:off x="952664" y="2151726"/>
            <a:ext cx="9941668" cy="2554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The main lesson is that we don't choose a blockchain because it is popular. </a:t>
            </a:r>
          </a:p>
          <a:p>
            <a:r>
              <a:rPr lang="en-US" sz="3200" dirty="0">
                <a:solidFill>
                  <a:srgbClr val="002060"/>
                </a:solidFill>
              </a:rPr>
              <a:t>We first understand the use case and its requirements, and then choose the appropriate ledger and consensus mechanism."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1354</Words>
  <Application>Microsoft Office PowerPoint</Application>
  <PresentationFormat>Widescreen</PresentationFormat>
  <Paragraphs>114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Amasis MT Pro Black</vt:lpstr>
      <vt:lpstr>Arial</vt:lpstr>
      <vt:lpstr>Calibri</vt:lpstr>
      <vt:lpstr>Cooper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53</cp:revision>
  <dcterms:created xsi:type="dcterms:W3CDTF">2013-01-27T09:14:16Z</dcterms:created>
  <dcterms:modified xsi:type="dcterms:W3CDTF">2026-10-21T07:55:13Z</dcterms:modified>
  <cp:category/>
</cp:coreProperties>
</file>