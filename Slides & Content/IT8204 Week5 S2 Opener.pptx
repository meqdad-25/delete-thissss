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70" r:id="rId9"/>
    <p:sldId id="262" r:id="rId10"/>
    <p:sldId id="263" r:id="rId11"/>
    <p:sldId id="264" r:id="rId12"/>
    <p:sldId id="271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344" autoAdjust="0"/>
  </p:normalViewPr>
  <p:slideViewPr>
    <p:cSldViewPr snapToGrid="0" snapToObjects="1">
      <p:cViewPr varScale="1">
        <p:scale>
          <a:sx n="51" d="100"/>
          <a:sy n="51" d="100"/>
        </p:scale>
        <p:origin x="18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73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DAB64-A487-3637-81CB-608854C19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8F7E1-B7FC-64DB-1EDD-69220C659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90DD8-D8F7-346F-424F-80B54B8AB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89812-2BD5-0F88-A970-23B8FFD2E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8479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167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A35E-BC1B-E579-AE58-C9DF703C6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D169A-486C-45E6-6033-A58B737C9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6CD50-908C-474D-B85C-29325458F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AFDC2-B0A6-ACD9-E9FB-009AB2100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44418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72607-F483-4AC1-EB93-A0908756A651}"/>
              </a:ext>
            </a:extLst>
          </p:cNvPr>
          <p:cNvSpPr txBox="1"/>
          <p:nvPr/>
        </p:nvSpPr>
        <p:spPr>
          <a:xfrm>
            <a:off x="4437823" y="-21536"/>
            <a:ext cx="7754177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How does a crypto startup actually go from an idea on paper to a fully licensed, operating business with real customers?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AE469-C2AF-B79C-4D5F-EB5BBB52BD5C}"/>
              </a:ext>
            </a:extLst>
          </p:cNvPr>
          <p:cNvSpPr txBox="1"/>
          <p:nvPr/>
        </p:nvSpPr>
        <p:spPr>
          <a:xfrm>
            <a:off x="0" y="4303455"/>
            <a:ext cx="10694504" cy="2554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do this, a company follows what we call a </a:t>
            </a:r>
            <a:r>
              <a:rPr lang="en-US" sz="3200" b="1" i="1" dirty="0"/>
              <a:t>Pathway</a:t>
            </a:r>
            <a:r>
              <a:rPr lang="en-US" sz="3200" dirty="0"/>
              <a:t>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Think of a pathway as a roadmap with official checkpoints or “gates”.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At each gate, the </a:t>
            </a:r>
            <a:r>
              <a:rPr lang="en-US" sz="3200" b="1" dirty="0">
                <a:solidFill>
                  <a:srgbClr val="FF0000"/>
                </a:solidFill>
              </a:rPr>
              <a:t>regulator</a:t>
            </a:r>
            <a:r>
              <a:rPr lang="en-US" sz="3200" dirty="0"/>
              <a:t>—like the CBB—</a:t>
            </a:r>
            <a:r>
              <a:rPr lang="en-US" sz="3200" b="1" dirty="0">
                <a:solidFill>
                  <a:srgbClr val="FF0000"/>
                </a:solidFill>
              </a:rPr>
              <a:t>evaluates the project before letting it move to the next stage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93707A-E856-EAD0-E503-1C7B673B54C6}"/>
              </a:ext>
            </a:extLst>
          </p:cNvPr>
          <p:cNvSpPr txBox="1"/>
          <p:nvPr/>
        </p:nvSpPr>
        <p:spPr>
          <a:xfrm>
            <a:off x="502754" y="1207531"/>
            <a:ext cx="11186491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/>
              <a:t>Imagine you created an amazing crypto app tonight.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/>
              <a:t>What stops you from launching it tomorrow morning and charging customers?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/>
              <a:t>It isn’t lack of coding skills or lack of funding—</a:t>
            </a:r>
            <a:r>
              <a:rPr lang="en-US" sz="3200" b="1" dirty="0">
                <a:solidFill>
                  <a:srgbClr val="FF0000"/>
                </a:solidFill>
              </a:rPr>
              <a:t>it’s permission</a:t>
            </a:r>
            <a:r>
              <a:rPr lang="en-US" sz="3200" b="1" dirty="0"/>
              <a:t>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/>
              <a:t>Today, we’re going to map out exactly how firms get that permission.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rgbClr val="002060"/>
                </a:solidFill>
              </a:rPr>
              <a:t>This is essential knowledge for anyone entering the Fintech or blockchain sector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4513C3-876D-1009-F0B4-B5EB73991605}"/>
              </a:ext>
            </a:extLst>
          </p:cNvPr>
          <p:cNvSpPr txBox="1"/>
          <p:nvPr/>
        </p:nvSpPr>
        <p:spPr>
          <a:xfrm>
            <a:off x="2914337" y="5642681"/>
            <a:ext cx="9572469" cy="115416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chemeClr val="bg1"/>
                </a:solidFill>
              </a:rPr>
              <a:t>Map a </a:t>
            </a:r>
            <a:r>
              <a:rPr lang="en-US" sz="2300" dirty="0" err="1">
                <a:solidFill>
                  <a:schemeClr val="bg1"/>
                </a:solidFill>
              </a:rPr>
              <a:t>licenced</a:t>
            </a:r>
            <a:r>
              <a:rPr lang="en-US" sz="2300" dirty="0">
                <a:solidFill>
                  <a:schemeClr val="bg1"/>
                </a:solidFill>
              </a:rPr>
              <a:t> application to the chapters of the rulebook that govern it Then you justify which three obligations carry the highest risk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chemeClr val="bg1"/>
                </a:solidFill>
              </a:rPr>
              <a:t>A list of three obligations with no reasons attached will not earn the marks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C586F9-D93C-70B3-BB78-CDF577758F1E}"/>
              </a:ext>
            </a:extLst>
          </p:cNvPr>
          <p:cNvSpPr txBox="1"/>
          <p:nvPr/>
        </p:nvSpPr>
        <p:spPr>
          <a:xfrm>
            <a:off x="3400013" y="1353739"/>
            <a:ext cx="894438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Rules and legal procedures designed to stop criminals from disguising illegal money as legitimate income through financial services.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47F72-AE0B-0E1B-49B8-FB599C450D4D}"/>
              </a:ext>
            </a:extLst>
          </p:cNvPr>
          <p:cNvSpPr txBox="1"/>
          <p:nvPr/>
        </p:nvSpPr>
        <p:spPr>
          <a:xfrm>
            <a:off x="3325063" y="2703157"/>
            <a:ext cx="9322074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regulated, safe environment where startups can test new financial products on real customers with limited risk and under close supervision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8E1D8-1C7C-A859-4A6A-0257154E2407}"/>
              </a:ext>
            </a:extLst>
          </p:cNvPr>
          <p:cNvSpPr txBox="1"/>
          <p:nvPr/>
        </p:nvSpPr>
        <p:spPr>
          <a:xfrm>
            <a:off x="3399185" y="3677621"/>
            <a:ext cx="8792815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ongoing monitoring and auditing performed by a regulatory authority (such as the CBB) to ensure a licensed firm stays compliant over 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5834C-5041-7368-9F79-0896C74D6118}"/>
              </a:ext>
            </a:extLst>
          </p:cNvPr>
          <p:cNvSpPr txBox="1"/>
          <p:nvPr/>
        </p:nvSpPr>
        <p:spPr>
          <a:xfrm>
            <a:off x="5274368" y="5422009"/>
            <a:ext cx="6917632" cy="70788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step-by-step regulatory route a company must navigate to evolve from a business idea into a fully licensed operating entity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00CB-8CCC-CDC9-407B-6F36164D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4.png">
            <a:extLst>
              <a:ext uri="{FF2B5EF4-FFF2-40B4-BE49-F238E27FC236}">
                <a16:creationId xmlns:a16="http://schemas.microsoft.com/office/drawing/2014/main" id="{6F396E04-0A8B-C8C4-F191-E58FD558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137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283FE-8934-914B-4904-8E9EE06C29F1}"/>
              </a:ext>
            </a:extLst>
          </p:cNvPr>
          <p:cNvSpPr txBox="1"/>
          <p:nvPr/>
        </p:nvSpPr>
        <p:spPr>
          <a:xfrm>
            <a:off x="218211" y="633851"/>
            <a:ext cx="10692245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b="1" i="1" dirty="0">
                <a:solidFill>
                  <a:srgbClr val="C00000"/>
                </a:solidFill>
              </a:rPr>
              <a:t>Anti-Money Laundering: </a:t>
            </a:r>
            <a:r>
              <a:rPr lang="en-US" sz="2400" dirty="0"/>
              <a:t>These are the mandatory rules and systems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designed to prevent criminals from cleaning dirty money through crypto platforms 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2. A Regulatory Sandbox: </a:t>
            </a:r>
            <a:r>
              <a:rPr lang="en-US" sz="2400" dirty="0"/>
              <a:t>Think of this as a safe playground provided by the Central Bank. It lets startups test innovative products with real users under direct supervision before getting a full commercial license.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3. Supervision: </a:t>
            </a:r>
            <a:r>
              <a:rPr lang="en-US" sz="2400" dirty="0"/>
              <a:t>Getting a license isn’t a one-time check; supervision is the ongoing oversight where regulators continuously inspect a firm's health and operations. 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4. Custody: </a:t>
            </a:r>
            <a:r>
              <a:rPr lang="en-US" sz="2400" dirty="0"/>
              <a:t>In crypto, “custody” simply answers: Who holds the secret private keys? Whoever holds the keys holds real control over the money. </a:t>
            </a:r>
          </a:p>
          <a:p>
            <a:pPr>
              <a:lnSpc>
                <a:spcPct val="150000"/>
              </a:lnSpc>
            </a:pPr>
            <a:r>
              <a:rPr lang="en-US" sz="2400" b="1" i="1" dirty="0">
                <a:solidFill>
                  <a:srgbClr val="C00000"/>
                </a:solidFill>
              </a:rPr>
              <a:t>5. Pathway: </a:t>
            </a:r>
            <a:r>
              <a:rPr lang="en-US" sz="2400" dirty="0"/>
              <a:t>This is the exact step-by-step roadmap a startup follows to move from a concept on paper to a fully licensed business.</a:t>
            </a:r>
          </a:p>
        </p:txBody>
      </p:sp>
    </p:spTree>
    <p:extLst>
      <p:ext uri="{BB962C8B-B14F-4D97-AF65-F5344CB8AC3E}">
        <p14:creationId xmlns:p14="http://schemas.microsoft.com/office/powerpoint/2010/main" val="384995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C63B1F-7DC9-3222-D190-8CC3A913F0E8}"/>
              </a:ext>
            </a:extLst>
          </p:cNvPr>
          <p:cNvSpPr/>
          <p:nvPr/>
        </p:nvSpPr>
        <p:spPr>
          <a:xfrm>
            <a:off x="340659" y="1362637"/>
            <a:ext cx="10972800" cy="753035"/>
          </a:xfrm>
          <a:custGeom>
            <a:avLst/>
            <a:gdLst>
              <a:gd name="csX0" fmla="*/ 0 w 10972800"/>
              <a:gd name="csY0" fmla="*/ 0 h 753035"/>
              <a:gd name="csX1" fmla="*/ 248332 w 10972800"/>
              <a:gd name="csY1" fmla="*/ 0 h 753035"/>
              <a:gd name="csX2" fmla="*/ 825848 w 10972800"/>
              <a:gd name="csY2" fmla="*/ 0 h 753035"/>
              <a:gd name="csX3" fmla="*/ 1403363 w 10972800"/>
              <a:gd name="csY3" fmla="*/ 0 h 753035"/>
              <a:gd name="csX4" fmla="*/ 2200335 w 10972800"/>
              <a:gd name="csY4" fmla="*/ 0 h 753035"/>
              <a:gd name="csX5" fmla="*/ 2448667 w 10972800"/>
              <a:gd name="csY5" fmla="*/ 0 h 753035"/>
              <a:gd name="csX6" fmla="*/ 3245639 w 10972800"/>
              <a:gd name="csY6" fmla="*/ 0 h 753035"/>
              <a:gd name="csX7" fmla="*/ 4042611 w 10972800"/>
              <a:gd name="csY7" fmla="*/ 0 h 753035"/>
              <a:gd name="csX8" fmla="*/ 4400670 w 10972800"/>
              <a:gd name="csY8" fmla="*/ 0 h 753035"/>
              <a:gd name="csX9" fmla="*/ 5087914 w 10972800"/>
              <a:gd name="csY9" fmla="*/ 0 h 753035"/>
              <a:gd name="csX10" fmla="*/ 5884886 w 10972800"/>
              <a:gd name="csY10" fmla="*/ 0 h 753035"/>
              <a:gd name="csX11" fmla="*/ 6681858 w 10972800"/>
              <a:gd name="csY11" fmla="*/ 0 h 753035"/>
              <a:gd name="csX12" fmla="*/ 7149645 w 10972800"/>
              <a:gd name="csY12" fmla="*/ 0 h 753035"/>
              <a:gd name="csX13" fmla="*/ 7507705 w 10972800"/>
              <a:gd name="csY13" fmla="*/ 0 h 753035"/>
              <a:gd name="csX14" fmla="*/ 8085221 w 10972800"/>
              <a:gd name="csY14" fmla="*/ 0 h 753035"/>
              <a:gd name="csX15" fmla="*/ 8772465 w 10972800"/>
              <a:gd name="csY15" fmla="*/ 0 h 753035"/>
              <a:gd name="csX16" fmla="*/ 9130525 w 10972800"/>
              <a:gd name="csY16" fmla="*/ 0 h 753035"/>
              <a:gd name="csX17" fmla="*/ 9488584 w 10972800"/>
              <a:gd name="csY17" fmla="*/ 0 h 753035"/>
              <a:gd name="csX18" fmla="*/ 9736916 w 10972800"/>
              <a:gd name="csY18" fmla="*/ 0 h 753035"/>
              <a:gd name="csX19" fmla="*/ 10204704 w 10972800"/>
              <a:gd name="csY19" fmla="*/ 0 h 753035"/>
              <a:gd name="csX20" fmla="*/ 10972800 w 10972800"/>
              <a:gd name="csY20" fmla="*/ 0 h 753035"/>
              <a:gd name="csX21" fmla="*/ 10972800 w 10972800"/>
              <a:gd name="csY21" fmla="*/ 368987 h 753035"/>
              <a:gd name="csX22" fmla="*/ 10972800 w 10972800"/>
              <a:gd name="csY22" fmla="*/ 753035 h 753035"/>
              <a:gd name="csX23" fmla="*/ 10505012 w 10972800"/>
              <a:gd name="csY23" fmla="*/ 753035 h 753035"/>
              <a:gd name="csX24" fmla="*/ 10037224 w 10972800"/>
              <a:gd name="csY24" fmla="*/ 753035 h 753035"/>
              <a:gd name="csX25" fmla="*/ 9459709 w 10972800"/>
              <a:gd name="csY25" fmla="*/ 753035 h 753035"/>
              <a:gd name="csX26" fmla="*/ 9101649 w 10972800"/>
              <a:gd name="csY26" fmla="*/ 753035 h 753035"/>
              <a:gd name="csX27" fmla="*/ 8853317 w 10972800"/>
              <a:gd name="csY27" fmla="*/ 753035 h 753035"/>
              <a:gd name="csX28" fmla="*/ 8166073 w 10972800"/>
              <a:gd name="csY28" fmla="*/ 753035 h 753035"/>
              <a:gd name="csX29" fmla="*/ 7588557 w 10972800"/>
              <a:gd name="csY29" fmla="*/ 753035 h 753035"/>
              <a:gd name="csX30" fmla="*/ 6791586 w 10972800"/>
              <a:gd name="csY30" fmla="*/ 753035 h 753035"/>
              <a:gd name="csX31" fmla="*/ 6433526 w 10972800"/>
              <a:gd name="csY31" fmla="*/ 753035 h 753035"/>
              <a:gd name="csX32" fmla="*/ 5856010 w 10972800"/>
              <a:gd name="csY32" fmla="*/ 753035 h 753035"/>
              <a:gd name="csX33" fmla="*/ 5278494 w 10972800"/>
              <a:gd name="csY33" fmla="*/ 753035 h 753035"/>
              <a:gd name="csX34" fmla="*/ 5030163 w 10972800"/>
              <a:gd name="csY34" fmla="*/ 753035 h 753035"/>
              <a:gd name="csX35" fmla="*/ 4233191 w 10972800"/>
              <a:gd name="csY35" fmla="*/ 753035 h 753035"/>
              <a:gd name="csX36" fmla="*/ 3765403 w 10972800"/>
              <a:gd name="csY36" fmla="*/ 753035 h 753035"/>
              <a:gd name="csX37" fmla="*/ 3297615 w 10972800"/>
              <a:gd name="csY37" fmla="*/ 753035 h 753035"/>
              <a:gd name="csX38" fmla="*/ 2829827 w 10972800"/>
              <a:gd name="csY38" fmla="*/ 753035 h 753035"/>
              <a:gd name="csX39" fmla="*/ 2471768 w 10972800"/>
              <a:gd name="csY39" fmla="*/ 753035 h 753035"/>
              <a:gd name="csX40" fmla="*/ 1894252 w 10972800"/>
              <a:gd name="csY40" fmla="*/ 753035 h 753035"/>
              <a:gd name="csX41" fmla="*/ 1426464 w 10972800"/>
              <a:gd name="csY41" fmla="*/ 753035 h 753035"/>
              <a:gd name="csX42" fmla="*/ 739220 w 10972800"/>
              <a:gd name="csY42" fmla="*/ 753035 h 753035"/>
              <a:gd name="csX43" fmla="*/ 0 w 10972800"/>
              <a:gd name="csY43" fmla="*/ 753035 h 753035"/>
              <a:gd name="csX44" fmla="*/ 0 w 10972800"/>
              <a:gd name="csY44" fmla="*/ 384048 h 753035"/>
              <a:gd name="csX45" fmla="*/ 0 w 10972800"/>
              <a:gd name="csY45" fmla="*/ 0 h 753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0972800" h="753035" extrusionOk="0">
                <a:moveTo>
                  <a:pt x="0" y="0"/>
                </a:moveTo>
                <a:cubicBezTo>
                  <a:pt x="53729" y="-6298"/>
                  <a:pt x="170428" y="20504"/>
                  <a:pt x="248332" y="0"/>
                </a:cubicBezTo>
                <a:cubicBezTo>
                  <a:pt x="326236" y="-20504"/>
                  <a:pt x="538897" y="18218"/>
                  <a:pt x="825848" y="0"/>
                </a:cubicBezTo>
                <a:cubicBezTo>
                  <a:pt x="1112799" y="-18218"/>
                  <a:pt x="1222018" y="45085"/>
                  <a:pt x="1403363" y="0"/>
                </a:cubicBezTo>
                <a:cubicBezTo>
                  <a:pt x="1584708" y="-45085"/>
                  <a:pt x="1898329" y="76697"/>
                  <a:pt x="2200335" y="0"/>
                </a:cubicBezTo>
                <a:cubicBezTo>
                  <a:pt x="2502341" y="-76697"/>
                  <a:pt x="2344013" y="23723"/>
                  <a:pt x="2448667" y="0"/>
                </a:cubicBezTo>
                <a:cubicBezTo>
                  <a:pt x="2553321" y="-23723"/>
                  <a:pt x="2964799" y="67035"/>
                  <a:pt x="3245639" y="0"/>
                </a:cubicBezTo>
                <a:cubicBezTo>
                  <a:pt x="3526479" y="-67035"/>
                  <a:pt x="3869211" y="55342"/>
                  <a:pt x="4042611" y="0"/>
                </a:cubicBezTo>
                <a:cubicBezTo>
                  <a:pt x="4216011" y="-55342"/>
                  <a:pt x="4256437" y="6975"/>
                  <a:pt x="4400670" y="0"/>
                </a:cubicBezTo>
                <a:cubicBezTo>
                  <a:pt x="4544903" y="-6975"/>
                  <a:pt x="4913188" y="18984"/>
                  <a:pt x="5087914" y="0"/>
                </a:cubicBezTo>
                <a:cubicBezTo>
                  <a:pt x="5262640" y="-18984"/>
                  <a:pt x="5692753" y="31416"/>
                  <a:pt x="5884886" y="0"/>
                </a:cubicBezTo>
                <a:cubicBezTo>
                  <a:pt x="6077019" y="-31416"/>
                  <a:pt x="6309623" y="60389"/>
                  <a:pt x="6681858" y="0"/>
                </a:cubicBezTo>
                <a:cubicBezTo>
                  <a:pt x="7054093" y="-60389"/>
                  <a:pt x="7044596" y="25021"/>
                  <a:pt x="7149645" y="0"/>
                </a:cubicBezTo>
                <a:cubicBezTo>
                  <a:pt x="7254694" y="-25021"/>
                  <a:pt x="7361719" y="25499"/>
                  <a:pt x="7507705" y="0"/>
                </a:cubicBezTo>
                <a:cubicBezTo>
                  <a:pt x="7653691" y="-25499"/>
                  <a:pt x="7915974" y="18269"/>
                  <a:pt x="8085221" y="0"/>
                </a:cubicBezTo>
                <a:cubicBezTo>
                  <a:pt x="8254468" y="-18269"/>
                  <a:pt x="8452189" y="66557"/>
                  <a:pt x="8772465" y="0"/>
                </a:cubicBezTo>
                <a:cubicBezTo>
                  <a:pt x="9092741" y="-66557"/>
                  <a:pt x="9005504" y="13501"/>
                  <a:pt x="9130525" y="0"/>
                </a:cubicBezTo>
                <a:cubicBezTo>
                  <a:pt x="9255546" y="-13501"/>
                  <a:pt x="9395239" y="8524"/>
                  <a:pt x="9488584" y="0"/>
                </a:cubicBezTo>
                <a:cubicBezTo>
                  <a:pt x="9581929" y="-8524"/>
                  <a:pt x="9633306" y="22048"/>
                  <a:pt x="9736916" y="0"/>
                </a:cubicBezTo>
                <a:cubicBezTo>
                  <a:pt x="9840526" y="-22048"/>
                  <a:pt x="10047721" y="44226"/>
                  <a:pt x="10204704" y="0"/>
                </a:cubicBezTo>
                <a:cubicBezTo>
                  <a:pt x="10361687" y="-44226"/>
                  <a:pt x="10786322" y="1364"/>
                  <a:pt x="10972800" y="0"/>
                </a:cubicBezTo>
                <a:cubicBezTo>
                  <a:pt x="10985494" y="145843"/>
                  <a:pt x="10955882" y="195063"/>
                  <a:pt x="10972800" y="368987"/>
                </a:cubicBezTo>
                <a:cubicBezTo>
                  <a:pt x="10989718" y="542911"/>
                  <a:pt x="10961239" y="604944"/>
                  <a:pt x="10972800" y="753035"/>
                </a:cubicBezTo>
                <a:cubicBezTo>
                  <a:pt x="10837138" y="771060"/>
                  <a:pt x="10655926" y="735629"/>
                  <a:pt x="10505012" y="753035"/>
                </a:cubicBezTo>
                <a:cubicBezTo>
                  <a:pt x="10354098" y="770441"/>
                  <a:pt x="10252405" y="750279"/>
                  <a:pt x="10037224" y="753035"/>
                </a:cubicBezTo>
                <a:cubicBezTo>
                  <a:pt x="9822043" y="755791"/>
                  <a:pt x="9616513" y="708861"/>
                  <a:pt x="9459709" y="753035"/>
                </a:cubicBezTo>
                <a:cubicBezTo>
                  <a:pt x="9302905" y="797209"/>
                  <a:pt x="9266563" y="717926"/>
                  <a:pt x="9101649" y="753035"/>
                </a:cubicBezTo>
                <a:cubicBezTo>
                  <a:pt x="8936735" y="788144"/>
                  <a:pt x="8975950" y="732816"/>
                  <a:pt x="8853317" y="753035"/>
                </a:cubicBezTo>
                <a:cubicBezTo>
                  <a:pt x="8730684" y="773254"/>
                  <a:pt x="8358572" y="728275"/>
                  <a:pt x="8166073" y="753035"/>
                </a:cubicBezTo>
                <a:cubicBezTo>
                  <a:pt x="7973574" y="777795"/>
                  <a:pt x="7755571" y="689515"/>
                  <a:pt x="7588557" y="753035"/>
                </a:cubicBezTo>
                <a:cubicBezTo>
                  <a:pt x="7421543" y="816555"/>
                  <a:pt x="6979686" y="667364"/>
                  <a:pt x="6791586" y="753035"/>
                </a:cubicBezTo>
                <a:cubicBezTo>
                  <a:pt x="6603486" y="838706"/>
                  <a:pt x="6549900" y="738816"/>
                  <a:pt x="6433526" y="753035"/>
                </a:cubicBezTo>
                <a:cubicBezTo>
                  <a:pt x="6317152" y="767254"/>
                  <a:pt x="6075991" y="712479"/>
                  <a:pt x="5856010" y="753035"/>
                </a:cubicBezTo>
                <a:cubicBezTo>
                  <a:pt x="5636029" y="793591"/>
                  <a:pt x="5412327" y="720608"/>
                  <a:pt x="5278494" y="753035"/>
                </a:cubicBezTo>
                <a:cubicBezTo>
                  <a:pt x="5144661" y="785462"/>
                  <a:pt x="5151037" y="732846"/>
                  <a:pt x="5030163" y="753035"/>
                </a:cubicBezTo>
                <a:cubicBezTo>
                  <a:pt x="4909289" y="773224"/>
                  <a:pt x="4468688" y="681561"/>
                  <a:pt x="4233191" y="753035"/>
                </a:cubicBezTo>
                <a:cubicBezTo>
                  <a:pt x="3997694" y="824509"/>
                  <a:pt x="3946136" y="710181"/>
                  <a:pt x="3765403" y="753035"/>
                </a:cubicBezTo>
                <a:cubicBezTo>
                  <a:pt x="3584670" y="795889"/>
                  <a:pt x="3435122" y="697196"/>
                  <a:pt x="3297615" y="753035"/>
                </a:cubicBezTo>
                <a:cubicBezTo>
                  <a:pt x="3160108" y="808874"/>
                  <a:pt x="3061613" y="725830"/>
                  <a:pt x="2829827" y="753035"/>
                </a:cubicBezTo>
                <a:cubicBezTo>
                  <a:pt x="2598041" y="780240"/>
                  <a:pt x="2583845" y="729286"/>
                  <a:pt x="2471768" y="753035"/>
                </a:cubicBezTo>
                <a:cubicBezTo>
                  <a:pt x="2359691" y="776784"/>
                  <a:pt x="2172397" y="696938"/>
                  <a:pt x="1894252" y="753035"/>
                </a:cubicBezTo>
                <a:cubicBezTo>
                  <a:pt x="1616107" y="809132"/>
                  <a:pt x="1534368" y="728260"/>
                  <a:pt x="1426464" y="753035"/>
                </a:cubicBezTo>
                <a:cubicBezTo>
                  <a:pt x="1318560" y="777810"/>
                  <a:pt x="975186" y="673797"/>
                  <a:pt x="739220" y="753035"/>
                </a:cubicBezTo>
                <a:cubicBezTo>
                  <a:pt x="503254" y="832273"/>
                  <a:pt x="303404" y="674111"/>
                  <a:pt x="0" y="753035"/>
                </a:cubicBezTo>
                <a:cubicBezTo>
                  <a:pt x="-6402" y="622273"/>
                  <a:pt x="37031" y="549487"/>
                  <a:pt x="0" y="384048"/>
                </a:cubicBezTo>
                <a:cubicBezTo>
                  <a:pt x="-37031" y="218609"/>
                  <a:pt x="31964" y="94105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27923185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7BF9D-A51E-FD93-6EE2-019CC4B7F244}"/>
              </a:ext>
            </a:extLst>
          </p:cNvPr>
          <p:cNvSpPr txBox="1"/>
          <p:nvPr/>
        </p:nvSpPr>
        <p:spPr>
          <a:xfrm>
            <a:off x="125510" y="24756"/>
            <a:ext cx="12066490" cy="67403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700" dirty="0"/>
              <a:t>How does a crypto idea actually become a legal business in Bahrain? Imagine you are the Central Bank. </a:t>
            </a:r>
          </a:p>
          <a:p>
            <a:r>
              <a:rPr lang="en-US" sz="2700" dirty="0"/>
              <a:t>A startup brings you a brand-new crypto platform. You have two bad choices: if you say ‘</a:t>
            </a:r>
            <a:r>
              <a:rPr lang="en-US" sz="2700" b="1" dirty="0"/>
              <a:t>Yes</a:t>
            </a:r>
            <a:r>
              <a:rPr lang="en-US" sz="2700" dirty="0"/>
              <a:t>’ right away, customers might lose money if the tech fails. </a:t>
            </a:r>
          </a:p>
          <a:p>
            <a:r>
              <a:rPr lang="en-US" sz="2700" dirty="0"/>
              <a:t>If you say </a:t>
            </a:r>
            <a:r>
              <a:rPr lang="en-US" sz="2700" b="1" dirty="0"/>
              <a:t>'No</a:t>
            </a:r>
            <a:r>
              <a:rPr lang="en-US" sz="2700" dirty="0"/>
              <a:t>', you kill innovation in Bahrain. </a:t>
            </a:r>
          </a:p>
          <a:p>
            <a:r>
              <a:rPr lang="en-US" sz="2700" dirty="0"/>
              <a:t>What do you do?"   </a:t>
            </a:r>
          </a:p>
          <a:p>
            <a:r>
              <a:rPr lang="en-US" sz="2700" dirty="0"/>
              <a:t>The answer is the Regulatory Sandbox. The sandbox isn’t a fake simulation, a real customers use real money, but the CBB places tight caps on transaction volumes and customer numbers so risks are strictly controlled.</a:t>
            </a:r>
          </a:p>
          <a:p>
            <a:r>
              <a:rPr lang="en-US" sz="2700" dirty="0"/>
              <a:t>On the left side of the slide, you see the road: </a:t>
            </a:r>
            <a:r>
              <a:rPr lang="en-US" sz="2700" b="1" dirty="0"/>
              <a:t>you apply</a:t>
            </a:r>
            <a:r>
              <a:rPr lang="en-US" sz="2700" dirty="0"/>
              <a:t>, </a:t>
            </a:r>
            <a:r>
              <a:rPr lang="en-US" sz="2700" b="1" dirty="0">
                <a:solidFill>
                  <a:srgbClr val="C00000"/>
                </a:solidFill>
              </a:rPr>
              <a:t>you test under conditions</a:t>
            </a:r>
            <a:r>
              <a:rPr lang="en-US" sz="2700" dirty="0"/>
              <a:t>, </a:t>
            </a:r>
            <a:r>
              <a:rPr lang="en-US" sz="2700" b="1" dirty="0">
                <a:solidFill>
                  <a:srgbClr val="00B0F0"/>
                </a:solidFill>
              </a:rPr>
              <a:t>you get evaluated against CRA rulebook chapters</a:t>
            </a:r>
            <a:r>
              <a:rPr lang="en-US" sz="2700" dirty="0"/>
              <a:t>, and </a:t>
            </a:r>
            <a:r>
              <a:rPr lang="en-US" sz="2700" b="1" dirty="0">
                <a:solidFill>
                  <a:srgbClr val="00B050"/>
                </a:solidFill>
              </a:rPr>
              <a:t>finally you exit</a:t>
            </a:r>
            <a:r>
              <a:rPr lang="en-US" sz="2700" dirty="0"/>
              <a:t>. </a:t>
            </a:r>
          </a:p>
          <a:p>
            <a:r>
              <a:rPr lang="en-US" sz="2700" dirty="0"/>
              <a:t>A firm can get a Full License, get an Extension for more testing, or be ordered to Stop. Stopping a risky firm is a success for the regulator because it protects the public!   </a:t>
            </a:r>
            <a:r>
              <a:rPr lang="en-US" sz="2700" b="1" i="1" dirty="0"/>
              <a:t>On the right side, </a:t>
            </a:r>
            <a:r>
              <a:rPr lang="en-US" sz="2700" dirty="0"/>
              <a:t>we see real examples right here in Bahrain—platforms like Rain, </a:t>
            </a:r>
            <a:r>
              <a:rPr lang="en-US" sz="2700" dirty="0" err="1"/>
              <a:t>CoinMENA</a:t>
            </a:r>
            <a:r>
              <a:rPr lang="en-US" sz="2700" dirty="0"/>
              <a:t>, and Binance Bahrain </a:t>
            </a:r>
            <a:r>
              <a:rPr lang="en-US" sz="2700" b="1" dirty="0">
                <a:solidFill>
                  <a:srgbClr val="00B050"/>
                </a:solidFill>
              </a:rPr>
              <a:t>all successfully navigated regulatory approval to operate legally</a:t>
            </a:r>
            <a:r>
              <a:rPr lang="en-US" sz="27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2BA6B0-47F8-B7A5-350E-C9F36547E8F9}"/>
              </a:ext>
            </a:extLst>
          </p:cNvPr>
          <p:cNvSpPr txBox="1"/>
          <p:nvPr/>
        </p:nvSpPr>
        <p:spPr>
          <a:xfrm>
            <a:off x="5773479" y="33027"/>
            <a:ext cx="7176977" cy="76944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5-stage sequential roadmap that a firm must follow to transition from an idea to a licensed entity in Bahrain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A6546-4E38-6FCF-DCDE-62D3539CEA94}"/>
              </a:ext>
            </a:extLst>
          </p:cNvPr>
          <p:cNvSpPr txBox="1"/>
          <p:nvPr/>
        </p:nvSpPr>
        <p:spPr>
          <a:xfrm>
            <a:off x="2248776" y="1738127"/>
            <a:ext cx="11243932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Checks if the business activity actually fits the sandbox scope. </a:t>
            </a:r>
          </a:p>
          <a:p>
            <a:r>
              <a:rPr lang="en-US" sz="2200" dirty="0"/>
              <a:t>This early gate saves both the CBB and the firm time before writing lengthy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72D23-4E11-902C-BFF1-F61D8607D552}"/>
              </a:ext>
            </a:extLst>
          </p:cNvPr>
          <p:cNvSpPr txBox="1"/>
          <p:nvPr/>
        </p:nvSpPr>
        <p:spPr>
          <a:xfrm>
            <a:off x="3692157" y="2658718"/>
            <a:ext cx="7195580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Crucial Distinction</a:t>
            </a:r>
            <a:r>
              <a:rPr lang="en-US" dirty="0"/>
              <a:t>: An application </a:t>
            </a:r>
            <a:r>
              <a:rPr lang="en-US" dirty="0">
                <a:solidFill>
                  <a:srgbClr val="C00000"/>
                </a:solidFill>
              </a:rPr>
              <a:t>for a regulator must focus on </a:t>
            </a:r>
            <a:r>
              <a:rPr lang="en-US" b="1" dirty="0">
                <a:solidFill>
                  <a:srgbClr val="C00000"/>
                </a:solidFill>
              </a:rPr>
              <a:t>risk and consumer protection </a:t>
            </a:r>
            <a:r>
              <a:rPr lang="en-US" dirty="0">
                <a:solidFill>
                  <a:srgbClr val="C00000"/>
                </a:solidFill>
              </a:rPr>
              <a:t>("What could go wrong?"), </a:t>
            </a:r>
            <a:r>
              <a:rPr lang="en-US" dirty="0"/>
              <a:t>whereas an application </a:t>
            </a:r>
            <a:r>
              <a:rPr lang="en-US" dirty="0">
                <a:solidFill>
                  <a:srgbClr val="7030A0"/>
                </a:solidFill>
              </a:rPr>
              <a:t>for an investor focuses </a:t>
            </a:r>
            <a:r>
              <a:rPr lang="en-US" b="1" dirty="0">
                <a:solidFill>
                  <a:srgbClr val="7030A0"/>
                </a:solidFill>
              </a:rPr>
              <a:t>on growth and profit </a:t>
            </a:r>
            <a:r>
              <a:rPr lang="en-US" dirty="0">
                <a:solidFill>
                  <a:srgbClr val="7030A0"/>
                </a:solidFill>
              </a:rPr>
              <a:t>("How big can this get?").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9AF97-2420-C61A-EC9D-C8C970ED761E}"/>
              </a:ext>
            </a:extLst>
          </p:cNvPr>
          <p:cNvSpPr txBox="1"/>
          <p:nvPr/>
        </p:nvSpPr>
        <p:spPr>
          <a:xfrm>
            <a:off x="3415708" y="3660487"/>
            <a:ext cx="9183873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firm operates under live sandbox conditions with real clients and capped transaction limits, producing real operational evidence rather than theoretical claims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C7727-871A-56D4-85DA-FD1BA696E39C}"/>
              </a:ext>
            </a:extLst>
          </p:cNvPr>
          <p:cNvSpPr txBox="1"/>
          <p:nvPr/>
        </p:nvSpPr>
        <p:spPr>
          <a:xfrm>
            <a:off x="3692157" y="4679780"/>
            <a:ext cx="859908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The regulator assesses the live evidence against the CBB Rulebook (Module CRA)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14F4C-0497-54DA-5B1D-3712238A164A}"/>
              </a:ext>
            </a:extLst>
          </p:cNvPr>
          <p:cNvSpPr txBox="1"/>
          <p:nvPr/>
        </p:nvSpPr>
        <p:spPr>
          <a:xfrm>
            <a:off x="3809113" y="5391297"/>
            <a:ext cx="9449686" cy="76944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The final outcome: </a:t>
            </a:r>
            <a:r>
              <a:rPr lang="en-US" sz="2200" b="1" dirty="0">
                <a:solidFill>
                  <a:srgbClr val="0070C0"/>
                </a:solidFill>
              </a:rPr>
              <a:t>a full commercial license</a:t>
            </a:r>
            <a:r>
              <a:rPr lang="en-US" sz="2200" dirty="0"/>
              <a:t>, </a:t>
            </a:r>
            <a:r>
              <a:rPr lang="en-US" sz="2200" b="1" dirty="0">
                <a:solidFill>
                  <a:srgbClr val="7030A0"/>
                </a:solidFill>
              </a:rPr>
              <a:t>an extended testing period</a:t>
            </a:r>
            <a:r>
              <a:rPr lang="en-US" sz="2200" dirty="0"/>
              <a:t>, or </a:t>
            </a:r>
            <a:r>
              <a:rPr lang="en-US" sz="2200" b="1" dirty="0">
                <a:solidFill>
                  <a:srgbClr val="FF0000"/>
                </a:solidFill>
              </a:rPr>
              <a:t>a stop order.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F4003-0388-736F-3319-5DE9622631A7}"/>
              </a:ext>
            </a:extLst>
          </p:cNvPr>
          <p:cNvSpPr txBox="1"/>
          <p:nvPr/>
        </p:nvSpPr>
        <p:spPr>
          <a:xfrm>
            <a:off x="703964" y="479041"/>
            <a:ext cx="107840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Imagine a team of software developers spent two full years building a high-tech crypto exchange in secret. </a:t>
            </a:r>
          </a:p>
          <a:p>
            <a:r>
              <a:rPr lang="en-US" sz="3200" dirty="0"/>
              <a:t>They have great code and tested it internally, but zero real customers yet. 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Where on this 5-stage roadmap do they start?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8ADD5-CFD6-3774-483E-4F799F59DF88}"/>
              </a:ext>
            </a:extLst>
          </p:cNvPr>
          <p:cNvSpPr txBox="1"/>
          <p:nvPr/>
        </p:nvSpPr>
        <p:spPr>
          <a:xfrm>
            <a:off x="703964" y="3429000"/>
            <a:ext cx="10784072" cy="22320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They start at Stage 1 (Eligibility), NOT Stage 3! It doesn’t matter how advanced their software is; no regulator has approved their activity yet, so they must start at the very beginning</a:t>
            </a:r>
          </a:p>
        </p:txBody>
      </p:sp>
    </p:spTree>
    <p:extLst>
      <p:ext uri="{BB962C8B-B14F-4D97-AF65-F5344CB8AC3E}">
        <p14:creationId xmlns:p14="http://schemas.microsoft.com/office/powerpoint/2010/main" val="380655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6EE49B-414C-0D39-6F71-300E785D607C}"/>
              </a:ext>
            </a:extLst>
          </p:cNvPr>
          <p:cNvSpPr txBox="1"/>
          <p:nvPr/>
        </p:nvSpPr>
        <p:spPr>
          <a:xfrm>
            <a:off x="2238233" y="2665062"/>
            <a:ext cx="9953767" cy="126188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9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Sandbox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a test route for evidence.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Regulators don't grant full </a:t>
            </a:r>
            <a:r>
              <a:rPr lang="en-US" sz="1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authorisation</a:t>
            </a: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based on a pretty pitch deck.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They want to watch you handle real customers and real money under supervised conditions so you can prove your systems work.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CDFC1-BE0F-D7FE-1193-2A0D6F4290ED}"/>
              </a:ext>
            </a:extLst>
          </p:cNvPr>
          <p:cNvSpPr txBox="1"/>
          <p:nvPr/>
        </p:nvSpPr>
        <p:spPr>
          <a:xfrm>
            <a:off x="1310186" y="4192143"/>
            <a:ext cx="10990996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Licenses are given for </a:t>
            </a:r>
            <a:r>
              <a:rPr lang="en-US" b="1" dirty="0"/>
              <a:t>specific permitted activities</a:t>
            </a:r>
            <a:r>
              <a:rPr lang="en-US" dirty="0"/>
              <a:t>, not general corporate status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Bahrain’s CBB rulebook, licenses are tiered into Categories 1 through 4 depending on what you do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 example, giving investment advice carries much lower risk than holding private keys for customer custody, so the regulatory proof required is very different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0A768-025B-3900-24EC-525F9019F477}"/>
              </a:ext>
            </a:extLst>
          </p:cNvPr>
          <p:cNvSpPr txBox="1"/>
          <p:nvPr/>
        </p:nvSpPr>
        <p:spPr>
          <a:xfrm>
            <a:off x="3302761" y="5787745"/>
            <a:ext cx="10836321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Applications must map cleanly to CRA chapters.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 cannot just write a general business proposal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 must explicitly show the regulator how each obligation in the rulebook is met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596E1A3-7675-124B-54BB-75178091E10E}"/>
              </a:ext>
            </a:extLst>
          </p:cNvPr>
          <p:cNvCxnSpPr/>
          <p:nvPr/>
        </p:nvCxnSpPr>
        <p:spPr>
          <a:xfrm>
            <a:off x="900752" y="2524836"/>
            <a:ext cx="162408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23B38D-5EF1-9AF8-4997-BAEF28EECD19}"/>
              </a:ext>
            </a:extLst>
          </p:cNvPr>
          <p:cNvCxnSpPr>
            <a:cxnSpLocks/>
          </p:cNvCxnSpPr>
          <p:nvPr/>
        </p:nvCxnSpPr>
        <p:spPr>
          <a:xfrm>
            <a:off x="2677236" y="2524836"/>
            <a:ext cx="616651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43E86F-2F9E-83AF-965A-E0CEDA096A5E}"/>
              </a:ext>
            </a:extLst>
          </p:cNvPr>
          <p:cNvCxnSpPr>
            <a:cxnSpLocks/>
          </p:cNvCxnSpPr>
          <p:nvPr/>
        </p:nvCxnSpPr>
        <p:spPr>
          <a:xfrm>
            <a:off x="9571630" y="2556681"/>
            <a:ext cx="19880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B9F186-107E-5998-BA13-7DF608BCBBF0}"/>
              </a:ext>
            </a:extLst>
          </p:cNvPr>
          <p:cNvCxnSpPr>
            <a:cxnSpLocks/>
          </p:cNvCxnSpPr>
          <p:nvPr/>
        </p:nvCxnSpPr>
        <p:spPr>
          <a:xfrm>
            <a:off x="6393976" y="2831910"/>
            <a:ext cx="470165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F37EF9-B3C1-C923-E26B-A53031615DFB}"/>
              </a:ext>
            </a:extLst>
          </p:cNvPr>
          <p:cNvSpPr txBox="1"/>
          <p:nvPr/>
        </p:nvSpPr>
        <p:spPr>
          <a:xfrm>
            <a:off x="1279477" y="4360459"/>
            <a:ext cx="11221871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firm operating a crypto-asset exchange must hold a </a:t>
            </a:r>
            <a:r>
              <a:rPr lang="en-US" sz="2000" b="1" dirty="0">
                <a:solidFill>
                  <a:srgbClr val="FF0000"/>
                </a:solidFill>
              </a:rPr>
              <a:t>Category 4 License</a:t>
            </a: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Category 4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is the highest tier of crypto license in Bahrain (requiring BHD 300,000 in capital)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2AD0BF-B78A-85EB-C18B-4F0989B3842C}"/>
              </a:ext>
            </a:extLst>
          </p:cNvPr>
          <p:cNvSpPr txBox="1"/>
          <p:nvPr/>
        </p:nvSpPr>
        <p:spPr>
          <a:xfrm>
            <a:off x="6947845" y="2823991"/>
            <a:ext cx="5553503" cy="147732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en-US" b="1" dirty="0"/>
              <a:t>Crypto-asset license category	     Minimum capital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1						BHD 25,000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2						BHD 100,000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3						BHD 200,000</a:t>
            </a:r>
          </a:p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4						BHD 300,000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72FCD-60BB-BBBF-2976-4590C85586BC}"/>
              </a:ext>
            </a:extLst>
          </p:cNvPr>
          <p:cNvSpPr txBox="1"/>
          <p:nvPr/>
        </p:nvSpPr>
        <p:spPr>
          <a:xfrm>
            <a:off x="1215219" y="5898107"/>
            <a:ext cx="10976781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look at real platforms operating right here in Bahrain, such as </a:t>
            </a:r>
            <a:r>
              <a:rPr lang="en-US" b="1" dirty="0">
                <a:solidFill>
                  <a:srgbClr val="FF0000"/>
                </a:solidFill>
              </a:rPr>
              <a:t>Rain, </a:t>
            </a:r>
            <a:r>
              <a:rPr lang="en-US" b="1" dirty="0" err="1">
                <a:solidFill>
                  <a:srgbClr val="FF0000"/>
                </a:solidFill>
              </a:rPr>
              <a:t>CoinMENA</a:t>
            </a:r>
            <a:r>
              <a:rPr lang="en-US" b="1" dirty="0">
                <a:solidFill>
                  <a:srgbClr val="FF0000"/>
                </a:solidFill>
              </a:rPr>
              <a:t>, and Binance Bahrain.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Don’t fall into the trap of thinking a big international brand can skip local rules—</a:t>
            </a:r>
            <a:r>
              <a:rPr lang="en-US" b="1" dirty="0">
                <a:solidFill>
                  <a:srgbClr val="FF0000"/>
                </a:solidFill>
              </a:rPr>
              <a:t>even global giants must obtain CBB permission for their specific local activities.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7B38F-A615-F2C7-1924-7BFB202E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9.png">
            <a:extLst>
              <a:ext uri="{FF2B5EF4-FFF2-40B4-BE49-F238E27FC236}">
                <a16:creationId xmlns:a16="http://schemas.microsoft.com/office/drawing/2014/main" id="{4A33406E-1DF4-11A7-0C19-216A0C694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096" y="0"/>
            <a:ext cx="2207904" cy="1241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60A5AA-32CC-2BDD-3EAD-E0D07D22FB1E}"/>
              </a:ext>
            </a:extLst>
          </p:cNvPr>
          <p:cNvSpPr txBox="1"/>
          <p:nvPr/>
        </p:nvSpPr>
        <p:spPr>
          <a:xfrm>
            <a:off x="313899" y="880280"/>
            <a:ext cx="111502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Let’s look at a concrete worked example of a new crypto exchange going through the pathway. </a:t>
            </a:r>
          </a:p>
          <a:p>
            <a:r>
              <a:rPr lang="en-US" sz="2400" dirty="0"/>
              <a:t>When analyzing a project, a complete answer must address three key elements: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FF0000"/>
                </a:solidFill>
              </a:rPr>
              <a:t>Where does it enter?</a:t>
            </a:r>
            <a:r>
              <a:rPr lang="en-US" sz="2400" dirty="0"/>
              <a:t> It enters at Stage 1 (Eligibility) because no regulator has approved its activity yet.  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FF0000"/>
                </a:solidFill>
              </a:rPr>
              <a:t>What happens along the way? </a:t>
            </a:r>
            <a:r>
              <a:rPr lang="en-US" sz="2400" dirty="0"/>
              <a:t>It applies to the CBB (Stage 2), enters Sandbox Testing under transaction caps (Stage 3), and exits into a Category 4 License (Stage 4)—because operating an exchange requires Category 4.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FF0000"/>
                </a:solidFill>
              </a:rPr>
              <a:t>Which stage is most likely to stop it? </a:t>
            </a:r>
            <a:r>
              <a:rPr lang="en-US" sz="2400" dirty="0"/>
              <a:t>This is where the marks are! The biggest risk isn't getting rejected on day one at the application stage.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/>
              <a:t>The riskiest stage is the Sandbox Test itself.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FF0000"/>
                </a:solidFill>
              </a:rPr>
              <a:t>Why</a:t>
            </a:r>
            <a:r>
              <a:rPr lang="en-US" sz="2400" dirty="0"/>
              <a:t>? Because writing a policy on paper takes an afternoon, but running Anti-Money Laundering (AML under CRA-7) identity checks on every single live user without fail, and securing client private keys under Custody rules (CRA-8) 24 hours a day for months is extremely difficult.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i="1" dirty="0">
                <a:solidFill>
                  <a:srgbClr val="002060"/>
                </a:solidFill>
              </a:rPr>
              <a:t>If a startup fails these ongoing operational checks, they cannot go any further.</a:t>
            </a:r>
          </a:p>
        </p:txBody>
      </p:sp>
    </p:spTree>
    <p:extLst>
      <p:ext uri="{BB962C8B-B14F-4D97-AF65-F5344CB8AC3E}">
        <p14:creationId xmlns:p14="http://schemas.microsoft.com/office/powerpoint/2010/main" val="2296348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1289</Words>
  <Application>Microsoft Office PowerPoint</Application>
  <PresentationFormat>Widescreen</PresentationFormat>
  <Paragraphs>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 Ul Islam</cp:lastModifiedBy>
  <cp:revision>33</cp:revision>
  <dcterms:created xsi:type="dcterms:W3CDTF">2013-01-27T09:14:16Z</dcterms:created>
  <dcterms:modified xsi:type="dcterms:W3CDTF">2026-10-21T08:01:07Z</dcterms:modified>
  <cp:category/>
</cp:coreProperties>
</file>