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484" autoAdjust="0"/>
  </p:normalViewPr>
  <p:slideViewPr>
    <p:cSldViewPr snapToGrid="0" snapToObjects="1">
      <p:cViewPr varScale="1">
        <p:scale>
          <a:sx n="48" d="100"/>
          <a:sy n="48" d="100"/>
        </p:scale>
        <p:origin x="19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78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BBB4A2-5438-FFD9-16DE-74FA534F9865}"/>
              </a:ext>
            </a:extLst>
          </p:cNvPr>
          <p:cNvSpPr txBox="1"/>
          <p:nvPr/>
        </p:nvSpPr>
        <p:spPr>
          <a:xfrm>
            <a:off x="4049486" y="5323"/>
            <a:ext cx="8360229" cy="95410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smart contract is a small program stored on a blockchain. It runs by itself once its conditions are met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9FD20-3916-23E3-D9F0-0ABEC4F9D465}"/>
              </a:ext>
            </a:extLst>
          </p:cNvPr>
          <p:cNvSpPr txBox="1"/>
          <p:nvPr/>
        </p:nvSpPr>
        <p:spPr>
          <a:xfrm>
            <a:off x="3872484" y="4095851"/>
            <a:ext cx="8557260" cy="132343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FFFF00"/>
                </a:solidFill>
              </a:rPr>
              <a:t>Deployed</a:t>
            </a:r>
            <a:r>
              <a:rPr lang="en-US" sz="1600" dirty="0">
                <a:solidFill>
                  <a:schemeClr val="bg1"/>
                </a:solidFill>
              </a:rPr>
              <a:t> means the contract is already live on the blockchain.</a:t>
            </a:r>
          </a:p>
          <a:p>
            <a:r>
              <a:rPr lang="en-US" sz="1600" b="1" i="1" dirty="0">
                <a:solidFill>
                  <a:srgbClr val="FFFF00"/>
                </a:solidFill>
              </a:rPr>
              <a:t>Function-name level </a:t>
            </a:r>
            <a:r>
              <a:rPr lang="en-US" sz="1600" dirty="0">
                <a:solidFill>
                  <a:schemeClr val="bg1"/>
                </a:solidFill>
              </a:rPr>
              <a:t>means students read only the names of the actions the contract can perform, not the code inside them.</a:t>
            </a:r>
          </a:p>
          <a:p>
            <a:r>
              <a:rPr lang="en-US" sz="1600" b="1" i="1" dirty="0">
                <a:solidFill>
                  <a:srgbClr val="FFFF00"/>
                </a:solidFill>
              </a:rPr>
              <a:t>Translate</a:t>
            </a:r>
            <a:r>
              <a:rPr lang="en-US" sz="1600" dirty="0">
                <a:solidFill>
                  <a:schemeClr val="bg1"/>
                </a:solidFill>
              </a:rPr>
              <a:t> to business language means turning those names into plain business steps, such as "the contract lets the owner withdraw funds."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B766A6-E371-FBF3-6FEF-D798512C9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287866"/>
            <a:ext cx="3263900" cy="21759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F1D323-D78D-0355-E321-430D72ED9440}"/>
              </a:ext>
            </a:extLst>
          </p:cNvPr>
          <p:cNvSpPr/>
          <p:nvPr/>
        </p:nvSpPr>
        <p:spPr>
          <a:xfrm>
            <a:off x="389106" y="1293779"/>
            <a:ext cx="10865796" cy="5933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384C4-3F2E-0478-1ADD-25E1A9C08C71}"/>
              </a:ext>
            </a:extLst>
          </p:cNvPr>
          <p:cNvSpPr txBox="1"/>
          <p:nvPr/>
        </p:nvSpPr>
        <p:spPr>
          <a:xfrm>
            <a:off x="389106" y="2274838"/>
            <a:ext cx="5529094" cy="415498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Run agreed logic automatically</a:t>
            </a:r>
            <a:r>
              <a:rPr lang="en-US" sz="2400" dirty="0">
                <a:solidFill>
                  <a:schemeClr val="bg1"/>
                </a:solidFill>
              </a:rPr>
              <a:t>: it carries out the "if this, then that" rules without a person acting.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Hold and release funds on conditions</a:t>
            </a:r>
            <a:r>
              <a:rPr lang="en-US" sz="2400" dirty="0">
                <a:solidFill>
                  <a:schemeClr val="bg1"/>
                </a:solidFill>
              </a:rPr>
              <a:t>: the money sits inside the contract and is released when the condition is met.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Be read and audited by anyone</a:t>
            </a:r>
            <a:r>
              <a:rPr lang="en-US" sz="2400" dirty="0">
                <a:solidFill>
                  <a:schemeClr val="bg1"/>
                </a:solidFill>
              </a:rPr>
              <a:t>: the terms are public, so anyone can check them.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Work together with other contracts</a:t>
            </a:r>
            <a:r>
              <a:rPr lang="en-US" sz="2400" dirty="0">
                <a:solidFill>
                  <a:schemeClr val="bg1"/>
                </a:solidFill>
              </a:rPr>
              <a:t>: one contract can use another, so services can be built on top of each other.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E11E2-347B-41DC-9CDA-A3820AD46191}"/>
              </a:ext>
            </a:extLst>
          </p:cNvPr>
          <p:cNvSpPr txBox="1"/>
          <p:nvPr/>
        </p:nvSpPr>
        <p:spPr>
          <a:xfrm>
            <a:off x="6256506" y="1836029"/>
            <a:ext cx="5884694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700" b="1" dirty="0"/>
              <a:t>Know anything off-chain by itself</a:t>
            </a:r>
            <a:r>
              <a:rPr lang="en-US" sz="2700" dirty="0"/>
              <a:t>: it cannot see the outside world.</a:t>
            </a:r>
          </a:p>
          <a:p>
            <a:r>
              <a:rPr lang="en-US" sz="2700" b="1" dirty="0"/>
              <a:t>Reverse a bug once deployed: </a:t>
            </a:r>
            <a:r>
              <a:rPr lang="en-US" sz="2700" dirty="0"/>
              <a:t>it runs exactly as written, even if the writing was a mistake.</a:t>
            </a:r>
          </a:p>
          <a:p>
            <a:r>
              <a:rPr lang="en-US" sz="2700" b="1" dirty="0"/>
              <a:t>Judge intent or fairness</a:t>
            </a:r>
            <a:r>
              <a:rPr lang="en-US" sz="2700" dirty="0"/>
              <a:t>: it checks a condition and does not weigh up a situation.</a:t>
            </a:r>
          </a:p>
          <a:p>
            <a:r>
              <a:rPr lang="en-US" sz="2700" b="1" dirty="0"/>
              <a:t>Trust external data without an oracle: </a:t>
            </a:r>
            <a:r>
              <a:rPr lang="en-US" sz="2700" dirty="0"/>
              <a:t>outside facts only arrive through an oracle, and then you are trusting the oracle.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682D2F-BE0D-D691-E8B2-E24CAD56E66A}"/>
              </a:ext>
            </a:extLst>
          </p:cNvPr>
          <p:cNvSpPr/>
          <p:nvPr/>
        </p:nvSpPr>
        <p:spPr>
          <a:xfrm>
            <a:off x="311285" y="1332689"/>
            <a:ext cx="7422204" cy="58366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236</Words>
  <Application>Microsoft Office PowerPoint</Application>
  <PresentationFormat>Widescreen</PresentationFormat>
  <Paragraphs>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20</cp:revision>
  <dcterms:created xsi:type="dcterms:W3CDTF">2013-01-27T09:14:16Z</dcterms:created>
  <dcterms:modified xsi:type="dcterms:W3CDTF">2026-10-21T07:58:09Z</dcterms:modified>
  <cp:category/>
</cp:coreProperties>
</file>