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70" r:id="rId14"/>
    <p:sldId id="271" r:id="rId15"/>
    <p:sldId id="272" r:id="rId16"/>
    <p:sldId id="273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3203" autoAdjust="0"/>
  </p:normalViewPr>
  <p:slideViewPr>
    <p:cSldViewPr snapToGrid="0" snapToObjects="1">
      <p:cViewPr varScale="1">
        <p:scale>
          <a:sx n="40" d="100"/>
          <a:sy n="40" d="100"/>
        </p:scale>
        <p:origin x="2218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265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9ADAA-A789-1AD6-42A4-3E436BEF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9C4890-5722-EACD-C39E-2DC9096D25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1298A-5775-4291-6627-C9DD4FDC5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BBD59-0C58-0981-775A-8B0EC89E7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58417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4C7F2-2926-EB48-161D-23487CE2B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17886-E9B3-AD78-2F50-EED6F6CFC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48D6D-115D-F47E-DD35-B8DCF8784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C280E-6753-8983-560F-AC867F68F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888996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8DD0-9FFB-650D-6883-C931CE4C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FDAF92-6BF2-2922-E7C9-55CB74C89C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B1E44-992D-97E2-F235-7DFC96841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378D5-21C8-EB97-F82D-665295E0C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06501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B04FD-3F3E-3C73-AC0D-64F797395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435C7-1992-D0E7-5210-FFD893B37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40973-6E34-7D4D-D380-81F67E66D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F1955-3CD9-10A4-5B4E-2DB449DCC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53518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29C0FD-0626-E723-DD4C-F1B612752AF0}"/>
              </a:ext>
            </a:extLst>
          </p:cNvPr>
          <p:cNvSpPr txBox="1"/>
          <p:nvPr/>
        </p:nvSpPr>
        <p:spPr>
          <a:xfrm>
            <a:off x="768096" y="4282075"/>
            <a:ext cx="11686032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</a:rPr>
              <a:t>look at wallets — not as a single category, but ranked by risk. Some ways of holding crypto are safer than others, and you'll learn to place any wallet setup somewhere on that risk spectrum.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8DC1E7-7303-6928-9C6F-9B5924B43158}"/>
              </a:ext>
            </a:extLst>
          </p:cNvPr>
          <p:cNvSpPr txBox="1"/>
          <p:nvPr/>
        </p:nvSpPr>
        <p:spPr>
          <a:xfrm>
            <a:off x="130302" y="5982841"/>
            <a:ext cx="12506706" cy="76944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you'll actually open a wallet, make a transaction, and learn to read what that transaction record is telling you, well enough that you could explain it to someone who's never seen a blockchain explorer in their life.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AEBC7-3B7A-1A24-AA84-C68F2738262B}"/>
              </a:ext>
            </a:extLst>
          </p:cNvPr>
          <p:cNvSpPr txBox="1"/>
          <p:nvPr/>
        </p:nvSpPr>
        <p:spPr>
          <a:xfrm>
            <a:off x="6611112" y="2650343"/>
            <a:ext cx="6012688" cy="92333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Cryptocurrency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Bitcoin, Ethereum, Solana </a:t>
            </a:r>
          </a:p>
          <a:p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Crypto-tokens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Uniswap, </a:t>
            </a: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Chainlink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Tether</a:t>
            </a:r>
          </a:p>
          <a:p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Crypto-assets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ETH, NFTs, tokenized real estate, stablecoins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DDE8EE-0137-E9AE-9D2B-325EFA348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52430"/>
              </p:ext>
            </p:extLst>
          </p:nvPr>
        </p:nvGraphicFramePr>
        <p:xfrm>
          <a:off x="6529387" y="1137126"/>
          <a:ext cx="5662613" cy="2651760"/>
        </p:xfrm>
        <a:graphic>
          <a:graphicData uri="http://schemas.openxmlformats.org/drawingml/2006/table">
            <a:tbl>
              <a:tblPr/>
              <a:tblGrid>
                <a:gridCol w="1572948">
                  <a:extLst>
                    <a:ext uri="{9D8B030D-6E8A-4147-A177-3AD203B41FA5}">
                      <a16:colId xmlns:a16="http://schemas.microsoft.com/office/drawing/2014/main" val="1680815121"/>
                    </a:ext>
                  </a:extLst>
                </a:gridCol>
                <a:gridCol w="4089665">
                  <a:extLst>
                    <a:ext uri="{9D8B030D-6E8A-4147-A177-3AD203B41FA5}">
                      <a16:colId xmlns:a16="http://schemas.microsoft.com/office/drawing/2014/main" val="778207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Custody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Whoever holds the key actually controls the coins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930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Operational risk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Losing money because a </a:t>
                      </a:r>
                      <a:r>
                        <a:rPr lang="en-US" i="1"/>
                        <a:t>company</a:t>
                      </a:r>
                      <a:r>
                        <a:rPr lang="en-US"/>
                        <a:t> messed up, not the tech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416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Failure mode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exact, specific way something breaks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914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Testnet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Practice version, fake coins, zero real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347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Mainnet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real network, real coins, real consequences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8296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2A91C-A8EC-7F8C-6DAB-52C21C6082EA}"/>
              </a:ext>
            </a:extLst>
          </p:cNvPr>
          <p:cNvSpPr/>
          <p:nvPr/>
        </p:nvSpPr>
        <p:spPr>
          <a:xfrm>
            <a:off x="457200" y="1340069"/>
            <a:ext cx="9632731" cy="5990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B5C8C-79A8-F48D-6516-24AB47463FA6}"/>
              </a:ext>
            </a:extLst>
          </p:cNvPr>
          <p:cNvSpPr txBox="1"/>
          <p:nvPr/>
        </p:nvSpPr>
        <p:spPr>
          <a:xfrm>
            <a:off x="425673" y="5546044"/>
            <a:ext cx="11477296" cy="107721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FFFF00"/>
                </a:solidFill>
              </a:rPr>
              <a:t>Next: if the key is the asset, then judging any wallet means judging how the key is held, which is exactly the checklist coming up.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1E0B95-AB7E-9344-F6A6-8BA8B42A3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754759"/>
              </p:ext>
            </p:extLst>
          </p:nvPr>
        </p:nvGraphicFramePr>
        <p:xfrm>
          <a:off x="0" y="1646447"/>
          <a:ext cx="11477296" cy="3936457"/>
        </p:xfrm>
        <a:graphic>
          <a:graphicData uri="http://schemas.openxmlformats.org/drawingml/2006/table">
            <a:tbl>
              <a:tblPr/>
              <a:tblGrid>
                <a:gridCol w="1574577">
                  <a:extLst>
                    <a:ext uri="{9D8B030D-6E8A-4147-A177-3AD203B41FA5}">
                      <a16:colId xmlns:a16="http://schemas.microsoft.com/office/drawing/2014/main" val="2078721982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4243570536"/>
                    </a:ext>
                  </a:extLst>
                </a:gridCol>
                <a:gridCol w="5016394">
                  <a:extLst>
                    <a:ext uri="{9D8B030D-6E8A-4147-A177-3AD203B41FA5}">
                      <a16:colId xmlns:a16="http://schemas.microsoft.com/office/drawing/2014/main" val="2851987519"/>
                    </a:ext>
                  </a:extLst>
                </a:gridCol>
              </a:tblGrid>
              <a:tr h="59685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83814" marR="83814" marT="41907" marB="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Hot (online)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83814" marR="83814" marT="41907" marB="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Cold (offline)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83814" marR="83814" marT="41907" marB="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297612"/>
                  </a:ext>
                </a:extLst>
              </a:tr>
              <a:tr h="159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Custodial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83814" marR="83814" marT="41907" marB="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Your everyday balance on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Binance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Coinbase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, or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Kraken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— sitting in the exchange's active pool, ready to trade or withdraw instantly</a:t>
                      </a:r>
                    </a:p>
                  </a:txBody>
                  <a:tcPr marL="83814" marR="83814" marT="41907" marB="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The exchange’s own vault storage — e.g.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Coinbase Custody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, or institutional custodians like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BitGo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or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Fireblocks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, who keep the vast majority of customer funds offline and only move small amounts to hot wallets as needed</a:t>
                      </a:r>
                    </a:p>
                  </a:txBody>
                  <a:tcPr marL="83814" marR="83814" marT="41907" marB="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661019"/>
                  </a:ext>
                </a:extLst>
              </a:tr>
              <a:tr h="1731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Self-custody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83814" marR="83814" marT="41907" marB="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MetaMask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Trust Wallet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Phantom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(for Solana) — apps on your own phone or browser where you hold the key yourself, but the app stays connected to the internet</a:t>
                      </a:r>
                    </a:p>
                  </a:txBody>
                  <a:tcPr marL="83814" marR="83814" marT="41907" marB="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Ledger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or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Trezor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— small physical USB-like devices that store your key completely offline; you plug it in only to approve a transaction, then it disconnects</a:t>
                      </a:r>
                    </a:p>
                  </a:txBody>
                  <a:tcPr marL="83814" marR="83814" marT="41907" marB="41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9492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FB089C-B299-10CF-9A55-62399FDA3431}"/>
              </a:ext>
            </a:extLst>
          </p:cNvPr>
          <p:cNvSpPr txBox="1"/>
          <p:nvPr/>
        </p:nvSpPr>
        <p:spPr>
          <a:xfrm>
            <a:off x="9569018" y="1905340"/>
            <a:ext cx="2676851" cy="36933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how a key can be rebuilt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D3B09E-B69B-4BAC-4A04-902472D8FDBF}"/>
              </a:ext>
            </a:extLst>
          </p:cNvPr>
          <p:cNvSpPr/>
          <p:nvPr/>
        </p:nvSpPr>
        <p:spPr>
          <a:xfrm>
            <a:off x="457201" y="1340069"/>
            <a:ext cx="5638800" cy="59909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549A6-2EAB-089E-6459-2E7C1AF3F059}"/>
              </a:ext>
            </a:extLst>
          </p:cNvPr>
          <p:cNvSpPr txBox="1"/>
          <p:nvPr/>
        </p:nvSpPr>
        <p:spPr>
          <a:xfrm>
            <a:off x="4041648" y="2121408"/>
            <a:ext cx="8150352" cy="454983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The idea is: no matter what wallet setup you're looking at — an exchange account, a MetaMask wallet, a hardware device, anything — you can judge how risky it is by asking these five same questions every time.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Think of it like a doctor running the same five checks on every patient, regardless of what's wrong with them.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F0421C-7FC2-5133-2EEC-27787C52EBC6}"/>
              </a:ext>
            </a:extLst>
          </p:cNvPr>
          <p:cNvSpPr txBox="1"/>
          <p:nvPr/>
        </p:nvSpPr>
        <p:spPr>
          <a:xfrm>
            <a:off x="4041648" y="1704442"/>
            <a:ext cx="8375904" cy="517064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2900" dirty="0">
                <a:solidFill>
                  <a:schemeClr val="bg1"/>
                </a:solidFill>
              </a:rPr>
              <a:t>does moving the money require one approval, or several?</a:t>
            </a:r>
          </a:p>
          <a:p>
            <a:r>
              <a:rPr lang="en-US" sz="2900" dirty="0">
                <a:solidFill>
                  <a:schemeClr val="bg1"/>
                </a:solidFill>
              </a:rPr>
              <a:t>Single-sig = one key is enough. </a:t>
            </a:r>
          </a:p>
          <a:p>
            <a:r>
              <a:rPr lang="en-US" sz="2900" dirty="0">
                <a:solidFill>
                  <a:schemeClr val="bg1"/>
                </a:solidFill>
              </a:rPr>
              <a:t>You alone can approve and send a transaction. </a:t>
            </a:r>
          </a:p>
          <a:p>
            <a:r>
              <a:rPr lang="en-US" sz="2900" dirty="0">
                <a:solidFill>
                  <a:schemeClr val="bg1"/>
                </a:solidFill>
              </a:rPr>
              <a:t>Simple, but if that one key is ever stolen or lost, that’s the whole game over.</a:t>
            </a:r>
          </a:p>
          <a:p>
            <a:r>
              <a:rPr lang="en-US" sz="2900" dirty="0">
                <a:solidFill>
                  <a:schemeClr val="bg1"/>
                </a:solidFill>
              </a:rPr>
              <a:t>Multi-sig = requires several separate keys to agree before anything moves. </a:t>
            </a:r>
          </a:p>
          <a:p>
            <a:r>
              <a:rPr lang="en-US" sz="2900" dirty="0">
                <a:solidFill>
                  <a:schemeClr val="bg1"/>
                </a:solidFill>
              </a:rPr>
              <a:t>Like a safety deposit box that needs two different bank employees to insert their keys together — no single person can open it alone.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10774-8BBA-8E50-8240-C57A110C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32F4DD-E751-4E29-2BE0-4ECE1724EB5A}"/>
              </a:ext>
            </a:extLst>
          </p:cNvPr>
          <p:cNvSpPr txBox="1"/>
          <p:nvPr/>
        </p:nvSpPr>
        <p:spPr>
          <a:xfrm>
            <a:off x="585216" y="428178"/>
            <a:ext cx="1113129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How to run this activity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Work individually </a:t>
            </a:r>
            <a:r>
              <a:rPr lang="en-US" sz="2400" dirty="0"/>
              <a:t>— everyone creates their own wallet and keeps their own lab log.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The log is your personal evidence for your own worksheet, not something a group hands in once.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Practice network only</a:t>
            </a:r>
            <a:r>
              <a:rPr lang="en-US" sz="2400" dirty="0"/>
              <a:t>. Never real funds.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Never use a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seed phrase anywhere else</a:t>
            </a:r>
            <a:r>
              <a:rPr lang="en-US" sz="2400" dirty="0"/>
              <a:t>, ever.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Every wallet made today is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disposable</a:t>
            </a:r>
            <a:r>
              <a:rPr lang="en-US" sz="2400" dirty="0"/>
              <a:t>.</a:t>
            </a:r>
          </a:p>
          <a:p>
            <a:r>
              <a:rPr lang="en-US" sz="2400" dirty="0"/>
              <a:t>What "</a:t>
            </a:r>
            <a:r>
              <a:rPr lang="en-US" sz="2400" b="1" dirty="0"/>
              <a:t>finished</a:t>
            </a:r>
            <a:r>
              <a:rPr lang="en-US" sz="2400" dirty="0"/>
              <a:t>" actually looks like </a:t>
            </a:r>
            <a:r>
              <a:rPr lang="en-US" sz="2400" b="1" dirty="0">
                <a:solidFill>
                  <a:srgbClr val="FF0000"/>
                </a:solidFill>
              </a:rPr>
              <a:t>(this is where marks are lost)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Seed phrase step: </a:t>
            </a:r>
            <a:r>
              <a:rPr lang="en-US" sz="2400" dirty="0"/>
              <a:t>you are not marked for having a phrase. </a:t>
            </a:r>
            <a:r>
              <a:rPr lang="en-US" sz="2400" b="1" dirty="0">
                <a:solidFill>
                  <a:srgbClr val="FF0000"/>
                </a:solidFill>
              </a:rPr>
              <a:t>You’re marked for explaining how you secured it </a:t>
            </a:r>
            <a:r>
              <a:rPr lang="en-US" sz="2400" dirty="0"/>
              <a:t>— could anyone else reach it, and </a:t>
            </a:r>
            <a:r>
              <a:rPr lang="en-US" sz="2400" b="1" dirty="0">
                <a:solidFill>
                  <a:srgbClr val="FF0000"/>
                </a:solidFill>
              </a:rPr>
              <a:t>what happens if the paper is lost</a:t>
            </a:r>
            <a:r>
              <a:rPr lang="en-US" sz="2400" dirty="0"/>
              <a:t>? That’s the real answer.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Transaction step: </a:t>
            </a:r>
            <a:r>
              <a:rPr lang="en-US" sz="2400" dirty="0"/>
              <a:t>your </a:t>
            </a:r>
            <a:r>
              <a:rPr lang="en-US" sz="2400" b="1" dirty="0"/>
              <a:t>screenshot</a:t>
            </a:r>
            <a:r>
              <a:rPr lang="en-US" sz="2400" dirty="0"/>
              <a:t> must show your </a:t>
            </a:r>
            <a:r>
              <a:rPr lang="en-US" sz="2400" b="1" dirty="0"/>
              <a:t>student ID number </a:t>
            </a:r>
            <a:r>
              <a:rPr lang="en-US" sz="2400" dirty="0"/>
              <a:t>in the photo.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rgbClr val="FF0000"/>
                </a:solidFill>
              </a:rPr>
              <a:t>No visible ID, no proof it's yours.</a:t>
            </a:r>
          </a:p>
          <a:p>
            <a:r>
              <a:rPr lang="en-US" sz="2400" b="1" dirty="0">
                <a:solidFill>
                  <a:srgbClr val="00B050"/>
                </a:solidFill>
              </a:rPr>
              <a:t>Good</a:t>
            </a:r>
            <a:r>
              <a:rPr lang="en-US" sz="2400" dirty="0"/>
              <a:t>: names who sent, who received, how much moved, and confirms the network accepted it — in words a family member could follow.</a:t>
            </a:r>
          </a:p>
          <a:p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Weak</a:t>
            </a:r>
            <a:r>
              <a:rPr lang="en-US" sz="2400" dirty="0"/>
              <a:t>: just </a:t>
            </a:r>
            <a:r>
              <a:rPr lang="en-US" sz="2400" b="1" dirty="0"/>
              <a:t>copies</a:t>
            </a:r>
            <a:r>
              <a:rPr lang="en-US" sz="2400" dirty="0"/>
              <a:t> a long string of characters off the screen and stops there.</a:t>
            </a:r>
          </a:p>
        </p:txBody>
      </p:sp>
    </p:spTree>
    <p:extLst>
      <p:ext uri="{BB962C8B-B14F-4D97-AF65-F5344CB8AC3E}">
        <p14:creationId xmlns:p14="http://schemas.microsoft.com/office/powerpoint/2010/main" val="164099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3D559-C10F-0D73-A7CB-12E90AFD7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D43A2D-6380-E12A-BD60-177A046BB96C}"/>
              </a:ext>
            </a:extLst>
          </p:cNvPr>
          <p:cNvSpPr txBox="1"/>
          <p:nvPr/>
        </p:nvSpPr>
        <p:spPr>
          <a:xfrm>
            <a:off x="225552" y="144018"/>
            <a:ext cx="1196644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/>
              <a:t>Step 1: Create a Self-Custody Wallet &amp; Secure Seed Phrase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Download a Wallet Extension: Install a browser extension wallet like MetaMask or Rabby Wallet.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Resource Link: MetaMask Official Website</a:t>
            </a:r>
          </a:p>
          <a:p>
            <a:r>
              <a:rPr lang="en-US" sz="2100" b="1" dirty="0"/>
              <a:t>Create New Wallet: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Click "Create a new wallet" and set a strong, secure password for local application access.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Secure the Seed Phrase (Mnemonic):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Reveal your 12-word or 24-word Secret Recovery Phrase.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Write down the words on physical paper in the exact order shown.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Store the paper in a safe location away from digital devices. Avoid taking screenshots, saving it to cloud storage, or sending it in digital messages.</a:t>
            </a:r>
          </a:p>
          <a:p>
            <a:r>
              <a:rPr lang="en-US" sz="2100" b="1" dirty="0"/>
              <a:t>Lab Log Evidence (Task 1):</a:t>
            </a:r>
          </a:p>
          <a:p>
            <a:r>
              <a:rPr lang="en-US" sz="2100" dirty="0"/>
              <a:t>Write down your explanation of how you secured it (e.g., "Recorded the 12-word seed phrase on paper and stored it in a physical binder; avoided digital copies to prevent online exposure.").</a:t>
            </a:r>
          </a:p>
          <a:p>
            <a:r>
              <a:rPr lang="en-US" sz="2100" b="1" dirty="0"/>
              <a:t>Step 2: Switch to </a:t>
            </a:r>
            <a:r>
              <a:rPr lang="en-US" sz="2100" b="1" dirty="0" err="1"/>
              <a:t>Sepolia</a:t>
            </a:r>
            <a:r>
              <a:rPr lang="en-US" sz="2100" b="1" dirty="0"/>
              <a:t> </a:t>
            </a:r>
            <a:r>
              <a:rPr lang="en-US" sz="2100" b="1" dirty="0" err="1"/>
              <a:t>Testnet</a:t>
            </a:r>
            <a:r>
              <a:rPr lang="en-US" sz="2100" b="1" dirty="0"/>
              <a:t> &amp; Get </a:t>
            </a:r>
            <a:r>
              <a:rPr lang="en-US" sz="2100" b="1" dirty="0" err="1"/>
              <a:t>Sepolia</a:t>
            </a:r>
            <a:r>
              <a:rPr lang="en-US" sz="2100" b="1" dirty="0"/>
              <a:t> ETH</a:t>
            </a:r>
          </a:p>
          <a:p>
            <a:r>
              <a:rPr lang="en-US" sz="2100" dirty="0"/>
              <a:t>Show </a:t>
            </a:r>
            <a:r>
              <a:rPr lang="en-US" sz="2100" dirty="0" err="1"/>
              <a:t>Testnet</a:t>
            </a:r>
            <a:r>
              <a:rPr lang="en-US" sz="2100" dirty="0"/>
              <a:t> Networks in MetaMask: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Open MetaMask settings →Advanced →Toggle "Show test networks" to 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Select "</a:t>
            </a:r>
            <a:r>
              <a:rPr lang="en-US" sz="2100" dirty="0" err="1"/>
              <a:t>Sepolia</a:t>
            </a:r>
            <a:r>
              <a:rPr lang="en-US" sz="2100" dirty="0"/>
              <a:t>" from the network selector dropdown at the top left.</a:t>
            </a:r>
          </a:p>
          <a:p>
            <a:r>
              <a:rPr lang="en-US" sz="2100" dirty="0"/>
              <a:t>Copy Public Address: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Copy your public wallet address (starts with 0x...).</a:t>
            </a:r>
          </a:p>
          <a:p>
            <a:r>
              <a:rPr lang="en-US" sz="2100" dirty="0"/>
              <a:t>Obtain </a:t>
            </a:r>
            <a:r>
              <a:rPr lang="en-US" sz="2100" dirty="0" err="1"/>
              <a:t>Testnet</a:t>
            </a:r>
            <a:r>
              <a:rPr lang="en-US" sz="2100" dirty="0"/>
              <a:t> ETH from a Faucet:</a:t>
            </a:r>
          </a:p>
        </p:txBody>
      </p:sp>
    </p:spTree>
    <p:extLst>
      <p:ext uri="{BB962C8B-B14F-4D97-AF65-F5344CB8AC3E}">
        <p14:creationId xmlns:p14="http://schemas.microsoft.com/office/powerpoint/2010/main" val="2897512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D394-E06C-E85A-6D8F-CB58B075A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DCDA8A-6924-AAB2-FF79-47FCC9580696}"/>
              </a:ext>
            </a:extLst>
          </p:cNvPr>
          <p:cNvSpPr txBox="1"/>
          <p:nvPr/>
        </p:nvSpPr>
        <p:spPr>
          <a:xfrm>
            <a:off x="402336" y="474345"/>
            <a:ext cx="1198473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Visit an active </a:t>
            </a:r>
            <a:r>
              <a:rPr lang="en-US" sz="2100" dirty="0" err="1"/>
              <a:t>Sepolia</a:t>
            </a:r>
            <a:r>
              <a:rPr lang="en-US" sz="2100" dirty="0"/>
              <a:t> faucet to request free test tokens.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Resource Link 1: Google Cloud </a:t>
            </a:r>
            <a:r>
              <a:rPr lang="en-US" sz="2100" dirty="0" err="1"/>
              <a:t>Sepolia</a:t>
            </a:r>
            <a:r>
              <a:rPr lang="en-US" sz="2100" dirty="0"/>
              <a:t> Faucet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Resource Link 2: Alchemy </a:t>
            </a:r>
            <a:r>
              <a:rPr lang="en-US" sz="2100" dirty="0" err="1"/>
              <a:t>Sepolia</a:t>
            </a:r>
            <a:r>
              <a:rPr lang="en-US" sz="2100" dirty="0"/>
              <a:t> Faucet</a:t>
            </a:r>
          </a:p>
          <a:p>
            <a:r>
              <a:rPr lang="en-US" sz="2100" dirty="0"/>
              <a:t>Paste your address into the faucet bar, complete the captcha/login requirements, and request test ETH.</a:t>
            </a:r>
          </a:p>
          <a:p>
            <a:r>
              <a:rPr lang="en-US" sz="2100" b="1" dirty="0"/>
              <a:t>Step 3: Send Test Transaction to a Group Member</a:t>
            </a:r>
          </a:p>
          <a:p>
            <a:r>
              <a:rPr lang="en-US" sz="2100" dirty="0"/>
              <a:t>Obtain Peer's Address: Ask one of your group members for their </a:t>
            </a:r>
            <a:r>
              <a:rPr lang="en-US" sz="2100" dirty="0" err="1"/>
              <a:t>Sepolia</a:t>
            </a:r>
            <a:r>
              <a:rPr lang="en-US" sz="2100" dirty="0"/>
              <a:t> wallet address. </a:t>
            </a:r>
          </a:p>
          <a:p>
            <a:r>
              <a:rPr lang="en-US" sz="2100" dirty="0"/>
              <a:t>Execute the Send: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Click "Send" in your wallet.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Paste your partner's wallet address into the destination bar.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Enter a small amount (e.g., 0.001 </a:t>
            </a:r>
            <a:r>
              <a:rPr lang="en-US" sz="2100" dirty="0" err="1"/>
              <a:t>Sepolia</a:t>
            </a:r>
            <a:r>
              <a:rPr lang="en-US" sz="2100" dirty="0"/>
              <a:t> ETH).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Confirm the transaction fee (Gas) and click "Confirm".</a:t>
            </a:r>
          </a:p>
          <a:p>
            <a:r>
              <a:rPr lang="en-US" sz="2100" dirty="0"/>
              <a:t>Copy Transaction Hash: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Once the transaction completes, click on it in your activity tab to copy the Transaction Hash (</a:t>
            </a:r>
            <a:r>
              <a:rPr lang="en-US" sz="2100" dirty="0" err="1"/>
              <a:t>TxHash</a:t>
            </a:r>
            <a:r>
              <a:rPr lang="en-US" sz="2100" dirty="0"/>
              <a:t>).</a:t>
            </a:r>
          </a:p>
          <a:p>
            <a:r>
              <a:rPr lang="en-US" sz="2100" b="1" dirty="0"/>
              <a:t>Step 4: Read Transaction on </a:t>
            </a:r>
            <a:r>
              <a:rPr lang="en-US" sz="2100" b="1" dirty="0" err="1"/>
              <a:t>Etherscan</a:t>
            </a:r>
            <a:r>
              <a:rPr lang="en-US" sz="2100" b="1" dirty="0"/>
              <a:t> &amp; Capture Screenshot</a:t>
            </a:r>
          </a:p>
          <a:p>
            <a:r>
              <a:rPr lang="en-US" sz="2100" dirty="0"/>
              <a:t>Open </a:t>
            </a:r>
            <a:r>
              <a:rPr lang="en-US" sz="2100" dirty="0" err="1"/>
              <a:t>Sepolia</a:t>
            </a:r>
            <a:r>
              <a:rPr lang="en-US" sz="2100" dirty="0"/>
              <a:t> </a:t>
            </a:r>
            <a:r>
              <a:rPr lang="en-US" sz="2100" dirty="0" err="1"/>
              <a:t>Etherscan</a:t>
            </a:r>
            <a:r>
              <a:rPr lang="en-US" sz="2100" dirty="0"/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Resource Link: </a:t>
            </a:r>
            <a:r>
              <a:rPr lang="en-US" sz="2100" dirty="0" err="1"/>
              <a:t>Sepolia</a:t>
            </a:r>
            <a:r>
              <a:rPr lang="en-US" sz="2100" dirty="0"/>
              <a:t> </a:t>
            </a:r>
            <a:r>
              <a:rPr lang="en-US" sz="2100" dirty="0" err="1"/>
              <a:t>Etherscan</a:t>
            </a:r>
            <a:r>
              <a:rPr lang="en-US" sz="2100" dirty="0"/>
              <a:t> Block Explorer</a:t>
            </a:r>
          </a:p>
          <a:p>
            <a:r>
              <a:rPr lang="en-US" sz="2100" dirty="0"/>
              <a:t>Search for Transaction: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Paste your Transaction Hash (or your wallet address) into the search bar.</a:t>
            </a:r>
          </a:p>
        </p:txBody>
      </p:sp>
    </p:spTree>
    <p:extLst>
      <p:ext uri="{BB962C8B-B14F-4D97-AF65-F5344CB8AC3E}">
        <p14:creationId xmlns:p14="http://schemas.microsoft.com/office/powerpoint/2010/main" val="253816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717C9-BFD7-1534-08A8-2441A453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9843C6-2E8B-CF0A-D8F9-4EC9CCEFB203}"/>
              </a:ext>
            </a:extLst>
          </p:cNvPr>
          <p:cNvSpPr txBox="1"/>
          <p:nvPr/>
        </p:nvSpPr>
        <p:spPr>
          <a:xfrm>
            <a:off x="451104" y="234607"/>
            <a:ext cx="114604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Take Screenshot (Task 3):</a:t>
            </a:r>
          </a:p>
          <a:p>
            <a:r>
              <a:rPr lang="en-US" sz="2400" dirty="0"/>
              <a:t>Locate key transaction details on the page:</a:t>
            </a:r>
          </a:p>
          <a:p>
            <a:r>
              <a:rPr lang="en-US" sz="2400" dirty="0"/>
              <a:t>Transaction Hash</a:t>
            </a:r>
          </a:p>
          <a:p>
            <a:r>
              <a:rPr lang="en-US" sz="2400" dirty="0"/>
              <a:t>Status (Success)</a:t>
            </a:r>
          </a:p>
          <a:p>
            <a:r>
              <a:rPr lang="en-US" sz="2400" dirty="0"/>
              <a:t>From (Your address)</a:t>
            </a:r>
          </a:p>
          <a:p>
            <a:r>
              <a:rPr lang="en-US" sz="2400" dirty="0"/>
              <a:t>To (Partner's address)</a:t>
            </a:r>
          </a:p>
          <a:p>
            <a:r>
              <a:rPr lang="en-US" sz="2400" dirty="0"/>
              <a:t>Value (e.g., 0.001 </a:t>
            </a:r>
            <a:r>
              <a:rPr lang="en-US" sz="2400" dirty="0" err="1"/>
              <a:t>Sepolia</a:t>
            </a:r>
            <a:r>
              <a:rPr lang="en-US" sz="2400" dirty="0"/>
              <a:t> ETH)</a:t>
            </a:r>
          </a:p>
          <a:p>
            <a:r>
              <a:rPr lang="en-US" sz="2400" dirty="0"/>
              <a:t>Required Action: Take a full-screen or browser window screenshot showing this </a:t>
            </a:r>
            <a:r>
              <a:rPr lang="en-US" sz="2400" dirty="0" err="1"/>
              <a:t>Etherscan</a:t>
            </a:r>
            <a:r>
              <a:rPr lang="en-US" sz="2400" dirty="0"/>
              <a:t> page with your Student ID card physically placed next to the screen or digitally visible alongside your lab log window as requested by your instructor. </a:t>
            </a:r>
          </a:p>
          <a:p>
            <a:r>
              <a:rPr lang="en-US" sz="2400" b="1" dirty="0"/>
              <a:t>Step 5: Write Non-Technical Interpretation (Task 4)</a:t>
            </a:r>
          </a:p>
          <a:p>
            <a:r>
              <a:rPr lang="en-US" sz="2400" dirty="0"/>
              <a:t>Write a clear, non-technical sentence explaining the process: </a:t>
            </a:r>
          </a:p>
          <a:p>
            <a:r>
              <a:rPr lang="en-US" sz="2400" dirty="0"/>
              <a:t>Non-Technical Explanation:</a:t>
            </a:r>
          </a:p>
          <a:p>
            <a:r>
              <a:rPr lang="en-US" sz="2400" dirty="0"/>
              <a:t>"I digitally signed and transferred 0.001 test currency tokens directly to my group partner's wallet address without using a bank, and the Ethereum test network verified and permanently recorded the transfer on a public digital ledger.</a:t>
            </a:r>
          </a:p>
        </p:txBody>
      </p:sp>
    </p:spTree>
    <p:extLst>
      <p:ext uri="{BB962C8B-B14F-4D97-AF65-F5344CB8AC3E}">
        <p14:creationId xmlns:p14="http://schemas.microsoft.com/office/powerpoint/2010/main" val="386722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1214</Words>
  <Application>Microsoft Office PowerPoint</Application>
  <PresentationFormat>Widescreen</PresentationFormat>
  <Paragraphs>93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Faiz Ul Islam</cp:lastModifiedBy>
  <cp:revision>32</cp:revision>
  <dcterms:created xsi:type="dcterms:W3CDTF">2013-01-27T09:14:16Z</dcterms:created>
  <dcterms:modified xsi:type="dcterms:W3CDTF">2026-10-21T07:56:16Z</dcterms:modified>
  <cp:category/>
</cp:coreProperties>
</file>