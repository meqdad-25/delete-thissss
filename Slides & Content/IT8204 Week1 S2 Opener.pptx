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70" r:id="rId11"/>
    <p:sldId id="263" r:id="rId12"/>
    <p:sldId id="264" r:id="rId13"/>
    <p:sldId id="268" r:id="rId14"/>
    <p:sldId id="271" r:id="rId15"/>
    <p:sldId id="265" r:id="rId16"/>
    <p:sldId id="266" r:id="rId17"/>
    <p:sldId id="267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444" autoAdjust="0"/>
  </p:normalViewPr>
  <p:slideViewPr>
    <p:cSldViewPr snapToGrid="0" snapToObjects="1">
      <p:cViewPr varScale="1">
        <p:scale>
          <a:sx n="50" d="100"/>
          <a:sy n="50" d="100"/>
        </p:scale>
        <p:origin x="1834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4:30:11.6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1452 951 24575,'1149'0'0,"-1148"0"0,12 0 0,0 1 0,0 0 0,13 3 0,-25-4 0,1 0 0,0 0 0,0 0 0,0 1 0,0-1 0,-1 1 0,1 0 0,0-1 0,0 1 0,-1 0 0,1 0 0,0 0 0,-1 0 0,1 0 0,-1 1 0,0-1 0,1 0 0,-1 1 0,0-1 0,0 0 0,0 1 0,0 0 0,0-1 0,0 1 0,0 0 0,0-1 0,-1 1 0,1 0 0,-1 0 0,1 2 0,-1-3 0,0 0 0,-1 1 0,1-1 0,0 0 0,-1 1 0,0-1 0,1 0 0,-1 0 0,1 1 0,-1-1 0,0 0 0,0 0 0,0 0 0,0 0 0,0 0 0,0 0 0,0 0 0,0 0 0,0 0 0,0-1 0,0 1 0,-1 0 0,1-1 0,0 1 0,-1-1 0,-1 1 0,-38 9 0,37-10 0,-78 8 0,0-4 0,-94-7 0,53 0 0,-604 2 0,678-2 0,1-3 0,0-1 0,-62-19 0,95 22 0,-52-10 0,-2 3 0,0 2 0,-133 3 0,107 8 0,-148-4 0,125-16 0,-1-1 0,57 17 0,43 2 0,-1-1 0,1 0 0,-38-8 0,56 8 0,-1 1 0,1 0 0,0-1 0,0 1 0,-1 0 0,1-1 0,0 1 0,0-1 0,0 0 0,0 1 0,0-1 0,0 0 0,0 0 0,-2-1 0,3 1 0,0 1 0,0 0 0,0-1 0,0 1 0,0 0 0,0-1 0,1 1 0,-1 0 0,0-1 0,0 1 0,0 0 0,0-1 0,0 1 0,0 0 0,1-1 0,-1 1 0,0 0 0,0 0 0,0-1 0,1 1 0,-1 0 0,0 0 0,0-1 0,1 1 0,-1 0 0,0 0 0,0 0 0,1 0 0,-1-1 0,0 1 0,1 0 0,0 0 0,4-2 0,0 0 0,0 0 0,1 1 0,-1-1 0,9 0 0,369-4 0,-209 9 0,196 18 0,0 2 0,333-25 0,-680 1 0,1-2 0,-1 0 0,32-10 0,-25 6 0,38-4 0,-34 8 0,5 0 0,65-14 0,-58 8 0,0 1 0,78-3 0,97 13 0,-93 0 0,4 0 0,183-5 0,-142-17 0,40-2 0,-114 22 0,76-5 0,-145 2 0,0-1 0,-1-1 0,54-17 0,151-42 0,-198 55 0,14 0 0,0 3 0,0 2 0,97 4 0,-90 2 0,0-2 0,93-14 0,-39-3 0,40-9 0,-90 15 0,0 2 0,70 0 0,127 11 0,-94 0 0,1877-2 0,-1987 3 0,83 14 0,13 1 0,421-11 0,-327-9 0,-175-2 0,86-14 0,25-2 0,-45 18 0,-78 3 0,-1-3 0,85-13 0,-62 3 0,128-4 0,85 17 0,-109 1 0,1366-2 0,-1495 3 0,0 3 0,-1 1 0,59 17 0,83 13 0,205 15 0,-218-18 0,-14-1 0,-114-26 0,111 20 0,-115-17 0,0-2 0,70 1 0,105-10 0,-96-1 0,28 4 0,157-5 0,-295 1 0,0-1 0,0 0 0,0-2 0,-1 0 0,25-10 0,82-47 0,-14 7 0,-6 9 0,159-63 0,-232 98 0,58-10 0,-73 18 0,-13 2 0,-1 1 0,1-1 0,-1 0 0,0-1 0,1 1 0,-1-1 0,0 1 0,0-1 0,0 0 0,0 0 0,0 0 0,0 0 0,0-1 0,-1 1 0,1-1 0,-1 0 0,0 0 0,0 0 0,0 0 0,0 0 0,0 0 0,-1 0 0,0 0 0,1-1 0,0-5 0,-1 4 0,0 0 0,-1-1 0,0 1 0,0 0 0,0-1 0,0 1 0,-1-1 0,0 1 0,0 0 0,-1 0 0,1-1 0,-1 1 0,0 0 0,0 0 0,-1 1 0,-4-8 0,3 7 0,0 0 0,0 1 0,-1-1 0,1 1 0,-1 0 0,0 1 0,0-1 0,0 1 0,-1 0 0,-7-3 0,-65-21 0,24 10 0,-92-44 0,133 56 0,-1 1 0,0 0 0,0 1 0,-14-1 0,16 2 0,0 0 0,0 0 0,0-1 0,0-1 0,-18-7 0,-1-7 0,-58-41 0,73 50 0,16 9 0,-1-1 0,1 1 0,0 0 0,0 0 0,0 0 0,0 0 0,0 0 0,0 0 0,0 0 0,-1 0 0,1 0 0,0 0 0,0 0 0,0 0 0,0 0 0,0 0 0,0 0 0,-1 0 0,1 0 0,0 0 0,0 0 0,0 0 0,0 0 0,0 0 0,0 0 0,0 0 0,-1 1 0,1-1 0,0 0 0,0 0 0,0 0 0,0 0 0,0 0 0,0 0 0,0 0 0,0 0 0,0 0 0,0 1 0,0-1 0,-1 0 0,1 0 0,0 0 0,0 0 0,0 0 0,0 0 0,0 0 0,0 1 0,0-1 0,0 0 0,0 0 0,0 0 0,0 0 0,0 0 0,0 0 0,0 1 0,1 0 0,0 1 0,0 0 0,0 0 0,0-1 0,0 1 0,1-1 0,-1 1 0,0-1 0,1 1 0,-1-1 0,1 0 0,-1 0 0,4 2 0,124 63 0,-82-44 0,19 5 0,-43-18 0,0 0 0,26 16 0,-17-6 0,-6-5 0,-1 1 0,-1 2 0,-1 0 0,33 31 0,-20-17 0,-24-23 0,0 2 0,18 18 0,-28-26 0,-1 0 0,1 1 0,0-1 0,0 0 0,-1 1 0,0-1 0,1 1 0,-1-1 0,0 1 0,0 0 0,0-1 0,-1 1 0,1 0 0,-1 0 0,1-1 0,-1 1 0,0 0 0,0 0 0,-1 5 0,-8 22 0,-2 0 0,-1-1 0,-1 0 0,-17 27 0,25-47 0,-10 15 0,0-1 0,-2-1 0,-26 29 0,-9 9 0,46-52-227,1 1-1,0-1 1,0 1-1,1-1 1,-6 16-1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7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0BE2-5D7B-E9DD-6AE0-2797670D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E0A92-B72C-8056-7979-485E347C8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FE14B-7E11-D6B8-07B0-DE2797B0B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1AEC1-B33F-BAB0-D654-E8CBAE43E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63637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986D-81B0-58D4-7445-2A3AE616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95E6E-4F88-5972-9B66-AFC3BB748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3D999-165B-7E57-8E91-11C255FD1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5087C-9350-6E85-50E2-AE3ED7FEA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18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861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66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5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B0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Transaction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• Address • Hash • Gas • Confirmations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39"/>
            <a:ext cx="5029200" cy="4254299"/>
          </a:xfrm>
          <a:prstGeom prst="roundRect">
            <a:avLst>
              <a:gd name="adj" fmla="val 2985"/>
            </a:avLst>
          </a:prstGeom>
          <a:solidFill>
            <a:srgbClr val="FBFBFD"/>
          </a:solidFill>
          <a:ln w="12700">
            <a:solidFill>
              <a:srgbClr val="E0E2E8"/>
            </a:solidFill>
            <a:prstDash val="solid"/>
          </a:ln>
          <a:effectLst>
            <a:outerShdw blurRad="76200" dist="25400" dir="5400000" algn="bl" rotWithShape="0">
              <a:srgbClr val="3A3F55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150" normalizeH="0" baseline="0" noProof="0" dirty="0">
                <a:ln>
                  <a:noFill/>
                </a:ln>
                <a:solidFill>
                  <a:srgbClr val="FFB0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SAMPLE TRANSACTION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4389120" cy="0"/>
          </a:xfrm>
          <a:prstGeom prst="line">
            <a:avLst/>
          </a:prstGeom>
          <a:noFill/>
          <a:ln w="12700">
            <a:solidFill>
              <a:srgbClr val="E6E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/home/claude/icon_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137160" cy="137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1901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TXN HASH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77240" y="20756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0x8f3a72d1…e21c9bfa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7240" y="2350008"/>
            <a:ext cx="4389120" cy="0"/>
          </a:xfrm>
          <a:prstGeom prst="line">
            <a:avLst/>
          </a:prstGeom>
          <a:noFill/>
          <a:ln w="12700">
            <a:solidFill>
              <a:srgbClr val="E6E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/home/claude/icon_add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2423160"/>
            <a:ext cx="169164" cy="1691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012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777240" y="25968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0x71C7…976F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2468880" y="2468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B0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/home/claude/icon_add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423160"/>
            <a:ext cx="137160" cy="1371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9184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108960" y="25968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0x3F5c…A2d1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7240" y="2862072"/>
            <a:ext cx="4389120" cy="0"/>
          </a:xfrm>
          <a:prstGeom prst="line">
            <a:avLst/>
          </a:prstGeom>
          <a:noFill/>
          <a:ln w="12700">
            <a:solidFill>
              <a:srgbClr val="E6E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960120" y="291693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960120" y="3090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 ETH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(~$1,237.50)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77240" y="3392424"/>
            <a:ext cx="4389120" cy="0"/>
          </a:xfrm>
          <a:prstGeom prst="line">
            <a:avLst/>
          </a:prstGeom>
          <a:noFill/>
          <a:ln w="12700">
            <a:solidFill>
              <a:srgbClr val="E6E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3" descr="/home/claude/icon_g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" y="3392424"/>
            <a:ext cx="242316" cy="2423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" y="344728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GAS FEE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960120" y="36210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0.0021 ETH  (~$5.18)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777240" y="3913632"/>
            <a:ext cx="4389120" cy="0"/>
          </a:xfrm>
          <a:prstGeom prst="line">
            <a:avLst/>
          </a:prstGeom>
          <a:noFill/>
          <a:ln w="12700">
            <a:solidFill>
              <a:srgbClr val="E6E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4" descr="/home/claude/icon_confirm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882586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0120" y="39684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960120" y="4142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9E5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·   42 Confirmations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5840358" y="1212961"/>
            <a:ext cx="502920" cy="50292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5" descr="/home/claude/icon_transa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5514" y="1318117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537960" y="12755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6537960" y="16002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 to move value or data from one address to another, signed by the sender's private key.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5820156" y="2061972"/>
            <a:ext cx="502920" cy="50292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6" descr="/home/claude/icon_add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167128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37960" y="2125661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6537960" y="2409549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public account number (like 0x71C7…). Anyone can send to it — but it reveals nothing about who owns it.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5806440" y="2994660"/>
            <a:ext cx="502920" cy="50292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7" descr="/home/claude/icon_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3099816"/>
            <a:ext cx="292608" cy="29260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537960" y="298349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6537960" y="3302154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unique digital fingerprint for a piece of data. Change one character, and the whole hash changes.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5840358" y="3772858"/>
            <a:ext cx="502920" cy="50292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/home/claude/icon_g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514" y="3878014"/>
            <a:ext cx="292608" cy="29260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537960" y="38404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6537960" y="4242817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fee paid to the network for processing a transaction. A busier network means a higher gas price.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5843016" y="4928616"/>
            <a:ext cx="502920" cy="50292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9" descr="/home/claude/icon_confirm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172" y="5033772"/>
            <a:ext cx="292608" cy="29260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6537960" y="49286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38"/>
          <p:cNvSpPr txBox="1"/>
          <p:nvPr/>
        </p:nvSpPr>
        <p:spPr>
          <a:xfrm>
            <a:off x="6565392" y="5333291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17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blocks added on top of yours. More confirmations mean it's more certain to be permanent.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AD1AB1-3058-0473-154F-616B2E1900B1}"/>
              </a:ext>
            </a:extLst>
          </p:cNvPr>
          <p:cNvSpPr txBox="1"/>
          <p:nvPr/>
        </p:nvSpPr>
        <p:spPr>
          <a:xfrm>
            <a:off x="6659880" y="149275"/>
            <a:ext cx="5562600" cy="138499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It is a website that reads the public ledger, in the same way that a search engine reads public web pages.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82B22F-F13C-8682-B384-E54A7D9C8BBD}"/>
                  </a:ext>
                </a:extLst>
              </p14:cNvPr>
              <p14:cNvContentPartPr/>
              <p14:nvPr/>
            </p14:nvContentPartPr>
            <p14:xfrm>
              <a:off x="955680" y="1120560"/>
              <a:ext cx="5685480" cy="375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82B22F-F13C-8682-B384-E54A7D9C8B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9680" y="1084560"/>
                <a:ext cx="5757120" cy="447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92496D1-E730-EFD0-8735-8754822DBB0F}"/>
              </a:ext>
            </a:extLst>
          </p:cNvPr>
          <p:cNvSpPr txBox="1"/>
          <p:nvPr/>
        </p:nvSpPr>
        <p:spPr>
          <a:xfrm>
            <a:off x="6096000" y="2201461"/>
            <a:ext cx="588264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An </a:t>
            </a:r>
            <a:r>
              <a:rPr lang="en-US" sz="2400" b="1" i="1" dirty="0">
                <a:highlight>
                  <a:srgbClr val="FFFF00"/>
                </a:highlight>
              </a:rPr>
              <a:t>address</a:t>
            </a:r>
            <a:r>
              <a:rPr lang="en-US" sz="2400" dirty="0">
                <a:solidFill>
                  <a:schemeClr val="bg1"/>
                </a:solidFill>
              </a:rPr>
              <a:t> is a long string of characters. It is pseudonymous.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01F551-795D-07BC-8B52-48AC468C1EA8}"/>
              </a:ext>
            </a:extLst>
          </p:cNvPr>
          <p:cNvSpPr txBox="1"/>
          <p:nvPr/>
        </p:nvSpPr>
        <p:spPr>
          <a:xfrm>
            <a:off x="4534059" y="1967164"/>
            <a:ext cx="7650848" cy="4404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 </a:t>
            </a:r>
            <a:r>
              <a:rPr lang="en-US" sz="2100" dirty="0"/>
              <a:t>An everyday comparison, and it is worth giving in full. Think of submitting a form at a government service counter in Bahrain.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Signing</a:t>
            </a:r>
            <a:r>
              <a:rPr lang="en-US" sz="2100" dirty="0"/>
              <a:t> is putting your signature on the form.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dirty="0"/>
              <a:t>The </a:t>
            </a:r>
            <a:r>
              <a:rPr lang="en-US" sz="21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mempool</a:t>
            </a:r>
            <a:r>
              <a:rPr lang="en-US" sz="2100" dirty="0"/>
              <a:t> is the queue you join, holding your ticket, once the form has been handed in.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Validation</a:t>
            </a:r>
            <a:r>
              <a:rPr lang="en-US" sz="2100" dirty="0"/>
              <a:t> is the officer checking your signature and your papers.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Appending</a:t>
            </a:r>
            <a:r>
              <a:rPr lang="en-US" sz="2100" dirty="0"/>
              <a:t> is the moment the officer enters it into the register.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Confirmations</a:t>
            </a:r>
            <a:r>
              <a:rPr lang="en-US" sz="2100" dirty="0"/>
              <a:t> are the days that pass afterwards, until everyone treats the entry as final and nobody expects it to be undone.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EEFE1-0B8F-5B02-A979-93A17BC081AD}"/>
              </a:ext>
            </a:extLst>
          </p:cNvPr>
          <p:cNvSpPr txBox="1"/>
          <p:nvPr/>
        </p:nvSpPr>
        <p:spPr>
          <a:xfrm>
            <a:off x="5974080" y="280987"/>
            <a:ext cx="5882640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i="1" dirty="0">
                <a:solidFill>
                  <a:schemeClr val="bg1"/>
                </a:solidFill>
              </a:rPr>
              <a:t>The idea: </a:t>
            </a:r>
            <a:r>
              <a:rPr lang="en-US" sz="2400" dirty="0">
                <a:solidFill>
                  <a:schemeClr val="bg1"/>
                </a:solidFill>
              </a:rPr>
              <a:t>nothing here is instant and nothing is magic. A transaction passes through five separate stages, and each stage can </a:t>
            </a:r>
            <a:r>
              <a:rPr lang="en-US" sz="2400" b="1" dirty="0">
                <a:solidFill>
                  <a:srgbClr val="FFFF00"/>
                </a:solidFill>
              </a:rPr>
              <a:t>fail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8390-90F2-DAAB-0437-D9A3B5FC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56A9D4-4D0A-25FA-4E2C-F32A6DC5F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994" y="-10633"/>
            <a:ext cx="10503639" cy="70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4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ETHEREUM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Ethereum Blockchain Explorer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window into Ethereum — verifiable by anyone, owned by no one.</a:t>
            </a:r>
            <a:endParaRPr lang="en-US" sz="1300" dirty="0"/>
          </a:p>
        </p:txBody>
      </p:sp>
      <p:pic>
        <p:nvPicPr>
          <p:cNvPr id="5" name="Image 0" descr="/mnt/user-data/uploads/17894698685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1353312"/>
            <a:ext cx="7680960" cy="3163367"/>
          </a:xfrm>
          <a:prstGeom prst="rect">
            <a:avLst/>
          </a:prstGeom>
          <a:effectLst>
            <a:outerShdw blurRad="101600" dist="38100" dir="5400000" algn="bl" rotWithShape="0">
              <a:srgbClr val="3A3F55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4398264" y="1609344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218688" y="2441448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2916936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441448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050024" y="2441448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12664" y="2916936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12864" y="2916936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750808" y="2706624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3675888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90688" y="3675888"/>
            <a:ext cx="256032" cy="25603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617720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599432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look up any address, transaction, block, token, or domain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992624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4974336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 Price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current market price of 1 ETH, in USD and BTC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367528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5349240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total value of all ETH in circulation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742432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5724144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all-time transaction count, plus live speed (TPS)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117336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6099048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Gas Price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median fee to get a transaction processed right now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36208" y="4617720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565392" y="4599432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Finalized Block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recent block that is now permanent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236208" y="4992624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565392" y="4974336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Safe Block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recent block very unlikely to be reversed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5367528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565392" y="5349240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Transaction History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trend of daily network activity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236208" y="5742432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565392" y="5724144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Blocks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feed of new blocks and who validated them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36208" y="6117336"/>
            <a:ext cx="256032" cy="25603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565392" y="6099048"/>
            <a:ext cx="5074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Transactions</a:t>
            </a:r>
            <a:r>
              <a:rPr lang="en-US" sz="11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feed of individual transfers between wallets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126567C-4536-5A2F-335A-DB8741B4C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67" y="635508"/>
            <a:ext cx="11701218" cy="4818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39A4-BF0C-95AD-6F00-C5A11A73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7ED9832-197D-2D91-0DE5-B37D953A2DAD}"/>
              </a:ext>
            </a:extLst>
          </p:cNvPr>
          <p:cNvGrpSpPr/>
          <p:nvPr/>
        </p:nvGrpSpPr>
        <p:grpSpPr>
          <a:xfrm>
            <a:off x="768189" y="303798"/>
            <a:ext cx="10481026" cy="6250404"/>
            <a:chOff x="768189" y="303798"/>
            <a:chExt cx="10481026" cy="6250404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3C426AD-6085-3873-C9CF-231A6774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68189" y="303798"/>
              <a:ext cx="10481026" cy="6250404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7BF88C7-7480-E064-CCDD-095BE4B90D09}"/>
                </a:ext>
              </a:extLst>
            </p:cNvPr>
            <p:cNvSpPr/>
            <p:nvPr/>
          </p:nvSpPr>
          <p:spPr>
            <a:xfrm>
              <a:off x="768189" y="6251944"/>
              <a:ext cx="2389681" cy="3022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235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FF49E8-22B9-AF5E-6FC7-2DAD87DC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7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486</Words>
  <Application>Microsoft Office PowerPoint</Application>
  <PresentationFormat>Widescreen</PresentationFormat>
  <Paragraphs>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Cambria</vt:lpstr>
      <vt:lpstr>Courier New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16</cp:revision>
  <dcterms:created xsi:type="dcterms:W3CDTF">2013-01-27T09:14:16Z</dcterms:created>
  <dcterms:modified xsi:type="dcterms:W3CDTF">2026-10-21T07:53:00Z</dcterms:modified>
  <cp:category/>
</cp:coreProperties>
</file>