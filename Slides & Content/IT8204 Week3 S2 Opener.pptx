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754" autoAdjust="0"/>
    <p:restoredTop sz="61176" autoAdjust="0"/>
  </p:normalViewPr>
  <p:slideViewPr>
    <p:cSldViewPr snapToGrid="0" snapToObjects="1">
      <p:cViewPr varScale="1">
        <p:scale>
          <a:sx n="47" d="100"/>
          <a:sy n="47" d="100"/>
        </p:scale>
        <p:origin x="2458"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6053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rtl="0"/>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14A70E07-4E6F-CDF8-687E-4F3E7606F272}"/>
              </a:ext>
            </a:extLst>
          </p:cNvPr>
          <p:cNvSpPr txBox="1"/>
          <p:nvPr/>
        </p:nvSpPr>
        <p:spPr>
          <a:xfrm>
            <a:off x="3928533" y="1752600"/>
            <a:ext cx="4334933" cy="646331"/>
          </a:xfrm>
          <a:prstGeom prst="rect">
            <a:avLst/>
          </a:prstGeom>
          <a:solidFill>
            <a:schemeClr val="accent1">
              <a:lumMod val="20000"/>
              <a:lumOff val="80000"/>
            </a:schemeClr>
          </a:solidFill>
        </p:spPr>
        <p:txBody>
          <a:bodyPr wrap="square">
            <a:spAutoFit/>
          </a:bodyPr>
          <a:lstStyle/>
          <a:p>
            <a:r>
              <a:rPr lang="en-US" dirty="0">
                <a:solidFill>
                  <a:schemeClr val="tx1">
                    <a:lumMod val="95000"/>
                    <a:lumOff val="5000"/>
                  </a:schemeClr>
                </a:solidFill>
              </a:rPr>
              <a:t>deciding how a company will safely store its crypto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3.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92205CB1-3551-E60A-3B76-12DE25815C5C}"/>
              </a:ext>
            </a:extLst>
          </p:cNvPr>
          <p:cNvSpPr txBox="1"/>
          <p:nvPr/>
        </p:nvSpPr>
        <p:spPr>
          <a:xfrm>
            <a:off x="1813560" y="1289744"/>
            <a:ext cx="10622280" cy="923330"/>
          </a:xfrm>
          <a:prstGeom prst="rect">
            <a:avLst/>
          </a:prstGeom>
          <a:solidFill>
            <a:schemeClr val="accent2"/>
          </a:solidFill>
        </p:spPr>
        <p:txBody>
          <a:bodyPr wrap="square">
            <a:spAutoFit/>
          </a:bodyPr>
          <a:lstStyle/>
          <a:p>
            <a:r>
              <a:rPr lang="en-US" dirty="0">
                <a:solidFill>
                  <a:schemeClr val="bg1"/>
                </a:solidFill>
              </a:rPr>
              <a:t>1) Cold/hot: how much crypto is kept offline (safe but slow) and how much online (fast but riskier)</a:t>
            </a:r>
          </a:p>
          <a:p>
            <a:r>
              <a:rPr lang="en-US" dirty="0">
                <a:solidFill>
                  <a:schemeClr val="bg1"/>
                </a:solidFill>
              </a:rPr>
              <a:t>    Multi-sig: several people must approve a payment, not just one</a:t>
            </a:r>
          </a:p>
          <a:p>
            <a:r>
              <a:rPr lang="en-US" dirty="0">
                <a:solidFill>
                  <a:schemeClr val="bg1"/>
                </a:solidFill>
              </a:rPr>
              <a:t>    Mnemonic governance: who looks after the secret backup words (the seed phrase), and where they are kept</a:t>
            </a:r>
          </a:p>
        </p:txBody>
      </p:sp>
      <p:sp>
        <p:nvSpPr>
          <p:cNvPr id="6" name="TextBox 5">
            <a:extLst>
              <a:ext uri="{FF2B5EF4-FFF2-40B4-BE49-F238E27FC236}">
                <a16:creationId xmlns:a16="http://schemas.microsoft.com/office/drawing/2014/main" id="{5D74AEAC-8330-A044-B10C-DA74B6C0D3B6}"/>
              </a:ext>
            </a:extLst>
          </p:cNvPr>
          <p:cNvSpPr txBox="1"/>
          <p:nvPr/>
        </p:nvSpPr>
        <p:spPr>
          <a:xfrm>
            <a:off x="3169920" y="4537205"/>
            <a:ext cx="9022080" cy="707886"/>
          </a:xfrm>
          <a:prstGeom prst="rect">
            <a:avLst/>
          </a:prstGeom>
          <a:solidFill>
            <a:srgbClr val="002060"/>
          </a:solidFill>
        </p:spPr>
        <p:txBody>
          <a:bodyPr wrap="square">
            <a:spAutoFit/>
          </a:bodyPr>
          <a:lstStyle/>
          <a:p>
            <a:r>
              <a:rPr lang="en-US" sz="2000" b="1" i="1" dirty="0">
                <a:solidFill>
                  <a:schemeClr val="bg1"/>
                </a:solidFill>
              </a:rPr>
              <a:t>2) test</a:t>
            </a:r>
            <a:r>
              <a:rPr lang="en-US" sz="2000" dirty="0">
                <a:solidFill>
                  <a:schemeClr val="bg1"/>
                </a:solidFill>
              </a:rPr>
              <a:t> that claim using real data from the CBECI, a Cambridge University website that publishes how much electricity Bitcoin uses and what kind of energy it comes from</a:t>
            </a:r>
          </a:p>
        </p:txBody>
      </p:sp>
      <p:sp>
        <p:nvSpPr>
          <p:cNvPr id="8" name="TextBox 7">
            <a:extLst>
              <a:ext uri="{FF2B5EF4-FFF2-40B4-BE49-F238E27FC236}">
                <a16:creationId xmlns:a16="http://schemas.microsoft.com/office/drawing/2014/main" id="{529D7FA0-2715-880B-D3AF-D1E7630FBC31}"/>
              </a:ext>
            </a:extLst>
          </p:cNvPr>
          <p:cNvSpPr txBox="1"/>
          <p:nvPr/>
        </p:nvSpPr>
        <p:spPr>
          <a:xfrm>
            <a:off x="1127760" y="5709196"/>
            <a:ext cx="11079480" cy="1154162"/>
          </a:xfrm>
          <a:prstGeom prst="rect">
            <a:avLst/>
          </a:prstGeom>
          <a:solidFill>
            <a:srgbClr val="7030A0"/>
          </a:solidFill>
        </p:spPr>
        <p:txBody>
          <a:bodyPr wrap="square">
            <a:spAutoFit/>
          </a:bodyPr>
          <a:lstStyle/>
          <a:p>
            <a:r>
              <a:rPr lang="en-US" sz="2300" dirty="0">
                <a:solidFill>
                  <a:schemeClr val="bg1"/>
                </a:solidFill>
              </a:rPr>
              <a:t>Two factories each use the same electricity. One runs on solar, the other on coal. Which one is worse for the environment, and how do you know from the total alone?" The answer is that you cannot know from the total. You need the mix.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4.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652E2C17-7252-74DE-8BE7-D6713B56912F}"/>
              </a:ext>
            </a:extLst>
          </p:cNvPr>
          <p:cNvSpPr txBox="1"/>
          <p:nvPr/>
        </p:nvSpPr>
        <p:spPr>
          <a:xfrm>
            <a:off x="-2" y="1905506"/>
            <a:ext cx="12420600" cy="3046988"/>
          </a:xfrm>
          <a:prstGeom prst="rect">
            <a:avLst/>
          </a:prstGeom>
          <a:solidFill>
            <a:schemeClr val="bg1"/>
          </a:solidFill>
        </p:spPr>
        <p:txBody>
          <a:bodyPr wrap="square">
            <a:spAutoFit/>
          </a:bodyPr>
          <a:lstStyle/>
          <a:p>
            <a:r>
              <a:rPr lang="en-US" sz="2400" dirty="0"/>
              <a:t>The energy mix is where the electricity comes from. Two networks can use the same amount of power but be very different for the environment. For example:</a:t>
            </a:r>
          </a:p>
          <a:p>
            <a:r>
              <a:rPr lang="en-US" sz="2400" b="1" dirty="0"/>
              <a:t>Network A</a:t>
            </a:r>
            <a:r>
              <a:rPr lang="en-US" sz="2400" dirty="0"/>
              <a:t> uses </a:t>
            </a:r>
            <a:r>
              <a:rPr lang="en-US" sz="2400" b="1" dirty="0"/>
              <a:t>100</a:t>
            </a:r>
            <a:r>
              <a:rPr lang="en-US" sz="2400" dirty="0"/>
              <a:t> </a:t>
            </a:r>
            <a:r>
              <a:rPr lang="en-US" sz="2400" b="1" dirty="0"/>
              <a:t>units</a:t>
            </a:r>
            <a:r>
              <a:rPr lang="en-US" sz="2400" dirty="0"/>
              <a:t>, mostly from </a:t>
            </a:r>
            <a:r>
              <a:rPr lang="en-US" sz="2400" b="1" dirty="0"/>
              <a:t>coal</a:t>
            </a:r>
            <a:r>
              <a:rPr lang="en-US" sz="2400" dirty="0"/>
              <a:t>.</a:t>
            </a:r>
          </a:p>
          <a:p>
            <a:r>
              <a:rPr lang="en-US" sz="2400" b="1" dirty="0"/>
              <a:t>Network B</a:t>
            </a:r>
            <a:r>
              <a:rPr lang="en-US" sz="2400" dirty="0"/>
              <a:t> uses </a:t>
            </a:r>
            <a:r>
              <a:rPr lang="en-US" sz="2400" b="1" dirty="0"/>
              <a:t>100 units</a:t>
            </a:r>
            <a:r>
              <a:rPr lang="en-US" sz="2400" dirty="0"/>
              <a:t>, mostly from </a:t>
            </a:r>
            <a:r>
              <a:rPr lang="en-US" sz="2400" b="1" dirty="0"/>
              <a:t>hydro and solar</a:t>
            </a:r>
            <a:r>
              <a:rPr lang="en-US" sz="2400" dirty="0"/>
              <a:t>.</a:t>
            </a:r>
          </a:p>
          <a:p>
            <a:r>
              <a:rPr lang="en-US" sz="2400" b="1" dirty="0"/>
              <a:t>Same total</a:t>
            </a:r>
            <a:r>
              <a:rPr lang="en-US" sz="2400" dirty="0"/>
              <a:t>, very different impact. So remember this:</a:t>
            </a:r>
          </a:p>
          <a:p>
            <a:r>
              <a:rPr lang="en-US" sz="2400" b="1" dirty="0">
                <a:solidFill>
                  <a:srgbClr val="00B050"/>
                </a:solidFill>
              </a:rPr>
              <a:t>The total tells you how much. </a:t>
            </a:r>
            <a:r>
              <a:rPr lang="en-US" sz="2400" b="1" dirty="0">
                <a:solidFill>
                  <a:srgbClr val="FF0000"/>
                </a:solidFill>
              </a:rPr>
              <a:t>The mix tells you how bad</a:t>
            </a:r>
            <a:r>
              <a:rPr lang="en-US" sz="2400" dirty="0"/>
              <a:t>.</a:t>
            </a:r>
          </a:p>
          <a:p>
            <a:r>
              <a:rPr lang="en-US" sz="2400" dirty="0"/>
              <a:t>An investor with an environmental mandate (an ESG-mandated investor) </a:t>
            </a:r>
            <a:r>
              <a:rPr lang="en-US" sz="2400" b="1" dirty="0">
                <a:solidFill>
                  <a:srgbClr val="FF0000"/>
                </a:solidFill>
              </a:rPr>
              <a:t>is asking the second question, not the first. </a:t>
            </a:r>
            <a:r>
              <a:rPr lang="en-US" sz="2400" dirty="0"/>
              <a:t>They care about how bad, so the mix matters more to them than the total.</a:t>
            </a:r>
          </a:p>
        </p:txBody>
      </p:sp>
      <p:sp>
        <p:nvSpPr>
          <p:cNvPr id="5" name="TextBox 4">
            <a:extLst>
              <a:ext uri="{FF2B5EF4-FFF2-40B4-BE49-F238E27FC236}">
                <a16:creationId xmlns:a16="http://schemas.microsoft.com/office/drawing/2014/main" id="{7E9C6A09-70A6-9831-9886-D950CF92E25A}"/>
              </a:ext>
            </a:extLst>
          </p:cNvPr>
          <p:cNvSpPr txBox="1"/>
          <p:nvPr/>
        </p:nvSpPr>
        <p:spPr>
          <a:xfrm>
            <a:off x="2571076" y="3429000"/>
            <a:ext cx="9176273" cy="830997"/>
          </a:xfrm>
          <a:prstGeom prst="rect">
            <a:avLst/>
          </a:prstGeom>
          <a:solidFill>
            <a:schemeClr val="accent2"/>
          </a:solidFill>
        </p:spPr>
        <p:txBody>
          <a:bodyPr wrap="square">
            <a:spAutoFit/>
          </a:bodyPr>
          <a:lstStyle/>
          <a:p>
            <a:r>
              <a:rPr lang="en-US" sz="2400" dirty="0">
                <a:solidFill>
                  <a:schemeClr val="bg1"/>
                </a:solidFill>
              </a:rPr>
              <a:t>Two of three keys must approve any transfer above 1,000 dollars, and the third key is kept in a bank safe-deposit box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5.png"/>
          <p:cNvPicPr>
            <a:picLocks noChangeAspect="1"/>
          </p:cNvPicPr>
          <p:nvPr/>
        </p:nvPicPr>
        <p:blipFill>
          <a:blip r:embed="rId3"/>
          <a:stretch>
            <a:fillRect/>
          </a:stretch>
        </p:blipFill>
        <p:spPr>
          <a:xfrm>
            <a:off x="0" y="0"/>
            <a:ext cx="12192000" cy="6858000"/>
          </a:xfrm>
          <a:prstGeom prst="rect">
            <a:avLst/>
          </a:prstGeom>
        </p:spPr>
      </p:pic>
      <p:cxnSp>
        <p:nvCxnSpPr>
          <p:cNvPr id="4" name="Straight Connector 3">
            <a:extLst>
              <a:ext uri="{FF2B5EF4-FFF2-40B4-BE49-F238E27FC236}">
                <a16:creationId xmlns:a16="http://schemas.microsoft.com/office/drawing/2014/main" id="{CF2411EF-7ED4-3744-71AD-56DAE50FD0C2}"/>
              </a:ext>
            </a:extLst>
          </p:cNvPr>
          <p:cNvCxnSpPr/>
          <p:nvPr/>
        </p:nvCxnSpPr>
        <p:spPr>
          <a:xfrm>
            <a:off x="2675106" y="1780162"/>
            <a:ext cx="1964988"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7AB61B37-819A-FCDC-BF2E-F504F2562773}"/>
              </a:ext>
            </a:extLst>
          </p:cNvPr>
          <p:cNvCxnSpPr/>
          <p:nvPr/>
        </p:nvCxnSpPr>
        <p:spPr>
          <a:xfrm>
            <a:off x="4724399" y="1780162"/>
            <a:ext cx="1964988"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6" name="Straight Connector 5">
            <a:extLst>
              <a:ext uri="{FF2B5EF4-FFF2-40B4-BE49-F238E27FC236}">
                <a16:creationId xmlns:a16="http://schemas.microsoft.com/office/drawing/2014/main" id="{FE495033-1692-3A7A-3D79-5100510A45B1}"/>
              </a:ext>
            </a:extLst>
          </p:cNvPr>
          <p:cNvCxnSpPr>
            <a:cxnSpLocks/>
          </p:cNvCxnSpPr>
          <p:nvPr/>
        </p:nvCxnSpPr>
        <p:spPr>
          <a:xfrm>
            <a:off x="7081736" y="1793133"/>
            <a:ext cx="3407924" cy="0"/>
          </a:xfrm>
          <a:prstGeom prst="line">
            <a:avLst/>
          </a:prstGeom>
        </p:spPr>
        <p:style>
          <a:lnRef idx="3">
            <a:schemeClr val="accent2"/>
          </a:lnRef>
          <a:fillRef idx="0">
            <a:schemeClr val="accent2"/>
          </a:fillRef>
          <a:effectRef idx="2">
            <a:schemeClr val="accent2"/>
          </a:effectRef>
          <a:fontRef idx="minor">
            <a:schemeClr val="tx1"/>
          </a:fontRef>
        </p:style>
      </p:cxnSp>
      <p:sp>
        <p:nvSpPr>
          <p:cNvPr id="7" name="TextBox 6">
            <a:extLst>
              <a:ext uri="{FF2B5EF4-FFF2-40B4-BE49-F238E27FC236}">
                <a16:creationId xmlns:a16="http://schemas.microsoft.com/office/drawing/2014/main" id="{26A7CD5F-492A-9087-0FEB-755C31D876D9}"/>
              </a:ext>
            </a:extLst>
          </p:cNvPr>
          <p:cNvSpPr txBox="1"/>
          <p:nvPr/>
        </p:nvSpPr>
        <p:spPr>
          <a:xfrm>
            <a:off x="182880" y="1960773"/>
            <a:ext cx="5913120" cy="4893647"/>
          </a:xfrm>
          <a:prstGeom prst="rect">
            <a:avLst/>
          </a:prstGeom>
          <a:solidFill>
            <a:schemeClr val="tx2">
              <a:lumMod val="40000"/>
              <a:lumOff val="60000"/>
            </a:schemeClr>
          </a:solidFill>
        </p:spPr>
        <p:txBody>
          <a:bodyPr wrap="square">
            <a:spAutoFit/>
          </a:bodyPr>
          <a:lstStyle/>
          <a:p>
            <a:r>
              <a:rPr lang="en-US" sz="2400" b="1" dirty="0"/>
              <a:t>Cold versus hot split of holdings</a:t>
            </a:r>
            <a:r>
              <a:rPr lang="en-US" sz="2400" dirty="0"/>
              <a:t>: how much crypto is kept offline (safe but slow) and how much is kept on a connected device (fast but riskier).</a:t>
            </a:r>
          </a:p>
          <a:p>
            <a:r>
              <a:rPr lang="en-US" sz="2400" b="1" dirty="0"/>
              <a:t>Single-sig versus multi-sig approvals</a:t>
            </a:r>
            <a:r>
              <a:rPr lang="en-US" sz="2400" dirty="0"/>
              <a:t>: whether one person can approve a transfer alone, or several people must agree.</a:t>
            </a:r>
          </a:p>
          <a:p>
            <a:r>
              <a:rPr lang="en-US" sz="2400" b="1" dirty="0"/>
              <a:t>Who governs the seed phrase, and its backup: </a:t>
            </a:r>
            <a:r>
              <a:rPr lang="en-US" sz="2400" dirty="0"/>
              <a:t>who protects the secret backup words, and where the copy is kept.</a:t>
            </a:r>
          </a:p>
          <a:p>
            <a:r>
              <a:rPr lang="en-US" sz="2400" b="1" dirty="0"/>
              <a:t>Recovery and succession if a signer is lost</a:t>
            </a:r>
            <a:r>
              <a:rPr lang="en-US" sz="2400" dirty="0"/>
              <a:t>: what happens if someone who holds a key leaves, dies, or loses their device</a:t>
            </a:r>
          </a:p>
        </p:txBody>
      </p:sp>
      <p:sp>
        <p:nvSpPr>
          <p:cNvPr id="9" name="TextBox 8">
            <a:extLst>
              <a:ext uri="{FF2B5EF4-FFF2-40B4-BE49-F238E27FC236}">
                <a16:creationId xmlns:a16="http://schemas.microsoft.com/office/drawing/2014/main" id="{4934661F-EBDB-7EC6-A943-F6409AAA2318}"/>
              </a:ext>
            </a:extLst>
          </p:cNvPr>
          <p:cNvSpPr txBox="1"/>
          <p:nvPr/>
        </p:nvSpPr>
        <p:spPr>
          <a:xfrm>
            <a:off x="6187440" y="2028534"/>
            <a:ext cx="6004560" cy="4493538"/>
          </a:xfrm>
          <a:prstGeom prst="rect">
            <a:avLst/>
          </a:prstGeom>
          <a:solidFill>
            <a:schemeClr val="bg1"/>
          </a:solidFill>
        </p:spPr>
        <p:txBody>
          <a:bodyPr wrap="square">
            <a:spAutoFit/>
          </a:bodyPr>
          <a:lstStyle/>
          <a:p>
            <a:r>
              <a:rPr lang="en-US" sz="2600" b="1" dirty="0"/>
              <a:t>PoW consumes real energy by design: </a:t>
            </a:r>
            <a:r>
              <a:rPr lang="en-US" sz="2600" dirty="0"/>
              <a:t>the electricity use is part of how Bitcoin works.</a:t>
            </a:r>
          </a:p>
          <a:p>
            <a:r>
              <a:rPr lang="en-US" sz="2600" b="1" dirty="0"/>
              <a:t>The energy MIX matters more than the total: </a:t>
            </a:r>
            <a:r>
              <a:rPr lang="en-US" sz="2600" dirty="0"/>
              <a:t>where the electricity comes from matters more than how much.</a:t>
            </a:r>
          </a:p>
          <a:p>
            <a:r>
              <a:rPr lang="en-US" sz="2600" b="1" dirty="0"/>
              <a:t>CBECI tracks the sustainable-energy share: </a:t>
            </a:r>
            <a:r>
              <a:rPr lang="en-US" sz="2600" dirty="0"/>
              <a:t>the Cambridge index measures how much of the electricity comes from sustainable sources.</a:t>
            </a:r>
          </a:p>
          <a:p>
            <a:r>
              <a:rPr lang="en-US" sz="2600" b="1" dirty="0"/>
              <a:t>The point that lasts: </a:t>
            </a:r>
            <a:r>
              <a:rPr lang="en-US" sz="2600" dirty="0"/>
              <a:t>judge the mix, not a number in the news.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6.png"/>
          <p:cNvPicPr>
            <a:picLocks noChangeAspect="1"/>
          </p:cNvPicPr>
          <p:nvPr/>
        </p:nvPicPr>
        <p:blipFill>
          <a:blip r:embed="rId3"/>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46D94FA2-4586-64F6-674E-C06B1B842AAE}"/>
              </a:ext>
            </a:extLst>
          </p:cNvPr>
          <p:cNvSpPr/>
          <p:nvPr/>
        </p:nvSpPr>
        <p:spPr>
          <a:xfrm>
            <a:off x="486383" y="1420238"/>
            <a:ext cx="4717915" cy="476656"/>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4C7E7E0-B8B8-C6DF-1FA8-29842DB0E7E3}"/>
              </a:ext>
            </a:extLst>
          </p:cNvPr>
          <p:cNvSpPr txBox="1"/>
          <p:nvPr/>
        </p:nvSpPr>
        <p:spPr>
          <a:xfrm>
            <a:off x="486383" y="58846"/>
            <a:ext cx="11475158" cy="6740307"/>
          </a:xfrm>
          <a:prstGeom prst="rect">
            <a:avLst/>
          </a:prstGeom>
          <a:solidFill>
            <a:schemeClr val="bg1"/>
          </a:solidFill>
        </p:spPr>
        <p:txBody>
          <a:bodyPr wrap="square">
            <a:spAutoFit/>
          </a:bodyPr>
          <a:lstStyle/>
          <a:p>
            <a:r>
              <a:rPr lang="en-US" dirty="0"/>
              <a:t>What each decision actually decides</a:t>
            </a:r>
          </a:p>
          <a:p>
            <a:r>
              <a:rPr lang="en-US" b="1" dirty="0">
                <a:solidFill>
                  <a:srgbClr val="C00000"/>
                </a:solidFill>
              </a:rPr>
              <a:t>Storage split </a:t>
            </a:r>
          </a:p>
          <a:p>
            <a:r>
              <a:rPr lang="en-US" dirty="0"/>
              <a:t>It decides how much is offline and slow to reach, and how much is online and usable now.</a:t>
            </a:r>
          </a:p>
          <a:p>
            <a:r>
              <a:rPr lang="en-US" dirty="0"/>
              <a:t>It also decides how much one breach could steal.</a:t>
            </a:r>
          </a:p>
          <a:p>
            <a:r>
              <a:rPr lang="en-US" b="1" dirty="0"/>
              <a:t>Example answer</a:t>
            </a:r>
            <a:r>
              <a:rPr lang="en-US" dirty="0"/>
              <a:t>: "90% cold, 10% hot."</a:t>
            </a:r>
          </a:p>
          <a:p>
            <a:r>
              <a:rPr lang="en-US" b="1" dirty="0">
                <a:solidFill>
                  <a:srgbClr val="C00000"/>
                </a:solidFill>
              </a:rPr>
              <a:t>Approvals</a:t>
            </a:r>
            <a:r>
              <a:rPr lang="en-US" dirty="0"/>
              <a:t> </a:t>
            </a:r>
          </a:p>
          <a:p>
            <a:r>
              <a:rPr lang="en-US" dirty="0"/>
              <a:t>It decides how many separate keys must sign before money moves. This is multi-signature.</a:t>
            </a:r>
          </a:p>
          <a:p>
            <a:r>
              <a:rPr lang="en-US" dirty="0"/>
              <a:t>A 2-of-3 threshold means any two of three named key holders are enough.</a:t>
            </a:r>
          </a:p>
          <a:p>
            <a:r>
              <a:rPr lang="en-US" b="1" dirty="0"/>
              <a:t>Example answer</a:t>
            </a:r>
            <a:r>
              <a:rPr lang="en-US" dirty="0"/>
              <a:t>: "2-of-3: CFO, CEO, external lawyer."</a:t>
            </a:r>
          </a:p>
          <a:p>
            <a:r>
              <a:rPr lang="en-US" b="1" dirty="0">
                <a:solidFill>
                  <a:srgbClr val="C00000"/>
                </a:solidFill>
              </a:rPr>
              <a:t>Seed governance </a:t>
            </a:r>
          </a:p>
          <a:p>
            <a:r>
              <a:rPr lang="en-US" dirty="0"/>
              <a:t>It decides who holds the recovery words and where the backup physically sits.</a:t>
            </a:r>
          </a:p>
          <a:p>
            <a:r>
              <a:rPr lang="en-US" dirty="0"/>
              <a:t>This is the decision most often left blank.</a:t>
            </a:r>
          </a:p>
          <a:p>
            <a:r>
              <a:rPr lang="en-US" b="1" dirty="0"/>
              <a:t>Example answer</a:t>
            </a:r>
            <a:r>
              <a:rPr lang="en-US" dirty="0"/>
              <a:t>: "Split into two sealed envelopes, kept in two different bank safe-deposit boxes."</a:t>
            </a:r>
          </a:p>
          <a:p>
            <a:r>
              <a:rPr lang="en-US" b="1" dirty="0">
                <a:solidFill>
                  <a:srgbClr val="C00000"/>
                </a:solidFill>
              </a:rPr>
              <a:t>Access control </a:t>
            </a:r>
          </a:p>
          <a:p>
            <a:r>
              <a:rPr lang="en-US" dirty="0"/>
              <a:t>It decides who can start a payment and who must approve it.</a:t>
            </a:r>
          </a:p>
          <a:p>
            <a:r>
              <a:rPr lang="en-US" b="1" dirty="0"/>
              <a:t>Example answer</a:t>
            </a:r>
            <a:r>
              <a:rPr lang="en-US" dirty="0"/>
              <a:t>: "The accountant starts it, the CFO and CEO approve it."</a:t>
            </a:r>
          </a:p>
          <a:p>
            <a:r>
              <a:rPr lang="en-US" b="1" dirty="0">
                <a:solidFill>
                  <a:srgbClr val="C00000"/>
                </a:solidFill>
              </a:rPr>
              <a:t>Recovery</a:t>
            </a:r>
            <a:r>
              <a:rPr lang="en-US" dirty="0"/>
              <a:t> </a:t>
            </a:r>
          </a:p>
          <a:p>
            <a:r>
              <a:rPr lang="en-US" dirty="0"/>
              <a:t>It decides what happens if a key holder resigns, dies or loses a device.</a:t>
            </a:r>
          </a:p>
          <a:p>
            <a:r>
              <a:rPr lang="en-US" dirty="0"/>
              <a:t>It is worthless unless it was decided before the event.</a:t>
            </a:r>
          </a:p>
          <a:p>
            <a:r>
              <a:rPr lang="en-US" b="1" dirty="0"/>
              <a:t>Example answer</a:t>
            </a:r>
            <a:r>
              <a:rPr lang="en-US" dirty="0"/>
              <a:t>: "If a signer leaves, their key is replaced within 7 days."</a:t>
            </a:r>
          </a:p>
          <a:p>
            <a:r>
              <a:rPr lang="en-US" b="1" dirty="0">
                <a:solidFill>
                  <a:srgbClr val="C00000"/>
                </a:solidFill>
              </a:rPr>
              <a:t>Review</a:t>
            </a:r>
            <a:r>
              <a:rPr lang="en-US" dirty="0"/>
              <a:t> </a:t>
            </a:r>
          </a:p>
          <a:p>
            <a:r>
              <a:rPr lang="en-US" dirty="0"/>
              <a:t>It decides how often the policy is tested.</a:t>
            </a:r>
          </a:p>
          <a:p>
            <a:r>
              <a:rPr lang="en-US" dirty="0"/>
              <a:t>Testing means actually attempting a recovery, not rereading the document.</a:t>
            </a:r>
          </a:p>
          <a:p>
            <a:r>
              <a:rPr lang="en-US" b="1" dirty="0"/>
              <a:t>Example answer</a:t>
            </a:r>
            <a:r>
              <a:rPr lang="en-US" dirty="0"/>
              <a:t>: "Recovery drill every 6 months."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8.png"/>
          <p:cNvPicPr>
            <a:picLocks noChangeAspect="1"/>
          </p:cNvPicPr>
          <p:nvPr/>
        </p:nvPicPr>
        <p:blipFill>
          <a:blip r:embed="rId3"/>
          <a:stretch>
            <a:fillRect/>
          </a:stretch>
        </p:blipFill>
        <p:spPr>
          <a:xfrm>
            <a:off x="0" y="0"/>
            <a:ext cx="12192000" cy="6858000"/>
          </a:xfrm>
          <a:prstGeom prst="rect">
            <a:avLst/>
          </a:prstGeom>
        </p:spPr>
      </p:pic>
      <p:cxnSp>
        <p:nvCxnSpPr>
          <p:cNvPr id="3" name="Straight Connector 2">
            <a:extLst>
              <a:ext uri="{FF2B5EF4-FFF2-40B4-BE49-F238E27FC236}">
                <a16:creationId xmlns:a16="http://schemas.microsoft.com/office/drawing/2014/main" id="{3D36076D-7415-23AD-84CB-B6E2807704FA}"/>
              </a:ext>
            </a:extLst>
          </p:cNvPr>
          <p:cNvCxnSpPr>
            <a:cxnSpLocks/>
          </p:cNvCxnSpPr>
          <p:nvPr/>
        </p:nvCxnSpPr>
        <p:spPr>
          <a:xfrm>
            <a:off x="7276289" y="2298971"/>
            <a:ext cx="4105073"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5" name="Straight Connector 4">
            <a:extLst>
              <a:ext uri="{FF2B5EF4-FFF2-40B4-BE49-F238E27FC236}">
                <a16:creationId xmlns:a16="http://schemas.microsoft.com/office/drawing/2014/main" id="{08AE24B3-A4B1-CC91-5110-B7E6385167D1}"/>
              </a:ext>
            </a:extLst>
          </p:cNvPr>
          <p:cNvCxnSpPr>
            <a:cxnSpLocks/>
          </p:cNvCxnSpPr>
          <p:nvPr/>
        </p:nvCxnSpPr>
        <p:spPr>
          <a:xfrm>
            <a:off x="2798323" y="2587558"/>
            <a:ext cx="3728937"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472AA593-5298-2B86-E1BF-0CF14B8ACD6E}"/>
              </a:ext>
            </a:extLst>
          </p:cNvPr>
          <p:cNvCxnSpPr>
            <a:cxnSpLocks/>
          </p:cNvCxnSpPr>
          <p:nvPr/>
        </p:nvCxnSpPr>
        <p:spPr>
          <a:xfrm>
            <a:off x="2136842" y="2856690"/>
            <a:ext cx="1977958"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30B65873-BB92-C7EB-0378-6CEB37147D2F}"/>
              </a:ext>
            </a:extLst>
          </p:cNvPr>
          <p:cNvCxnSpPr>
            <a:cxnSpLocks/>
          </p:cNvCxnSpPr>
          <p:nvPr/>
        </p:nvCxnSpPr>
        <p:spPr>
          <a:xfrm>
            <a:off x="4328808" y="2856690"/>
            <a:ext cx="4737371"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Straight Connector 10">
            <a:extLst>
              <a:ext uri="{FF2B5EF4-FFF2-40B4-BE49-F238E27FC236}">
                <a16:creationId xmlns:a16="http://schemas.microsoft.com/office/drawing/2014/main" id="{DAAF2F9B-DCCA-6650-9B8B-CE4B737665A9}"/>
              </a:ext>
            </a:extLst>
          </p:cNvPr>
          <p:cNvCxnSpPr>
            <a:cxnSpLocks/>
          </p:cNvCxnSpPr>
          <p:nvPr/>
        </p:nvCxnSpPr>
        <p:spPr>
          <a:xfrm>
            <a:off x="933854" y="3129065"/>
            <a:ext cx="5593406" cy="0"/>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9.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0.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392</TotalTime>
  <Words>708</Words>
  <Application>Microsoft Office PowerPoint</Application>
  <PresentationFormat>Widescreen</PresentationFormat>
  <Paragraphs>45</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Faiz Ul Islam</cp:lastModifiedBy>
  <cp:revision>23</cp:revision>
  <dcterms:created xsi:type="dcterms:W3CDTF">2013-01-27T09:14:16Z</dcterms:created>
  <dcterms:modified xsi:type="dcterms:W3CDTF">2026-10-21T07:57:17Z</dcterms:modified>
  <cp:category/>
</cp:coreProperties>
</file>