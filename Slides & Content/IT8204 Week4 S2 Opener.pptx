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2" r:id="rId2"/>
    <p:sldId id="257" r:id="rId3"/>
    <p:sldId id="258" r:id="rId4"/>
    <p:sldId id="259" r:id="rId5"/>
    <p:sldId id="260" r:id="rId6"/>
    <p:sldId id="271" r:id="rId7"/>
    <p:sldId id="261" r:id="rId8"/>
    <p:sldId id="269" r:id="rId9"/>
    <p:sldId id="270" r:id="rId10"/>
    <p:sldId id="262" r:id="rId11"/>
    <p:sldId id="263" r:id="rId12"/>
    <p:sldId id="264" r:id="rId13"/>
    <p:sldId id="265" r:id="rId14"/>
    <p:sldId id="266"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0065" autoAdjust="0"/>
  </p:normalViewPr>
  <p:slideViewPr>
    <p:cSldViewPr snapToGrid="0" snapToObjects="1">
      <p:cViewPr varScale="1">
        <p:scale>
          <a:sx n="38" d="100"/>
          <a:sy n="38" d="100"/>
        </p:scale>
        <p:origin x="2314" y="34"/>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325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29F4-6615-57F2-DE6B-3D79D9376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F64E8-5E87-04C6-C697-07C92257197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77A01C7-8E5E-93A9-3525-C21CFB8FEBA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ED857E55-1156-0B2B-1D99-1DCA1A909632}"/>
              </a:ext>
            </a:extLst>
          </p:cNvPr>
          <p:cNvSpPr>
            <a:spLocks noGrp="1"/>
          </p:cNvSpPr>
          <p:nvPr>
            <p:ph type="sldNum" sz="quarter" idx="5"/>
          </p:nvPr>
        </p:nvSpPr>
        <p:spPr/>
      </p:sp>
    </p:spTree>
    <p:extLst>
      <p:ext uri="{BB962C8B-B14F-4D97-AF65-F5344CB8AC3E}">
        <p14:creationId xmlns:p14="http://schemas.microsoft.com/office/powerpoint/2010/main" val="3115586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228600" indent="-228600" rtl="0">
              <a:buAutoNum type="arabicPeriod"/>
            </a:pP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endParaRPr lang="en-US" b="1"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3287074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CAD4C-819B-D844-98DC-20C273FE4152}"/>
            </a:ext>
          </a:extLst>
        </p:cNvPr>
        <p:cNvGrpSpPr/>
        <p:nvPr/>
      </p:nvGrpSpPr>
      <p:grpSpPr>
        <a:xfrm>
          <a:off x="0" y="0"/>
          <a:ext cx="0" cy="0"/>
          <a:chOff x="0" y="0"/>
          <a:chExt cx="0" cy="0"/>
        </a:xfrm>
      </p:grpSpPr>
      <p:pic>
        <p:nvPicPr>
          <p:cNvPr id="2" name="Picture 1" descr="s1.png">
            <a:extLst>
              <a:ext uri="{FF2B5EF4-FFF2-40B4-BE49-F238E27FC236}">
                <a16:creationId xmlns:a16="http://schemas.microsoft.com/office/drawing/2014/main" id="{A6312391-E6D1-52A4-F69F-5F3F12E14B73}"/>
              </a:ext>
            </a:extLst>
          </p:cNvPr>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FCECD457-9875-8EBB-64D2-9B4780068FAF}"/>
              </a:ext>
            </a:extLst>
          </p:cNvPr>
          <p:cNvSpPr txBox="1"/>
          <p:nvPr/>
        </p:nvSpPr>
        <p:spPr>
          <a:xfrm>
            <a:off x="5802085" y="841"/>
            <a:ext cx="5976257" cy="2062103"/>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pPr algn="just"/>
            <a:r>
              <a:rPr lang="en-US" sz="3200" b="1" i="1" dirty="0">
                <a:solidFill>
                  <a:schemeClr val="bg1"/>
                </a:solidFill>
              </a:rPr>
              <a:t>Naming</a:t>
            </a:r>
            <a:r>
              <a:rPr lang="en-US" sz="3200" dirty="0">
                <a:solidFill>
                  <a:schemeClr val="bg1"/>
                </a:solidFill>
              </a:rPr>
              <a:t> a chain is not an answer. </a:t>
            </a:r>
          </a:p>
          <a:p>
            <a:pPr algn="just"/>
            <a:r>
              <a:rPr lang="en-US" sz="3200" dirty="0">
                <a:solidFill>
                  <a:schemeClr val="bg1"/>
                </a:solidFill>
              </a:rPr>
              <a:t>A real answer names a chain, on </a:t>
            </a:r>
            <a:r>
              <a:rPr lang="en-US" sz="3200" b="1" dirty="0">
                <a:solidFill>
                  <a:schemeClr val="bg1"/>
                </a:solidFill>
              </a:rPr>
              <a:t>stated criteria, for a stated use</a:t>
            </a:r>
            <a:r>
              <a:rPr lang="en-US" sz="3200" dirty="0">
                <a:solidFill>
                  <a:schemeClr val="bg1"/>
                </a:solidFill>
              </a:rPr>
              <a:t>, and </a:t>
            </a:r>
            <a:r>
              <a:rPr lang="en-US" sz="3200" b="1" dirty="0">
                <a:solidFill>
                  <a:schemeClr val="bg1"/>
                </a:solidFill>
              </a:rPr>
              <a:t>admits the trade-off</a:t>
            </a:r>
          </a:p>
        </p:txBody>
      </p:sp>
      <p:sp>
        <p:nvSpPr>
          <p:cNvPr id="6" name="TextBox 5">
            <a:extLst>
              <a:ext uri="{FF2B5EF4-FFF2-40B4-BE49-F238E27FC236}">
                <a16:creationId xmlns:a16="http://schemas.microsoft.com/office/drawing/2014/main" id="{93CFB971-36D2-8F79-178B-E92B3C2ABE45}"/>
              </a:ext>
            </a:extLst>
          </p:cNvPr>
          <p:cNvSpPr txBox="1"/>
          <p:nvPr/>
        </p:nvSpPr>
        <p:spPr>
          <a:xfrm>
            <a:off x="282221" y="4795056"/>
            <a:ext cx="11757379" cy="1815882"/>
          </a:xfrm>
          <a:prstGeom prst="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r>
              <a:rPr lang="en-US" sz="2800" dirty="0"/>
              <a:t>Is a pickup </a:t>
            </a:r>
            <a:r>
              <a:rPr lang="en-US" sz="2800" b="1" dirty="0"/>
              <a:t>truck</a:t>
            </a:r>
            <a:r>
              <a:rPr lang="en-US" sz="2800" dirty="0"/>
              <a:t> better than a </a:t>
            </a:r>
            <a:r>
              <a:rPr lang="en-US" sz="2800" b="1" dirty="0"/>
              <a:t>sports car</a:t>
            </a:r>
            <a:r>
              <a:rPr lang="en-US" sz="2800" dirty="0"/>
              <a:t>? </a:t>
            </a:r>
          </a:p>
          <a:p>
            <a:r>
              <a:rPr lang="en-US" sz="2800" b="1" dirty="0">
                <a:solidFill>
                  <a:srgbClr val="C00000"/>
                </a:solidFill>
              </a:rPr>
              <a:t>“it depends”. </a:t>
            </a:r>
            <a:r>
              <a:rPr lang="en-US" sz="2800" dirty="0"/>
              <a:t>A truck wins for moving furniture, a sports car for speed, a bus for carrying 50 people. Nobody says </a:t>
            </a:r>
            <a:r>
              <a:rPr lang="en-US" sz="2800" b="1" dirty="0">
                <a:solidFill>
                  <a:srgbClr val="C00000"/>
                </a:solidFill>
              </a:rPr>
              <a:t>“just buy the best vehicle”.</a:t>
            </a:r>
            <a:r>
              <a:rPr lang="en-US" sz="2800" b="1" dirty="0">
                <a:solidFill>
                  <a:srgbClr val="FF0000"/>
                </a:solidFill>
              </a:rPr>
              <a:t> </a:t>
            </a:r>
            <a:r>
              <a:rPr lang="en-US" sz="2800" dirty="0">
                <a:solidFill>
                  <a:srgbClr val="FF0000"/>
                </a:solidFill>
              </a:rPr>
              <a:t>They ask what the trip is for first. Chains work the same way.</a:t>
            </a:r>
          </a:p>
        </p:txBody>
      </p:sp>
    </p:spTree>
    <p:extLst>
      <p:ext uri="{BB962C8B-B14F-4D97-AF65-F5344CB8AC3E}">
        <p14:creationId xmlns:p14="http://schemas.microsoft.com/office/powerpoint/2010/main" val="611684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3.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8712C664-B283-AE49-64EB-7DCDAE5DFC13}"/>
              </a:ext>
            </a:extLst>
          </p:cNvPr>
          <p:cNvSpPr txBox="1"/>
          <p:nvPr/>
        </p:nvSpPr>
        <p:spPr>
          <a:xfrm>
            <a:off x="4763911" y="2647412"/>
            <a:ext cx="2393246" cy="923330"/>
          </a:xfrm>
          <a:prstGeom prst="rect">
            <a:avLst/>
          </a:prstGeom>
          <a:solidFill>
            <a:schemeClr val="accent3">
              <a:lumMod val="20000"/>
              <a:lumOff val="80000"/>
            </a:schemeClr>
          </a:solidFill>
          <a:effectLst>
            <a:glow rad="63500">
              <a:schemeClr val="accent2">
                <a:satMod val="175000"/>
                <a:alpha val="40000"/>
              </a:schemeClr>
            </a:glow>
          </a:effectLst>
        </p:spPr>
        <p:txBody>
          <a:bodyPr wrap="square">
            <a:spAutoFit/>
          </a:bodyPr>
          <a:lstStyle/>
          <a:p>
            <a:r>
              <a:rPr lang="en-US" b="1" i="1" dirty="0"/>
              <a:t>how many transactions </a:t>
            </a:r>
            <a:r>
              <a:rPr lang="en-US" dirty="0"/>
              <a:t>the chain can handle </a:t>
            </a:r>
            <a:r>
              <a:rPr lang="en-US" b="1" dirty="0"/>
              <a:t>per second</a:t>
            </a:r>
          </a:p>
        </p:txBody>
      </p:sp>
      <p:sp>
        <p:nvSpPr>
          <p:cNvPr id="6" name="TextBox 5">
            <a:extLst>
              <a:ext uri="{FF2B5EF4-FFF2-40B4-BE49-F238E27FC236}">
                <a16:creationId xmlns:a16="http://schemas.microsoft.com/office/drawing/2014/main" id="{FBD10525-F9B1-4B63-9DD6-29C47A9E989C}"/>
              </a:ext>
            </a:extLst>
          </p:cNvPr>
          <p:cNvSpPr txBox="1"/>
          <p:nvPr/>
        </p:nvSpPr>
        <p:spPr>
          <a:xfrm>
            <a:off x="6468751" y="1296693"/>
            <a:ext cx="2533359" cy="923330"/>
          </a:xfrm>
          <a:prstGeom prst="rect">
            <a:avLst/>
          </a:prstGeom>
          <a:solidFill>
            <a:schemeClr val="accent3">
              <a:lumMod val="20000"/>
              <a:lumOff val="80000"/>
            </a:schemeClr>
          </a:solidFill>
          <a:effectLst>
            <a:glow rad="63500">
              <a:schemeClr val="accent4">
                <a:satMod val="175000"/>
                <a:alpha val="40000"/>
              </a:schemeClr>
            </a:glow>
          </a:effectLst>
        </p:spPr>
        <p:txBody>
          <a:bodyPr wrap="square">
            <a:spAutoFit/>
          </a:bodyPr>
          <a:lstStyle/>
          <a:p>
            <a:r>
              <a:rPr lang="en-US" dirty="0"/>
              <a:t>how long until a transaction is permanent and cannot be undone</a:t>
            </a:r>
          </a:p>
        </p:txBody>
      </p:sp>
      <p:sp>
        <p:nvSpPr>
          <p:cNvPr id="8" name="TextBox 7">
            <a:extLst>
              <a:ext uri="{FF2B5EF4-FFF2-40B4-BE49-F238E27FC236}">
                <a16:creationId xmlns:a16="http://schemas.microsoft.com/office/drawing/2014/main" id="{ADFB4EFC-B264-8507-DB27-36E6FC99B96F}"/>
              </a:ext>
            </a:extLst>
          </p:cNvPr>
          <p:cNvSpPr txBox="1"/>
          <p:nvPr/>
        </p:nvSpPr>
        <p:spPr>
          <a:xfrm>
            <a:off x="8180138" y="2558492"/>
            <a:ext cx="1704842" cy="923330"/>
          </a:xfrm>
          <a:prstGeom prst="rect">
            <a:avLst/>
          </a:prstGeom>
          <a:solidFill>
            <a:schemeClr val="accent3">
              <a:lumMod val="20000"/>
              <a:lumOff val="80000"/>
            </a:schemeClr>
          </a:solidFill>
          <a:effectLst>
            <a:glow rad="63500">
              <a:schemeClr val="accent6">
                <a:satMod val="175000"/>
                <a:alpha val="40000"/>
              </a:schemeClr>
            </a:glow>
          </a:effectLst>
        </p:spPr>
        <p:txBody>
          <a:bodyPr wrap="square">
            <a:spAutoFit/>
          </a:bodyPr>
          <a:lstStyle/>
          <a:p>
            <a:r>
              <a:rPr lang="en-US" dirty="0"/>
              <a:t>who makes the rules and can change them</a:t>
            </a:r>
          </a:p>
        </p:txBody>
      </p:sp>
      <p:sp>
        <p:nvSpPr>
          <p:cNvPr id="10" name="TextBox 9">
            <a:extLst>
              <a:ext uri="{FF2B5EF4-FFF2-40B4-BE49-F238E27FC236}">
                <a16:creationId xmlns:a16="http://schemas.microsoft.com/office/drawing/2014/main" id="{14507045-833C-010D-FD78-93B8174ACF71}"/>
              </a:ext>
            </a:extLst>
          </p:cNvPr>
          <p:cNvSpPr txBox="1"/>
          <p:nvPr/>
        </p:nvSpPr>
        <p:spPr>
          <a:xfrm>
            <a:off x="9203119" y="1296693"/>
            <a:ext cx="1704843" cy="923330"/>
          </a:xfrm>
          <a:prstGeom prst="rect">
            <a:avLst/>
          </a:prstGeom>
          <a:solidFill>
            <a:schemeClr val="accent3">
              <a:lumMod val="20000"/>
              <a:lumOff val="80000"/>
            </a:schemeClr>
          </a:solidFill>
          <a:effectLst>
            <a:glow rad="63500">
              <a:schemeClr val="accent3">
                <a:satMod val="175000"/>
                <a:alpha val="40000"/>
              </a:schemeClr>
            </a:glow>
          </a:effectLst>
        </p:spPr>
        <p:txBody>
          <a:bodyPr wrap="square">
            <a:spAutoFit/>
          </a:bodyPr>
          <a:lstStyle/>
          <a:p>
            <a:r>
              <a:rPr lang="en-US" dirty="0"/>
              <a:t>what it costs to use, such as transaction fees</a:t>
            </a:r>
          </a:p>
        </p:txBody>
      </p:sp>
      <p:sp>
        <p:nvSpPr>
          <p:cNvPr id="12" name="TextBox 11">
            <a:extLst>
              <a:ext uri="{FF2B5EF4-FFF2-40B4-BE49-F238E27FC236}">
                <a16:creationId xmlns:a16="http://schemas.microsoft.com/office/drawing/2014/main" id="{4949409A-F578-DD54-2A93-09BC62518B87}"/>
              </a:ext>
            </a:extLst>
          </p:cNvPr>
          <p:cNvSpPr txBox="1"/>
          <p:nvPr/>
        </p:nvSpPr>
        <p:spPr>
          <a:xfrm>
            <a:off x="10489981" y="2505670"/>
            <a:ext cx="1903686" cy="923330"/>
          </a:xfrm>
          <a:prstGeom prst="rect">
            <a:avLst/>
          </a:prstGeom>
          <a:solidFill>
            <a:schemeClr val="accent3">
              <a:lumMod val="20000"/>
              <a:lumOff val="80000"/>
            </a:schemeClr>
          </a:solidFill>
          <a:effectLst>
            <a:glow rad="63500">
              <a:schemeClr val="accent1">
                <a:satMod val="175000"/>
                <a:alpha val="40000"/>
              </a:schemeClr>
            </a:glow>
          </a:effectLst>
        </p:spPr>
        <p:txBody>
          <a:bodyPr wrap="square">
            <a:spAutoFit/>
          </a:bodyPr>
          <a:lstStyle/>
          <a:p>
            <a:r>
              <a:rPr lang="en-US" dirty="0"/>
              <a:t>how a regulator or auditor would view the chain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4.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0F719D9B-269E-280E-E047-DAE5E803C1F2}"/>
              </a:ext>
            </a:extLst>
          </p:cNvPr>
          <p:cNvSpPr txBox="1"/>
          <p:nvPr/>
        </p:nvSpPr>
        <p:spPr>
          <a:xfrm>
            <a:off x="2097024" y="1506373"/>
            <a:ext cx="10204704" cy="923330"/>
          </a:xfrm>
          <a:prstGeom prst="rect">
            <a:avLst/>
          </a:prstGeom>
          <a:solidFill>
            <a:schemeClr val="accent3">
              <a:lumMod val="20000"/>
              <a:lumOff val="80000"/>
            </a:schemeClr>
          </a:solidFill>
          <a:effectLst>
            <a:softEdge rad="31750"/>
          </a:effectLst>
        </p:spPr>
        <p:txBody>
          <a:bodyPr wrap="square">
            <a:spAutoFit/>
          </a:bodyPr>
          <a:lstStyle/>
          <a:p>
            <a:r>
              <a:rPr lang="en-US" dirty="0"/>
              <a:t>A </a:t>
            </a:r>
            <a:r>
              <a:rPr lang="en-US" b="1" i="1" dirty="0"/>
              <a:t>rulebook</a:t>
            </a:r>
            <a:r>
              <a:rPr lang="en-US" dirty="0"/>
              <a:t>. Chess has rules for how each piece moves, and every player follows the same rules so a game can happen. A blockchain protocol is the same: it says how new blocks are made, checked, and accepted. Different chains have different rulebooks, which is why there is more than one chain to choose between.</a:t>
            </a:r>
          </a:p>
        </p:txBody>
      </p:sp>
      <p:sp>
        <p:nvSpPr>
          <p:cNvPr id="6" name="TextBox 5">
            <a:extLst>
              <a:ext uri="{FF2B5EF4-FFF2-40B4-BE49-F238E27FC236}">
                <a16:creationId xmlns:a16="http://schemas.microsoft.com/office/drawing/2014/main" id="{F59C58EB-2AF6-BB3D-FDB5-66E1856E71F7}"/>
              </a:ext>
            </a:extLst>
          </p:cNvPr>
          <p:cNvSpPr txBox="1"/>
          <p:nvPr/>
        </p:nvSpPr>
        <p:spPr>
          <a:xfrm>
            <a:off x="2518612" y="2925726"/>
            <a:ext cx="9927496" cy="400110"/>
          </a:xfrm>
          <a:prstGeom prst="rect">
            <a:avLst/>
          </a:prstGeom>
          <a:solidFill>
            <a:schemeClr val="accent3">
              <a:lumMod val="20000"/>
              <a:lumOff val="80000"/>
            </a:schemeClr>
          </a:solidFill>
          <a:effectLst>
            <a:softEdge rad="31750"/>
          </a:effectLst>
        </p:spPr>
        <p:txBody>
          <a:bodyPr wrap="square">
            <a:spAutoFit/>
          </a:bodyPr>
          <a:lstStyle/>
          <a:p>
            <a:r>
              <a:rPr lang="en-US" sz="2000" dirty="0"/>
              <a:t>base blockchain itself, like Bitcoin or Ethereum. It is where transactions are finally recorded</a:t>
            </a:r>
          </a:p>
        </p:txBody>
      </p:sp>
      <p:sp>
        <p:nvSpPr>
          <p:cNvPr id="8" name="TextBox 7">
            <a:extLst>
              <a:ext uri="{FF2B5EF4-FFF2-40B4-BE49-F238E27FC236}">
                <a16:creationId xmlns:a16="http://schemas.microsoft.com/office/drawing/2014/main" id="{F0045E28-7D3C-CA6F-AC35-A870E15A1527}"/>
              </a:ext>
            </a:extLst>
          </p:cNvPr>
          <p:cNvSpPr txBox="1"/>
          <p:nvPr/>
        </p:nvSpPr>
        <p:spPr>
          <a:xfrm>
            <a:off x="6070654" y="4539179"/>
            <a:ext cx="6487748" cy="646331"/>
          </a:xfrm>
          <a:prstGeom prst="rect">
            <a:avLst/>
          </a:prstGeom>
          <a:solidFill>
            <a:schemeClr val="accent3">
              <a:lumMod val="20000"/>
              <a:lumOff val="80000"/>
            </a:schemeClr>
          </a:solidFill>
          <a:effectLst>
            <a:softEdge rad="31750"/>
          </a:effectLst>
        </p:spPr>
        <p:txBody>
          <a:bodyPr wrap="square">
            <a:spAutoFit/>
          </a:bodyPr>
          <a:lstStyle/>
          <a:p>
            <a:r>
              <a:rPr lang="en-US" dirty="0"/>
              <a:t>because an SME can't afford experts to check whether a chain is safe, so it needs a simple, reliable way to choose.</a:t>
            </a:r>
          </a:p>
        </p:txBody>
      </p:sp>
      <p:sp>
        <p:nvSpPr>
          <p:cNvPr id="5" name="TextBox 4">
            <a:extLst>
              <a:ext uri="{FF2B5EF4-FFF2-40B4-BE49-F238E27FC236}">
                <a16:creationId xmlns:a16="http://schemas.microsoft.com/office/drawing/2014/main" id="{130F1BAE-1336-616D-8883-50750CCB6A7B}"/>
              </a:ext>
            </a:extLst>
          </p:cNvPr>
          <p:cNvSpPr txBox="1"/>
          <p:nvPr/>
        </p:nvSpPr>
        <p:spPr>
          <a:xfrm>
            <a:off x="4527584" y="5469657"/>
            <a:ext cx="6805139" cy="369332"/>
          </a:xfrm>
          <a:prstGeom prst="rect">
            <a:avLst/>
          </a:prstGeom>
          <a:solidFill>
            <a:schemeClr val="accent3">
              <a:lumMod val="20000"/>
              <a:lumOff val="80000"/>
            </a:schemeClr>
          </a:solidFill>
        </p:spPr>
        <p:txBody>
          <a:bodyPr wrap="square">
            <a:spAutoFit/>
          </a:bodyPr>
          <a:lstStyle/>
          <a:p>
            <a:r>
              <a:rPr lang="en-US" dirty="0"/>
              <a:t>financial services implemented using blockchain and smart contracts</a:t>
            </a:r>
          </a:p>
        </p:txBody>
      </p:sp>
      <p:sp>
        <p:nvSpPr>
          <p:cNvPr id="9" name="TextBox 8">
            <a:extLst>
              <a:ext uri="{FF2B5EF4-FFF2-40B4-BE49-F238E27FC236}">
                <a16:creationId xmlns:a16="http://schemas.microsoft.com/office/drawing/2014/main" id="{068B0728-42D1-578F-EA59-B627BEC86093}"/>
              </a:ext>
            </a:extLst>
          </p:cNvPr>
          <p:cNvSpPr txBox="1"/>
          <p:nvPr/>
        </p:nvSpPr>
        <p:spPr>
          <a:xfrm>
            <a:off x="4541534" y="5351627"/>
            <a:ext cx="8629073" cy="1477328"/>
          </a:xfrm>
          <a:prstGeom prst="rect">
            <a:avLst/>
          </a:prstGeom>
          <a:solidFill>
            <a:schemeClr val="accent2">
              <a:lumMod val="20000"/>
              <a:lumOff val="80000"/>
            </a:schemeClr>
          </a:solidFill>
        </p:spPr>
        <p:txBody>
          <a:bodyPr wrap="square">
            <a:spAutoFit/>
          </a:bodyPr>
          <a:lstStyle/>
          <a:p>
            <a:r>
              <a:rPr lang="en-US" b="1" dirty="0"/>
              <a:t>Ethereum = roads/infrastructure</a:t>
            </a:r>
          </a:p>
          <a:p>
            <a:r>
              <a:rPr lang="en-US" dirty="0"/>
              <a:t>DeFi = financial businesses using those roads</a:t>
            </a:r>
          </a:p>
          <a:p>
            <a:r>
              <a:rPr lang="en-US" b="1" dirty="0">
                <a:solidFill>
                  <a:srgbClr val="FF0000"/>
                </a:solidFill>
              </a:rPr>
              <a:t>OR</a:t>
            </a:r>
          </a:p>
          <a:p>
            <a:r>
              <a:rPr lang="en-US" b="1" dirty="0"/>
              <a:t>Ethereum = provides the platform</a:t>
            </a:r>
          </a:p>
          <a:p>
            <a:r>
              <a:rPr lang="en-US" dirty="0"/>
              <a:t>DeFi = provides financial applications/services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5"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5.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606D45C0-A418-4078-4528-8CC611E52804}"/>
              </a:ext>
            </a:extLst>
          </p:cNvPr>
          <p:cNvSpPr txBox="1"/>
          <p:nvPr/>
        </p:nvSpPr>
        <p:spPr>
          <a:xfrm>
            <a:off x="157651" y="1717447"/>
            <a:ext cx="6022429" cy="5262979"/>
          </a:xfrm>
          <a:prstGeom prst="rect">
            <a:avLst/>
          </a:prstGeom>
          <a:solidFill>
            <a:schemeClr val="accent3">
              <a:lumMod val="20000"/>
              <a:lumOff val="80000"/>
            </a:schemeClr>
          </a:solidFill>
        </p:spPr>
        <p:txBody>
          <a:bodyPr wrap="square">
            <a:spAutoFit/>
          </a:bodyPr>
          <a:lstStyle/>
          <a:p>
            <a:r>
              <a:rPr lang="en-US" sz="2400" dirty="0"/>
              <a:t>An analogy for the five criteria</a:t>
            </a:r>
          </a:p>
          <a:p>
            <a:r>
              <a:rPr lang="en-US" sz="2400" dirty="0"/>
              <a:t>Imagine choosing how to ship a parcel:</a:t>
            </a:r>
          </a:p>
          <a:p>
            <a:r>
              <a:rPr lang="en-US" sz="2400" b="1" dirty="0"/>
              <a:t>Throughput</a:t>
            </a:r>
            <a:r>
              <a:rPr lang="en-US" sz="2400" dirty="0"/>
              <a:t>: how many parcels the courier handles per hour</a:t>
            </a:r>
          </a:p>
          <a:p>
            <a:r>
              <a:rPr lang="en-US" sz="2400" b="1" dirty="0"/>
              <a:t>Finality</a:t>
            </a:r>
            <a:r>
              <a:rPr lang="en-US" sz="2400" dirty="0"/>
              <a:t>: when delivery is signed for and can't be reversed</a:t>
            </a:r>
          </a:p>
          <a:p>
            <a:r>
              <a:rPr lang="en-US" sz="2400" b="1" dirty="0"/>
              <a:t>Governance</a:t>
            </a:r>
            <a:r>
              <a:rPr lang="en-US" sz="2400" dirty="0"/>
              <a:t>: who runs the courier company and can change its rules</a:t>
            </a:r>
          </a:p>
          <a:p>
            <a:r>
              <a:rPr lang="en-US" sz="2400" b="1" dirty="0"/>
              <a:t>Cost</a:t>
            </a:r>
            <a:r>
              <a:rPr lang="en-US" sz="2400" dirty="0"/>
              <a:t>: the price</a:t>
            </a:r>
          </a:p>
          <a:p>
            <a:r>
              <a:rPr lang="en-US" sz="2400" b="1" dirty="0"/>
              <a:t>Regulatory profile</a:t>
            </a:r>
            <a:r>
              <a:rPr lang="en-US" sz="2400" dirty="0"/>
              <a:t>: whether the authorities allow what you are sending</a:t>
            </a:r>
          </a:p>
          <a:p>
            <a:r>
              <a:rPr lang="en-US" sz="2400" dirty="0"/>
              <a:t>Nobody asks for the </a:t>
            </a:r>
            <a:r>
              <a:rPr lang="en-US" sz="2400" b="1" dirty="0"/>
              <a:t>"best courier." </a:t>
            </a:r>
            <a:r>
              <a:rPr lang="en-US" sz="2400" b="1" i="1" dirty="0">
                <a:solidFill>
                  <a:srgbClr val="FF0000"/>
                </a:solidFill>
              </a:rPr>
              <a:t>They ask what is being sent, how fast, and how much it is worth.</a:t>
            </a:r>
          </a:p>
        </p:txBody>
      </p:sp>
      <p:sp>
        <p:nvSpPr>
          <p:cNvPr id="3" name="Rectangle: Rounded Corners 2">
            <a:extLst>
              <a:ext uri="{FF2B5EF4-FFF2-40B4-BE49-F238E27FC236}">
                <a16:creationId xmlns:a16="http://schemas.microsoft.com/office/drawing/2014/main" id="{D6DEC796-E462-F12F-26D8-6D84A0767E2F}"/>
              </a:ext>
            </a:extLst>
          </p:cNvPr>
          <p:cNvSpPr/>
          <p:nvPr/>
        </p:nvSpPr>
        <p:spPr>
          <a:xfrm>
            <a:off x="430306" y="1164469"/>
            <a:ext cx="10309412" cy="609600"/>
          </a:xfrm>
          <a:prstGeom prst="round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0082A16-8859-9EF7-E269-435A410C6D13}"/>
              </a:ext>
            </a:extLst>
          </p:cNvPr>
          <p:cNvSpPr txBox="1"/>
          <p:nvPr/>
        </p:nvSpPr>
        <p:spPr>
          <a:xfrm>
            <a:off x="165531" y="1436812"/>
            <a:ext cx="6022429" cy="5401479"/>
          </a:xfrm>
          <a:prstGeom prst="rect">
            <a:avLst/>
          </a:prstGeom>
          <a:solidFill>
            <a:schemeClr val="accent2"/>
          </a:solidFill>
        </p:spPr>
        <p:txBody>
          <a:bodyPr wrap="square">
            <a:spAutoFit/>
          </a:bodyPr>
          <a:lstStyle/>
          <a:p>
            <a:r>
              <a:rPr lang="en-US" sz="2300" dirty="0">
                <a:solidFill>
                  <a:schemeClr val="bg1"/>
                </a:solidFill>
              </a:rPr>
              <a:t>To choose the right blockchain</a:t>
            </a:r>
          </a:p>
          <a:p>
            <a:r>
              <a:rPr lang="en-US" sz="2300" b="1" dirty="0">
                <a:solidFill>
                  <a:srgbClr val="002060"/>
                </a:solidFill>
              </a:rPr>
              <a:t>Throughput (Speed &amp; Volume): </a:t>
            </a:r>
            <a:r>
              <a:rPr lang="en-US" sz="2300" dirty="0">
                <a:solidFill>
                  <a:schemeClr val="bg1"/>
                </a:solidFill>
              </a:rPr>
              <a:t>How many transactions can the network handle per second?   </a:t>
            </a:r>
          </a:p>
          <a:p>
            <a:r>
              <a:rPr lang="en-US" sz="2300" b="1" dirty="0">
                <a:solidFill>
                  <a:srgbClr val="002060"/>
                </a:solidFill>
              </a:rPr>
              <a:t>Finality (Permanence): </a:t>
            </a:r>
            <a:r>
              <a:rPr lang="en-US" sz="2300" dirty="0">
                <a:solidFill>
                  <a:schemeClr val="bg1"/>
                </a:solidFill>
              </a:rPr>
              <a:t>How quickly is a transaction locked in permanently so it can never be undone or changed?   </a:t>
            </a:r>
          </a:p>
          <a:p>
            <a:r>
              <a:rPr lang="en-US" sz="2300" b="1" dirty="0">
                <a:solidFill>
                  <a:srgbClr val="002060"/>
                </a:solidFill>
              </a:rPr>
              <a:t>Governance (Control): </a:t>
            </a:r>
            <a:r>
              <a:rPr lang="en-US" sz="2300" dirty="0">
                <a:solidFill>
                  <a:schemeClr val="bg1"/>
                </a:solidFill>
              </a:rPr>
              <a:t>Who decides when and how the system gets updated or changed?   </a:t>
            </a:r>
          </a:p>
          <a:p>
            <a:r>
              <a:rPr lang="en-US" sz="2300" b="1" dirty="0">
                <a:solidFill>
                  <a:srgbClr val="002060"/>
                </a:solidFill>
              </a:rPr>
              <a:t>Cost (Fees): </a:t>
            </a:r>
            <a:r>
              <a:rPr lang="en-US" sz="2300" dirty="0">
                <a:solidFill>
                  <a:schemeClr val="bg1"/>
                </a:solidFill>
              </a:rPr>
              <a:t>How expensive is it to process transactions when lots of people are using the system?   </a:t>
            </a:r>
          </a:p>
          <a:p>
            <a:r>
              <a:rPr lang="en-US" sz="2300" b="1" dirty="0">
                <a:solidFill>
                  <a:srgbClr val="002060"/>
                </a:solidFill>
              </a:rPr>
              <a:t>Regulatory Profile (Compliance): </a:t>
            </a:r>
            <a:r>
              <a:rPr lang="en-US" sz="2300" dirty="0">
                <a:solidFill>
                  <a:schemeClr val="bg1"/>
                </a:solidFill>
              </a:rPr>
              <a:t>Will government regulators and auditors legally allow you to operate your project on this network? </a:t>
            </a:r>
          </a:p>
        </p:txBody>
      </p:sp>
      <p:sp>
        <p:nvSpPr>
          <p:cNvPr id="8" name="TextBox 7">
            <a:extLst>
              <a:ext uri="{FF2B5EF4-FFF2-40B4-BE49-F238E27FC236}">
                <a16:creationId xmlns:a16="http://schemas.microsoft.com/office/drawing/2014/main" id="{16009946-1B97-B5F7-33BF-EF356FAFBAFB}"/>
              </a:ext>
            </a:extLst>
          </p:cNvPr>
          <p:cNvSpPr txBox="1"/>
          <p:nvPr/>
        </p:nvSpPr>
        <p:spPr>
          <a:xfrm>
            <a:off x="6258905" y="1225689"/>
            <a:ext cx="5862149" cy="5632311"/>
          </a:xfrm>
          <a:prstGeom prst="rect">
            <a:avLst/>
          </a:prstGeom>
          <a:solidFill>
            <a:schemeClr val="bg1"/>
          </a:solidFill>
        </p:spPr>
        <p:txBody>
          <a:bodyPr wrap="square">
            <a:spAutoFit/>
          </a:bodyPr>
          <a:lstStyle/>
          <a:p>
            <a:r>
              <a:rPr lang="en-US" sz="2400" b="1" i="1" dirty="0">
                <a:solidFill>
                  <a:srgbClr val="C00000"/>
                </a:solidFill>
              </a:rPr>
              <a:t>Examples of blockchains that excel in different areas</a:t>
            </a:r>
            <a:r>
              <a:rPr lang="en-US" sz="2400" dirty="0">
                <a:solidFill>
                  <a:srgbClr val="C00000"/>
                </a:solidFill>
              </a:rPr>
              <a:t>:   </a:t>
            </a:r>
          </a:p>
          <a:p>
            <a:r>
              <a:rPr lang="en-US" sz="2400" b="1" dirty="0">
                <a:solidFill>
                  <a:srgbClr val="002060"/>
                </a:solidFill>
              </a:rPr>
              <a:t>Ethereum + L2 rollups: </a:t>
            </a:r>
            <a:r>
              <a:rPr lang="en-US" sz="2400" b="1" dirty="0">
                <a:solidFill>
                  <a:srgbClr val="FF0000"/>
                </a:solidFill>
              </a:rPr>
              <a:t>Great for public decentralized apps</a:t>
            </a:r>
            <a:r>
              <a:rPr lang="en-US" sz="2400" dirty="0"/>
              <a:t>, offering strong security while using secondary networks (“Layer 2s”) to lower fees and increase speed.   </a:t>
            </a:r>
          </a:p>
          <a:p>
            <a:r>
              <a:rPr lang="en-US" sz="2400" b="1" dirty="0">
                <a:solidFill>
                  <a:srgbClr val="002060"/>
                </a:solidFill>
              </a:rPr>
              <a:t>Hyperledger Fabric: </a:t>
            </a:r>
            <a:r>
              <a:rPr lang="en-US" sz="2400" b="1" dirty="0">
                <a:solidFill>
                  <a:srgbClr val="FF0000"/>
                </a:solidFill>
              </a:rPr>
              <a:t>A private, “permissioned” </a:t>
            </a:r>
            <a:r>
              <a:rPr lang="en-US" sz="2400" dirty="0"/>
              <a:t>network designed for corporate or enterprise use where only approved members can join.   </a:t>
            </a:r>
          </a:p>
          <a:p>
            <a:r>
              <a:rPr lang="en-US" sz="2400" b="1" dirty="0">
                <a:solidFill>
                  <a:srgbClr val="002060"/>
                </a:solidFill>
              </a:rPr>
              <a:t>Solana</a:t>
            </a:r>
            <a:r>
              <a:rPr lang="en-US" sz="2400" dirty="0"/>
              <a:t>: A </a:t>
            </a:r>
            <a:r>
              <a:rPr lang="en-US" sz="2400" b="1" dirty="0"/>
              <a:t>public network </a:t>
            </a:r>
            <a:r>
              <a:rPr lang="en-US" sz="2400" dirty="0"/>
              <a:t>built specifically for </a:t>
            </a:r>
            <a:r>
              <a:rPr lang="en-US" sz="2400" dirty="0">
                <a:solidFill>
                  <a:srgbClr val="FF0000"/>
                </a:solidFill>
              </a:rPr>
              <a:t>high speed and massive transaction capacity</a:t>
            </a:r>
            <a:r>
              <a:rPr lang="en-US" sz="2400" dirty="0"/>
              <a:t>.   </a:t>
            </a:r>
            <a:r>
              <a:rPr lang="en-US" sz="2400" b="1" dirty="0">
                <a:solidFill>
                  <a:srgbClr val="002060"/>
                </a:solidFill>
              </a:rPr>
              <a:t>Corda</a:t>
            </a:r>
            <a:r>
              <a:rPr lang="en-US" sz="2400" dirty="0"/>
              <a:t>: A </a:t>
            </a:r>
            <a:r>
              <a:rPr lang="en-US" sz="2400" b="1" dirty="0"/>
              <a:t>private</a:t>
            </a:r>
            <a:r>
              <a:rPr lang="en-US" sz="2400" dirty="0"/>
              <a:t>, restricted network tailored </a:t>
            </a:r>
            <a:r>
              <a:rPr lang="en-US" sz="2400" b="1" dirty="0">
                <a:solidFill>
                  <a:srgbClr val="FF0000"/>
                </a:solidFill>
              </a:rPr>
              <a:t>specifically for financial institutions and regulated markets.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P spid="6"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DA05A9-498F-C23C-E0D2-4FF40BEE41DF}"/>
              </a:ext>
            </a:extLst>
          </p:cNvPr>
          <p:cNvSpPr txBox="1"/>
          <p:nvPr/>
        </p:nvSpPr>
        <p:spPr>
          <a:xfrm>
            <a:off x="469392" y="189331"/>
            <a:ext cx="11253216" cy="6479338"/>
          </a:xfrm>
          <a:prstGeom prst="rect">
            <a:avLst/>
          </a:prstGeom>
          <a:noFill/>
        </p:spPr>
        <p:txBody>
          <a:bodyPr wrap="square">
            <a:spAutoFit/>
          </a:bodyPr>
          <a:lstStyle/>
          <a:p>
            <a:pPr algn="just"/>
            <a:r>
              <a:rPr lang="en-US" sz="3600" b="1" dirty="0">
                <a:solidFill>
                  <a:schemeClr val="tx2">
                    <a:lumMod val="75000"/>
                  </a:schemeClr>
                </a:solidFill>
                <a:effectLst>
                  <a:outerShdw blurRad="38100" dist="38100" dir="2700000" algn="tl">
                    <a:srgbClr val="000000">
                      <a:alpha val="43137"/>
                    </a:srgbClr>
                  </a:outerShdw>
                </a:effectLst>
              </a:rPr>
              <a:t>Compare two cases:</a:t>
            </a:r>
          </a:p>
          <a:p>
            <a:pPr algn="just">
              <a:lnSpc>
                <a:spcPct val="150000"/>
              </a:lnSpc>
            </a:pPr>
            <a:r>
              <a:rPr lang="en-US" sz="3200" b="1" i="1" dirty="0"/>
              <a:t>Case A:</a:t>
            </a:r>
            <a:r>
              <a:rPr lang="en-US" sz="3200" dirty="0"/>
              <a:t> a remittance app sending $20 transfers</a:t>
            </a:r>
          </a:p>
          <a:p>
            <a:pPr algn="just">
              <a:lnSpc>
                <a:spcPct val="150000"/>
              </a:lnSpc>
            </a:pPr>
            <a:r>
              <a:rPr lang="en-US" sz="3200" b="1" i="1" dirty="0">
                <a:solidFill>
                  <a:srgbClr val="00B050"/>
                </a:solidFill>
              </a:rPr>
              <a:t>Case B: </a:t>
            </a:r>
            <a:r>
              <a:rPr lang="en-US" sz="3200" dirty="0"/>
              <a:t>a bank settling $50 million trades</a:t>
            </a:r>
          </a:p>
          <a:p>
            <a:pPr algn="just">
              <a:lnSpc>
                <a:spcPct val="150000"/>
              </a:lnSpc>
            </a:pPr>
            <a:r>
              <a:rPr lang="en-US" sz="3200" dirty="0"/>
              <a:t>Which criteria matter most for each?</a:t>
            </a:r>
          </a:p>
          <a:p>
            <a:pPr algn="just">
              <a:lnSpc>
                <a:spcPct val="150000"/>
              </a:lnSpc>
            </a:pPr>
            <a:r>
              <a:rPr lang="en-US" sz="3200" b="1" i="1" dirty="0"/>
              <a:t>Case A </a:t>
            </a:r>
            <a:r>
              <a:rPr lang="en-US" sz="3200" dirty="0"/>
              <a:t>needs </a:t>
            </a:r>
            <a:r>
              <a:rPr lang="en-US" sz="3200" b="1" dirty="0"/>
              <a:t>low cost </a:t>
            </a:r>
            <a:r>
              <a:rPr lang="en-US" sz="3200" dirty="0"/>
              <a:t>and </a:t>
            </a:r>
            <a:r>
              <a:rPr lang="en-US" sz="3200" b="1" dirty="0"/>
              <a:t>high throughput</a:t>
            </a:r>
            <a:r>
              <a:rPr lang="en-US" sz="3200" dirty="0"/>
              <a:t>, and </a:t>
            </a:r>
            <a:r>
              <a:rPr lang="en-US" sz="3200" b="1" i="1" dirty="0">
                <a:solidFill>
                  <a:srgbClr val="00B050"/>
                </a:solidFill>
              </a:rPr>
              <a:t>Case B </a:t>
            </a:r>
            <a:r>
              <a:rPr lang="en-US" sz="3200" dirty="0"/>
              <a:t>needs </a:t>
            </a:r>
            <a:r>
              <a:rPr lang="en-US" sz="3200" b="1" dirty="0"/>
              <a:t>fast finality and regulatory acceptability</a:t>
            </a:r>
            <a:r>
              <a:rPr lang="en-US" sz="3200" dirty="0"/>
              <a:t>.</a:t>
            </a:r>
          </a:p>
          <a:p>
            <a:pPr algn="just">
              <a:lnSpc>
                <a:spcPct val="150000"/>
              </a:lnSpc>
            </a:pPr>
            <a:r>
              <a:rPr lang="en-US" sz="3200" b="1" i="1" dirty="0">
                <a:solidFill>
                  <a:srgbClr val="C00000"/>
                </a:solidFill>
              </a:rPr>
              <a:t>Which candidate might fit each? </a:t>
            </a:r>
          </a:p>
          <a:p>
            <a:pPr algn="just">
              <a:lnSpc>
                <a:spcPct val="150000"/>
              </a:lnSpc>
            </a:pPr>
            <a:r>
              <a:rPr lang="en-US" sz="3200" b="1" dirty="0"/>
              <a:t>Solana or an Ethereum L2 for A</a:t>
            </a:r>
            <a:r>
              <a:rPr lang="en-US" sz="3200" dirty="0"/>
              <a:t>, and </a:t>
            </a:r>
            <a:r>
              <a:rPr lang="en-US" sz="3200" b="1" dirty="0">
                <a:solidFill>
                  <a:srgbClr val="00B050"/>
                </a:solidFill>
              </a:rPr>
              <a:t>Corda or Fabric for B?</a:t>
            </a:r>
            <a:r>
              <a:rPr lang="en-US" sz="3200" dirty="0"/>
              <a:t> </a:t>
            </a:r>
          </a:p>
          <a:p>
            <a:pPr algn="just">
              <a:lnSpc>
                <a:spcPct val="150000"/>
              </a:lnSpc>
            </a:pPr>
            <a:r>
              <a:rPr lang="en-US" sz="3200" b="1" i="1" dirty="0">
                <a:solidFill>
                  <a:srgbClr val="FF0000"/>
                </a:solidFill>
              </a:rPr>
              <a:t>these are starting guesses to be tested, not final answers.</a:t>
            </a:r>
          </a:p>
        </p:txBody>
      </p:sp>
      <p:sp>
        <p:nvSpPr>
          <p:cNvPr id="2" name="Rectangle: Rounded Corners 1">
            <a:extLst>
              <a:ext uri="{FF2B5EF4-FFF2-40B4-BE49-F238E27FC236}">
                <a16:creationId xmlns:a16="http://schemas.microsoft.com/office/drawing/2014/main" id="{EA6D9540-F7B2-5CC7-DC7B-DBB289FCEA05}"/>
              </a:ext>
            </a:extLst>
          </p:cNvPr>
          <p:cNvSpPr/>
          <p:nvPr/>
        </p:nvSpPr>
        <p:spPr>
          <a:xfrm>
            <a:off x="469392" y="5305245"/>
            <a:ext cx="10210110" cy="1302589"/>
          </a:xfrm>
          <a:prstGeom prst="roundRect">
            <a:avLst>
              <a:gd name="adj" fmla="val 29912"/>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500" b="1" dirty="0">
                <a:solidFill>
                  <a:srgbClr val="C0000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498584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6.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91BC560C-E6FB-B993-ECB7-86C74864B9E0}"/>
              </a:ext>
            </a:extLst>
          </p:cNvPr>
          <p:cNvSpPr txBox="1"/>
          <p:nvPr/>
        </p:nvSpPr>
        <p:spPr>
          <a:xfrm>
            <a:off x="6357256" y="3993"/>
            <a:ext cx="5900059" cy="1323439"/>
          </a:xfrm>
          <a:prstGeom prst="rect">
            <a:avLst/>
          </a:prstGeom>
          <a:solidFill>
            <a:schemeClr val="accent3">
              <a:lumMod val="20000"/>
              <a:lumOff val="80000"/>
            </a:schemeClr>
          </a:solidFill>
        </p:spPr>
        <p:txBody>
          <a:bodyPr wrap="square">
            <a:spAutoFit/>
          </a:bodyPr>
          <a:lstStyle/>
          <a:p>
            <a:r>
              <a:rPr lang="en-US" sz="2000" dirty="0"/>
              <a:t>Breaks down</a:t>
            </a:r>
            <a:r>
              <a:rPr lang="en-US" sz="2000" b="1" dirty="0"/>
              <a:t> Fabian </a:t>
            </a:r>
            <a:r>
              <a:rPr lang="en-US" sz="2000" b="1" dirty="0" err="1"/>
              <a:t>Schär’s</a:t>
            </a:r>
            <a:r>
              <a:rPr lang="en-US" sz="2000" b="1" dirty="0"/>
              <a:t> Decentralized Finance (DeFi)</a:t>
            </a:r>
            <a:r>
              <a:rPr lang="en-US" sz="2000" dirty="0"/>
              <a:t> architecture model into 5 distinct layers to </a:t>
            </a:r>
            <a:r>
              <a:rPr lang="en-US" sz="2000" b="1" dirty="0">
                <a:solidFill>
                  <a:srgbClr val="FF0000"/>
                </a:solidFill>
              </a:rPr>
              <a:t>show how different components stack on top of each other, where value is stored, and where risks exist</a:t>
            </a:r>
          </a:p>
        </p:txBody>
      </p:sp>
      <p:sp>
        <p:nvSpPr>
          <p:cNvPr id="5" name="TextBox 4">
            <a:extLst>
              <a:ext uri="{FF2B5EF4-FFF2-40B4-BE49-F238E27FC236}">
                <a16:creationId xmlns:a16="http://schemas.microsoft.com/office/drawing/2014/main" id="{96F8D4E9-8090-1D7B-DBD5-9912AC194476}"/>
              </a:ext>
            </a:extLst>
          </p:cNvPr>
          <p:cNvSpPr txBox="1"/>
          <p:nvPr/>
        </p:nvSpPr>
        <p:spPr>
          <a:xfrm>
            <a:off x="182880" y="68148"/>
            <a:ext cx="11866880" cy="6740307"/>
          </a:xfrm>
          <a:prstGeom prst="rect">
            <a:avLst/>
          </a:prstGeom>
          <a:solidFill>
            <a:schemeClr val="bg1"/>
          </a:solidFill>
        </p:spPr>
        <p:txBody>
          <a:bodyPr wrap="square">
            <a:spAutoFit/>
          </a:bodyPr>
          <a:lstStyle/>
          <a:p>
            <a:r>
              <a:rPr lang="en-US" b="1" dirty="0">
                <a:solidFill>
                  <a:srgbClr val="C00000"/>
                </a:solidFill>
              </a:rPr>
              <a:t>1. Settlement Layer (Layer 1)</a:t>
            </a:r>
          </a:p>
          <a:p>
            <a:pPr marL="285750" indent="-285750">
              <a:buFont typeface="Arial" panose="020B0604020202020204" pitchFamily="34" charset="0"/>
              <a:buChar char="•"/>
            </a:pPr>
            <a:r>
              <a:rPr lang="en-US" dirty="0"/>
              <a:t>The base blockchain itself and its native cryptocurrency. </a:t>
            </a:r>
          </a:p>
          <a:p>
            <a:pPr marL="285750" indent="-285750">
              <a:buFont typeface="Arial" panose="020B0604020202020204" pitchFamily="34" charset="0"/>
              <a:buChar char="•"/>
            </a:pPr>
            <a:r>
              <a:rPr lang="en-US" dirty="0"/>
              <a:t>The foundation that maintains ownership records and guarantees secure transactions.</a:t>
            </a:r>
          </a:p>
          <a:p>
            <a:pPr marL="285750" indent="-285750">
              <a:buFont typeface="Arial" panose="020B0604020202020204" pitchFamily="34" charset="0"/>
              <a:buChar char="•"/>
            </a:pPr>
            <a:r>
              <a:rPr lang="en-US" b="1" i="1" dirty="0">
                <a:solidFill>
                  <a:srgbClr val="C00000"/>
                </a:solidFill>
              </a:rPr>
              <a:t>Ex</a:t>
            </a:r>
            <a:r>
              <a:rPr lang="en-US" dirty="0"/>
              <a:t>: The Ethereum blockchain and its native coin, ETH (or Bitcoin and BTC).</a:t>
            </a:r>
          </a:p>
          <a:p>
            <a:r>
              <a:rPr lang="en-US" b="1" dirty="0">
                <a:solidFill>
                  <a:srgbClr val="C00000"/>
                </a:solidFill>
              </a:rPr>
              <a:t>2. Asset Layer (Layer 2)</a:t>
            </a:r>
          </a:p>
          <a:p>
            <a:pPr marL="285750" indent="-285750">
              <a:buFont typeface="Arial" panose="020B0604020202020204" pitchFamily="34" charset="0"/>
              <a:buChar char="•"/>
            </a:pPr>
            <a:r>
              <a:rPr lang="en-US" dirty="0"/>
              <a:t>Everything issued or created on top of that base blockchain. </a:t>
            </a:r>
          </a:p>
          <a:p>
            <a:pPr marL="285750" indent="-285750">
              <a:buFont typeface="Arial" panose="020B0604020202020204" pitchFamily="34" charset="0"/>
              <a:buChar char="•"/>
            </a:pPr>
            <a:r>
              <a:rPr lang="en-US" dirty="0"/>
              <a:t>Custom digital tokens, assets, or NFTs minted on the base network.</a:t>
            </a:r>
          </a:p>
          <a:p>
            <a:pPr marL="285750" indent="-285750">
              <a:buFont typeface="Arial" panose="020B0604020202020204" pitchFamily="34" charset="0"/>
              <a:buChar char="•"/>
            </a:pPr>
            <a:r>
              <a:rPr lang="en-US" b="1" i="1" dirty="0">
                <a:solidFill>
                  <a:srgbClr val="C00000"/>
                </a:solidFill>
              </a:rPr>
              <a:t>Ex</a:t>
            </a:r>
            <a:r>
              <a:rPr lang="en-US" dirty="0"/>
              <a:t>: Stablecoins like USDC / USDT, governance tokens like UNI, or NFTs.</a:t>
            </a:r>
          </a:p>
          <a:p>
            <a:r>
              <a:rPr lang="en-US" b="1" dirty="0">
                <a:solidFill>
                  <a:srgbClr val="C00000"/>
                </a:solidFill>
              </a:rPr>
              <a:t>3. Protocol Layer (Layer 3)</a:t>
            </a:r>
          </a:p>
          <a:p>
            <a:pPr marL="285750" indent="-285750">
              <a:buFont typeface="Arial" panose="020B0604020202020204" pitchFamily="34" charset="0"/>
              <a:buChar char="•"/>
            </a:pPr>
            <a:r>
              <a:rPr lang="en-US" dirty="0"/>
              <a:t>The rules and smart contract standards for specific financial use cases. </a:t>
            </a:r>
          </a:p>
          <a:p>
            <a:pPr marL="285750" indent="-285750">
              <a:buFont typeface="Arial" panose="020B0604020202020204" pitchFamily="34" charset="0"/>
              <a:buChar char="•"/>
            </a:pPr>
            <a:r>
              <a:rPr lang="en-US" dirty="0"/>
              <a:t>The underlying backend logic and smart contracts that define how financial activities work (e.g., lending, borrowing, or trading).</a:t>
            </a:r>
          </a:p>
          <a:p>
            <a:pPr marL="285750" indent="-285750">
              <a:buFont typeface="Arial" panose="020B0604020202020204" pitchFamily="34" charset="0"/>
              <a:buChar char="•"/>
            </a:pPr>
            <a:r>
              <a:rPr lang="en-US" b="1" i="1" dirty="0">
                <a:solidFill>
                  <a:srgbClr val="C00000"/>
                </a:solidFill>
              </a:rPr>
              <a:t>Ex</a:t>
            </a:r>
            <a:r>
              <a:rPr lang="en-US" dirty="0"/>
              <a:t>: Uniswap (liquidity pool smart contracts) or </a:t>
            </a:r>
            <a:r>
              <a:rPr lang="en-US" dirty="0" err="1"/>
              <a:t>Aave</a:t>
            </a:r>
            <a:r>
              <a:rPr lang="en-US" dirty="0"/>
              <a:t> (decentralized lending protocol).</a:t>
            </a:r>
          </a:p>
          <a:p>
            <a:r>
              <a:rPr lang="en-US" b="1" dirty="0">
                <a:solidFill>
                  <a:srgbClr val="C00000"/>
                </a:solidFill>
              </a:rPr>
              <a:t>4. Application Layer (Layer 4)</a:t>
            </a:r>
          </a:p>
          <a:p>
            <a:pPr marL="285750" indent="-285750">
              <a:buFont typeface="Arial" panose="020B0604020202020204" pitchFamily="34" charset="0"/>
              <a:buChar char="•"/>
            </a:pPr>
            <a:r>
              <a:rPr lang="en-US" dirty="0"/>
              <a:t>The products and user interfaces a user actually interacts with. </a:t>
            </a:r>
          </a:p>
          <a:p>
            <a:pPr marL="285750" indent="-285750">
              <a:buFont typeface="Arial" panose="020B0604020202020204" pitchFamily="34" charset="0"/>
              <a:buChar char="•"/>
            </a:pPr>
            <a:r>
              <a:rPr lang="en-US" dirty="0"/>
              <a:t>The front-end website or mobile app interface that lets users easily interact with the underlying protocols without writing code.</a:t>
            </a:r>
          </a:p>
          <a:p>
            <a:pPr marL="285750" indent="-285750">
              <a:buFont typeface="Arial" panose="020B0604020202020204" pitchFamily="34" charset="0"/>
              <a:buChar char="•"/>
            </a:pPr>
            <a:r>
              <a:rPr lang="en-US" b="1" i="1" dirty="0">
                <a:solidFill>
                  <a:srgbClr val="C00000"/>
                </a:solidFill>
              </a:rPr>
              <a:t>Ex</a:t>
            </a:r>
            <a:r>
              <a:rPr lang="en-US" dirty="0"/>
              <a:t>: The app.uniswap.org website, MetaMask interface, or web dashboards for lending platforms.</a:t>
            </a:r>
          </a:p>
          <a:p>
            <a:r>
              <a:rPr lang="en-US" b="1" dirty="0">
                <a:solidFill>
                  <a:srgbClr val="C00000"/>
                </a:solidFill>
              </a:rPr>
              <a:t>5. Aggregation Layer (Layer 5)</a:t>
            </a:r>
          </a:p>
          <a:p>
            <a:pPr marL="285750" indent="-285750">
              <a:buFont typeface="Arial" panose="020B0604020202020204" pitchFamily="34" charset="0"/>
              <a:buChar char="•"/>
            </a:pPr>
            <a:r>
              <a:rPr lang="en-US" dirty="0"/>
              <a:t>Services that connect multiple applications together into one place. </a:t>
            </a:r>
          </a:p>
          <a:p>
            <a:pPr marL="285750" indent="-285750">
              <a:buFont typeface="Arial" panose="020B0604020202020204" pitchFamily="34" charset="0"/>
              <a:buChar char="•"/>
            </a:pPr>
            <a:r>
              <a:rPr lang="en-US" dirty="0"/>
              <a:t>Platforms that search across different Layer 4 applications to find you the best prices, highest yields, or combine multiple services in one dashboard.</a:t>
            </a:r>
          </a:p>
          <a:p>
            <a:pPr marL="285750" indent="-285750">
              <a:buFont typeface="Arial" panose="020B0604020202020204" pitchFamily="34" charset="0"/>
              <a:buChar char="•"/>
            </a:pPr>
            <a:r>
              <a:rPr lang="en-US" b="1" i="1" dirty="0">
                <a:solidFill>
                  <a:srgbClr val="C00000"/>
                </a:solidFill>
              </a:rPr>
              <a:t>Ex</a:t>
            </a:r>
            <a:r>
              <a:rPr lang="en-US" dirty="0"/>
              <a:t>: 1inch (searches across exchanges to find the best swap price) or Zapper / Zerion (tracks your entire crypto portfolio across multiple DeFi apps).</a:t>
            </a:r>
          </a:p>
        </p:txBody>
      </p:sp>
      <p:pic>
        <p:nvPicPr>
          <p:cNvPr id="6" name="Picture 5">
            <a:extLst>
              <a:ext uri="{FF2B5EF4-FFF2-40B4-BE49-F238E27FC236}">
                <a16:creationId xmlns:a16="http://schemas.microsoft.com/office/drawing/2014/main" id="{A96DA225-95B2-B262-ECF7-89BB9934F9E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0640" y="296824"/>
            <a:ext cx="11643360" cy="621764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B327C0-07B4-02CA-88B9-99C6FC337F56}"/>
              </a:ext>
            </a:extLst>
          </p:cNvPr>
          <p:cNvSpPr txBox="1"/>
          <p:nvPr/>
        </p:nvSpPr>
        <p:spPr>
          <a:xfrm>
            <a:off x="325915" y="320278"/>
            <a:ext cx="11540169" cy="6124754"/>
          </a:xfrm>
          <a:prstGeom prst="rect">
            <a:avLst/>
          </a:prstGeom>
          <a:noFill/>
        </p:spPr>
        <p:txBody>
          <a:bodyPr wrap="square">
            <a:spAutoFit/>
          </a:bodyPr>
          <a:lstStyle/>
          <a:p>
            <a:r>
              <a:rPr lang="en-US" sz="2000" b="1" dirty="0">
                <a:solidFill>
                  <a:srgbClr val="C00000"/>
                </a:solidFill>
              </a:rPr>
              <a:t>The Banking App Analogy</a:t>
            </a:r>
          </a:p>
          <a:p>
            <a:r>
              <a:rPr lang="en-US" sz="2000" dirty="0"/>
              <a:t>Imagine your phone app says you have </a:t>
            </a:r>
            <a:r>
              <a:rPr lang="en-US" sz="2000" b="1" dirty="0"/>
              <a:t>$0</a:t>
            </a:r>
            <a:r>
              <a:rPr lang="en-US" sz="2000" dirty="0"/>
              <a:t> in your bank account, but you know you should have </a:t>
            </a:r>
            <a:r>
              <a:rPr lang="en-US" sz="2000" b="1" dirty="0"/>
              <a:t>$1,000</a:t>
            </a:r>
            <a:r>
              <a:rPr lang="en-US" sz="2000" dirty="0"/>
              <a:t>. </a:t>
            </a:r>
          </a:p>
          <a:p>
            <a:r>
              <a:rPr lang="en-US" sz="2000" dirty="0"/>
              <a:t>Before you can fix it, you have to figure out where the failure actually happened:</a:t>
            </a:r>
          </a:p>
          <a:p>
            <a:endParaRPr lang="en-US" sz="2000" dirty="0"/>
          </a:p>
          <a:p>
            <a:r>
              <a:rPr lang="en-US" sz="2400" b="1" dirty="0"/>
              <a:t>Was it just the app software (Application Layer)?</a:t>
            </a:r>
          </a:p>
          <a:p>
            <a:r>
              <a:rPr lang="en-US" sz="2000" b="1" dirty="0">
                <a:solidFill>
                  <a:srgbClr val="C00000"/>
                </a:solidFill>
              </a:rPr>
              <a:t>Scenario</a:t>
            </a:r>
            <a:r>
              <a:rPr lang="en-US" sz="2000" dirty="0"/>
              <a:t>: The app crashed or had a visual glitch, but the bank’s main computer still shows your </a:t>
            </a:r>
            <a:r>
              <a:rPr lang="en-US" sz="2000" b="1" dirty="0"/>
              <a:t>$1,000 </a:t>
            </a:r>
            <a:r>
              <a:rPr lang="en-US" sz="2000" dirty="0"/>
              <a:t>is safe.</a:t>
            </a:r>
          </a:p>
          <a:p>
            <a:r>
              <a:rPr lang="en-US" sz="2000" b="1" dirty="0">
                <a:solidFill>
                  <a:srgbClr val="C00000"/>
                </a:solidFill>
              </a:rPr>
              <a:t>How to fix it: </a:t>
            </a:r>
            <a:r>
              <a:rPr lang="en-US" sz="2000" dirty="0"/>
              <a:t>Re-install or update the phone app. The underlying system was fine.</a:t>
            </a:r>
          </a:p>
          <a:p>
            <a:endParaRPr lang="en-US" sz="2000" dirty="0"/>
          </a:p>
          <a:p>
            <a:r>
              <a:rPr lang="en-US" sz="2400" b="1" dirty="0"/>
              <a:t>Was it a policy/contract rule (Protocol Layer)?</a:t>
            </a:r>
          </a:p>
          <a:p>
            <a:r>
              <a:rPr lang="en-US" sz="2000" b="1" dirty="0">
                <a:solidFill>
                  <a:srgbClr val="C00000"/>
                </a:solidFill>
              </a:rPr>
              <a:t>Scenario</a:t>
            </a:r>
            <a:r>
              <a:rPr lang="en-US" sz="2000" dirty="0"/>
              <a:t>: The app worked fine, but an automated bank rule incorrectly triggered an overdraft fee or froze your account.</a:t>
            </a:r>
          </a:p>
          <a:p>
            <a:r>
              <a:rPr lang="en-US" sz="2000" b="1" dirty="0">
                <a:solidFill>
                  <a:srgbClr val="C00000"/>
                </a:solidFill>
              </a:rPr>
              <a:t>How to fix it: </a:t>
            </a:r>
            <a:r>
              <a:rPr lang="en-US" sz="2000" dirty="0"/>
              <a:t>Rewrite or appeal the rule/contract logic.</a:t>
            </a:r>
          </a:p>
          <a:p>
            <a:endParaRPr lang="en-US" sz="2000" dirty="0"/>
          </a:p>
          <a:p>
            <a:r>
              <a:rPr lang="en-US" sz="2400" b="1" dirty="0"/>
              <a:t>Was it the central banking network itself (Settlement Layer)?</a:t>
            </a:r>
          </a:p>
          <a:p>
            <a:r>
              <a:rPr lang="en-US" sz="2000" b="1" dirty="0">
                <a:solidFill>
                  <a:srgbClr val="C00000"/>
                </a:solidFill>
              </a:rPr>
              <a:t>Scenario:</a:t>
            </a:r>
            <a:r>
              <a:rPr lang="en-US" sz="2000" dirty="0"/>
              <a:t> The entire national banking system went offline, or someone hacked the master ledger that keeps track of everyone’s money.</a:t>
            </a:r>
          </a:p>
          <a:p>
            <a:r>
              <a:rPr lang="en-US" sz="2000" b="1" dirty="0">
                <a:solidFill>
                  <a:srgbClr val="C00000"/>
                </a:solidFill>
              </a:rPr>
              <a:t>How to fix it:</a:t>
            </a:r>
            <a:r>
              <a:rPr lang="en-US" sz="2000" dirty="0"/>
              <a:t> No phone app update can save you. The foundational platform itself failed.</a:t>
            </a:r>
          </a:p>
          <a:p>
            <a:r>
              <a:rPr lang="en-US" sz="2000" b="1" dirty="0">
                <a:solidFill>
                  <a:srgbClr val="C00000"/>
                </a:solidFill>
              </a:rPr>
              <a:t>The Main Idea: </a:t>
            </a:r>
            <a:r>
              <a:rPr lang="en-US" sz="2000" dirty="0"/>
              <a:t>You can’t fix a problem until you know which layer caused it. Updating a phone app won't help if the master bank ledger was destroyed.</a:t>
            </a:r>
          </a:p>
        </p:txBody>
      </p:sp>
    </p:spTree>
    <p:extLst>
      <p:ext uri="{BB962C8B-B14F-4D97-AF65-F5344CB8AC3E}">
        <p14:creationId xmlns:p14="http://schemas.microsoft.com/office/powerpoint/2010/main" val="2957470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E27A7-62C0-1207-F0BC-E8680CEB89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205D65-75AB-6648-7742-7BCC14F4673E}"/>
              </a:ext>
            </a:extLst>
          </p:cNvPr>
          <p:cNvSpPr txBox="1"/>
          <p:nvPr/>
        </p:nvSpPr>
        <p:spPr>
          <a:xfrm>
            <a:off x="487680" y="70197"/>
            <a:ext cx="11155680" cy="6801862"/>
          </a:xfrm>
          <a:prstGeom prst="rect">
            <a:avLst/>
          </a:prstGeom>
          <a:noFill/>
        </p:spPr>
        <p:txBody>
          <a:bodyPr wrap="square">
            <a:spAutoFit/>
          </a:bodyPr>
          <a:lstStyle/>
          <a:p>
            <a:r>
              <a:rPr lang="en-US" sz="2400" b="1" dirty="0">
                <a:solidFill>
                  <a:srgbClr val="C00000"/>
                </a:solidFill>
              </a:rPr>
              <a:t>Upgrades Controlled by Outsiders</a:t>
            </a:r>
          </a:p>
          <a:p>
            <a:r>
              <a:rPr lang="en-US" sz="2400" dirty="0"/>
              <a:t>Imagine a company in Bahrain decides to run its digital payments on a public blockchain network like Ethereum.</a:t>
            </a:r>
          </a:p>
          <a:p>
            <a:r>
              <a:rPr lang="en-US" sz="2400" b="1" dirty="0">
                <a:solidFill>
                  <a:srgbClr val="C00000"/>
                </a:solidFill>
              </a:rPr>
              <a:t>The Concern: </a:t>
            </a:r>
            <a:r>
              <a:rPr lang="en-US" sz="2400" dirty="0"/>
              <a:t>Suppose developers or validator node operators in the US or Europe vote to change the base rules of that blockchain (e.g., changing transaction fees, altering consensus mechanisms, or enforcing rules that conflict with Bahrain's local regulations).</a:t>
            </a:r>
          </a:p>
          <a:p>
            <a:endParaRPr lang="en-US" sz="2800" b="1" dirty="0"/>
          </a:p>
          <a:p>
            <a:r>
              <a:rPr lang="en-US" sz="2400" b="1" dirty="0"/>
              <a:t>Which layer is that?</a:t>
            </a:r>
          </a:p>
          <a:p>
            <a:r>
              <a:rPr lang="en-US" sz="2400" b="1" dirty="0">
                <a:solidFill>
                  <a:srgbClr val="C00000"/>
                </a:solidFill>
              </a:rPr>
              <a:t>Settlement Layer (Layer 1): </a:t>
            </a:r>
            <a:r>
              <a:rPr lang="en-US" sz="2400" dirty="0"/>
              <a:t>The rules being changed belong to the base blockchain network itself, where transactions are permanently written and verified. </a:t>
            </a:r>
          </a:p>
          <a:p>
            <a:endParaRPr lang="en-US" sz="2400" b="1" dirty="0"/>
          </a:p>
          <a:p>
            <a:r>
              <a:rPr lang="en-US" sz="2400" b="1" dirty="0"/>
              <a:t>Which criterion from the previous slide does it match?</a:t>
            </a:r>
          </a:p>
          <a:p>
            <a:r>
              <a:rPr lang="en-US" sz="2400" b="1" dirty="0">
                <a:solidFill>
                  <a:srgbClr val="C00000"/>
                </a:solidFill>
              </a:rPr>
              <a:t>Governance</a:t>
            </a:r>
            <a:r>
              <a:rPr lang="en-US" sz="2400" dirty="0"/>
              <a:t>: The previous slide defined Governance as "who controls upgrades". </a:t>
            </a:r>
          </a:p>
          <a:p>
            <a:r>
              <a:rPr lang="en-US" sz="2400" b="1" dirty="0">
                <a:solidFill>
                  <a:srgbClr val="C00000"/>
                </a:solidFill>
              </a:rPr>
              <a:t>Why does this matter? </a:t>
            </a:r>
            <a:r>
              <a:rPr lang="en-US" sz="2400" dirty="0"/>
              <a:t>If the company in Bahrain doesn't like those base-level changes, editing their own application code won't help. </a:t>
            </a:r>
          </a:p>
          <a:p>
            <a:r>
              <a:rPr lang="en-US" sz="2400" dirty="0"/>
              <a:t>Because the control rests with external developers/validators at Layer 1 (Settlement), the company's only fix is to migrate off that blockchain entirely and pick a candidate chain with local or permissioned governance (like Hyperledger Fabric). </a:t>
            </a:r>
          </a:p>
        </p:txBody>
      </p:sp>
    </p:spTree>
    <p:extLst>
      <p:ext uri="{BB962C8B-B14F-4D97-AF65-F5344CB8AC3E}">
        <p14:creationId xmlns:p14="http://schemas.microsoft.com/office/powerpoint/2010/main" val="2743004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7.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B4B72052-FF4B-8B6E-238D-A977F26E5C37}"/>
              </a:ext>
            </a:extLst>
          </p:cNvPr>
          <p:cNvSpPr txBox="1"/>
          <p:nvPr/>
        </p:nvSpPr>
        <p:spPr>
          <a:xfrm>
            <a:off x="624840" y="1286639"/>
            <a:ext cx="10942320" cy="3913059"/>
          </a:xfrm>
          <a:prstGeom prst="rect">
            <a:avLst/>
          </a:prstGeom>
          <a:solidFill>
            <a:schemeClr val="bg1"/>
          </a:solidFill>
        </p:spPr>
        <p:txBody>
          <a:bodyPr wrap="square">
            <a:spAutoFit/>
          </a:bodyPr>
          <a:lstStyle/>
          <a:p>
            <a:pPr algn="just">
              <a:lnSpc>
                <a:spcPct val="150000"/>
              </a:lnSpc>
            </a:pPr>
            <a:r>
              <a:rPr lang="en-US" sz="2400" dirty="0"/>
              <a:t>Two teams choose different chains for the same payment corridor:</a:t>
            </a:r>
          </a:p>
          <a:p>
            <a:pPr algn="just">
              <a:lnSpc>
                <a:spcPct val="150000"/>
              </a:lnSpc>
            </a:pPr>
            <a:r>
              <a:rPr lang="en-US" sz="2400" b="1" i="1" dirty="0">
                <a:solidFill>
                  <a:srgbClr val="C00000"/>
                </a:solidFill>
              </a:rPr>
              <a:t>Team A </a:t>
            </a:r>
            <a:r>
              <a:rPr lang="en-US" sz="2400" dirty="0"/>
              <a:t>weighted </a:t>
            </a:r>
            <a:r>
              <a:rPr lang="en-US" sz="2400" b="1" dirty="0">
                <a:solidFill>
                  <a:srgbClr val="FF0000"/>
                </a:solidFill>
              </a:rPr>
              <a:t>cost most heavily </a:t>
            </a:r>
            <a:r>
              <a:rPr lang="en-US" sz="2400" dirty="0"/>
              <a:t>and picked a </a:t>
            </a:r>
            <a:r>
              <a:rPr lang="en-US" sz="2400" b="1" dirty="0"/>
              <a:t>cheaper public chain</a:t>
            </a:r>
            <a:r>
              <a:rPr lang="en-US" sz="2400" dirty="0"/>
              <a:t>.</a:t>
            </a:r>
          </a:p>
          <a:p>
            <a:pPr algn="just">
              <a:lnSpc>
                <a:spcPct val="150000"/>
              </a:lnSpc>
            </a:pPr>
            <a:r>
              <a:rPr lang="en-US" sz="2400" b="1" i="1" dirty="0">
                <a:solidFill>
                  <a:srgbClr val="C00000"/>
                </a:solidFill>
              </a:rPr>
              <a:t>Team B </a:t>
            </a:r>
            <a:r>
              <a:rPr lang="en-US" sz="2400" dirty="0"/>
              <a:t>weighted </a:t>
            </a:r>
            <a:r>
              <a:rPr lang="en-US" sz="2400" b="1" dirty="0">
                <a:solidFill>
                  <a:srgbClr val="FF0000"/>
                </a:solidFill>
              </a:rPr>
              <a:t>regulatory profile most heavily </a:t>
            </a:r>
            <a:r>
              <a:rPr lang="en-US" sz="2400" dirty="0"/>
              <a:t>and picked a </a:t>
            </a:r>
            <a:r>
              <a:rPr lang="en-US" sz="2400" b="1" dirty="0"/>
              <a:t>permissioned chain</a:t>
            </a:r>
            <a:r>
              <a:rPr lang="en-US" sz="2400" dirty="0"/>
              <a:t>.</a:t>
            </a:r>
          </a:p>
          <a:p>
            <a:pPr algn="just">
              <a:lnSpc>
                <a:spcPct val="150000"/>
              </a:lnSpc>
            </a:pPr>
            <a:r>
              <a:rPr lang="en-US" sz="2400" dirty="0"/>
              <a:t>Both can be defended, because the weights are stated. </a:t>
            </a:r>
          </a:p>
          <a:p>
            <a:pPr algn="just">
              <a:lnSpc>
                <a:spcPct val="150000"/>
              </a:lnSpc>
            </a:pPr>
            <a:r>
              <a:rPr lang="en-US" sz="2400" b="1" dirty="0">
                <a:solidFill>
                  <a:srgbClr val="FF0000"/>
                </a:solidFill>
              </a:rPr>
              <a:t>"Which team is right?" </a:t>
            </a:r>
          </a:p>
          <a:p>
            <a:pPr algn="just">
              <a:lnSpc>
                <a:spcPct val="150000"/>
              </a:lnSpc>
            </a:pPr>
            <a:r>
              <a:rPr lang="en-US" sz="2400" dirty="0"/>
              <a:t>The answer is neither is wrong. The real question is: </a:t>
            </a:r>
            <a:r>
              <a:rPr lang="en-US" sz="2400" b="1" u="sng" dirty="0">
                <a:solidFill>
                  <a:srgbClr val="C00000"/>
                </a:solidFill>
              </a:rPr>
              <a:t>“Which weighting suits the firm’s situation?”</a:t>
            </a:r>
            <a:r>
              <a:rPr lang="en-US" sz="2400" dirty="0"/>
              <a:t> That is the main lesson of the day.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8.png"/>
          <p:cNvPicPr>
            <a:picLocks noChangeAspect="1"/>
          </p:cNvPicPr>
          <p:nvPr/>
        </p:nvPicPr>
        <p:blipFill>
          <a:blip r:embed="rId3"/>
          <a:stretch>
            <a:fillRect/>
          </a:stretch>
        </p:blipFill>
        <p:spPr>
          <a:xfrm>
            <a:off x="0" y="0"/>
            <a:ext cx="12192000" cy="6858000"/>
          </a:xfrm>
          <a:prstGeom prst="rect">
            <a:avLst/>
          </a:prstGeom>
        </p:spPr>
      </p:pic>
      <p:cxnSp>
        <p:nvCxnSpPr>
          <p:cNvPr id="4" name="Straight Arrow Connector 3">
            <a:extLst>
              <a:ext uri="{FF2B5EF4-FFF2-40B4-BE49-F238E27FC236}">
                <a16:creationId xmlns:a16="http://schemas.microsoft.com/office/drawing/2014/main" id="{B91AA9EF-7385-D24A-8968-430DBFAB12FC}"/>
              </a:ext>
            </a:extLst>
          </p:cNvPr>
          <p:cNvCxnSpPr>
            <a:cxnSpLocks/>
          </p:cNvCxnSpPr>
          <p:nvPr/>
        </p:nvCxnSpPr>
        <p:spPr>
          <a:xfrm>
            <a:off x="5161280" y="2418080"/>
            <a:ext cx="549656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 name="Straight Arrow Connector 4">
            <a:extLst>
              <a:ext uri="{FF2B5EF4-FFF2-40B4-BE49-F238E27FC236}">
                <a16:creationId xmlns:a16="http://schemas.microsoft.com/office/drawing/2014/main" id="{1B825278-33B3-D444-4C03-414DCA742146}"/>
              </a:ext>
            </a:extLst>
          </p:cNvPr>
          <p:cNvCxnSpPr>
            <a:cxnSpLocks/>
          </p:cNvCxnSpPr>
          <p:nvPr/>
        </p:nvCxnSpPr>
        <p:spPr>
          <a:xfrm>
            <a:off x="934720" y="2692400"/>
            <a:ext cx="6502400" cy="0"/>
          </a:xfrm>
          <a:prstGeom prst="straightConnector1">
            <a:avLst/>
          </a:prstGeom>
          <a:ln>
            <a:solidFill>
              <a:srgbClr val="7030A0"/>
            </a:solidFill>
            <a:tailEnd type="triangle"/>
          </a:ln>
        </p:spPr>
        <p:style>
          <a:lnRef idx="2">
            <a:schemeClr val="accent2"/>
          </a:lnRef>
          <a:fillRef idx="0">
            <a:schemeClr val="accent2"/>
          </a:fillRef>
          <a:effectRef idx="1">
            <a:schemeClr val="accent2"/>
          </a:effectRef>
          <a:fontRef idx="minor">
            <a:schemeClr val="tx1"/>
          </a:fontRef>
        </p:style>
      </p:cxnSp>
      <p:cxnSp>
        <p:nvCxnSpPr>
          <p:cNvPr id="8" name="Straight Arrow Connector 7">
            <a:extLst>
              <a:ext uri="{FF2B5EF4-FFF2-40B4-BE49-F238E27FC236}">
                <a16:creationId xmlns:a16="http://schemas.microsoft.com/office/drawing/2014/main" id="{BF02DA42-8EDA-46FD-61C9-50BDF21B5CF3}"/>
              </a:ext>
            </a:extLst>
          </p:cNvPr>
          <p:cNvCxnSpPr>
            <a:cxnSpLocks/>
          </p:cNvCxnSpPr>
          <p:nvPr/>
        </p:nvCxnSpPr>
        <p:spPr>
          <a:xfrm>
            <a:off x="7650480" y="2692400"/>
            <a:ext cx="3769360" cy="0"/>
          </a:xfrm>
          <a:prstGeom prst="straightConnector1">
            <a:avLst/>
          </a:prstGeom>
          <a:ln>
            <a:solidFill>
              <a:srgbClr val="FFFF00"/>
            </a:solidFill>
            <a:tailEnd type="triangle"/>
          </a:ln>
        </p:spPr>
        <p:style>
          <a:lnRef idx="2">
            <a:schemeClr val="accent2"/>
          </a:lnRef>
          <a:fillRef idx="0">
            <a:schemeClr val="accent2"/>
          </a:fillRef>
          <a:effectRef idx="1">
            <a:schemeClr val="accent2"/>
          </a:effectRef>
          <a:fontRef idx="minor">
            <a:schemeClr val="tx1"/>
          </a:fontRef>
        </p:style>
      </p:cxnSp>
      <p:cxnSp>
        <p:nvCxnSpPr>
          <p:cNvPr id="11" name="Straight Arrow Connector 10">
            <a:extLst>
              <a:ext uri="{FF2B5EF4-FFF2-40B4-BE49-F238E27FC236}">
                <a16:creationId xmlns:a16="http://schemas.microsoft.com/office/drawing/2014/main" id="{EAA3209D-0A5D-E59A-A209-25059416305B}"/>
              </a:ext>
            </a:extLst>
          </p:cNvPr>
          <p:cNvCxnSpPr>
            <a:cxnSpLocks/>
          </p:cNvCxnSpPr>
          <p:nvPr/>
        </p:nvCxnSpPr>
        <p:spPr>
          <a:xfrm>
            <a:off x="934720" y="3007360"/>
            <a:ext cx="14732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0A431150-A386-B694-2C04-D293C4E96A96}"/>
              </a:ext>
            </a:extLst>
          </p:cNvPr>
          <p:cNvCxnSpPr>
            <a:cxnSpLocks/>
          </p:cNvCxnSpPr>
          <p:nvPr/>
        </p:nvCxnSpPr>
        <p:spPr>
          <a:xfrm>
            <a:off x="2560320" y="3007360"/>
            <a:ext cx="5171440" cy="0"/>
          </a:xfrm>
          <a:prstGeom prst="straightConnector1">
            <a:avLst/>
          </a:prstGeom>
          <a:ln>
            <a:solidFill>
              <a:srgbClr val="002060"/>
            </a:solidFill>
            <a:tailEnd type="triangle"/>
          </a:ln>
        </p:spPr>
        <p:style>
          <a:lnRef idx="3">
            <a:schemeClr val="dk1"/>
          </a:lnRef>
          <a:fillRef idx="0">
            <a:schemeClr val="dk1"/>
          </a:fillRef>
          <a:effectRef idx="2">
            <a:schemeClr val="dk1"/>
          </a:effectRef>
          <a:fontRef idx="minor">
            <a:schemeClr val="tx1"/>
          </a:fontRef>
        </p:style>
      </p:cxnSp>
      <p:sp>
        <p:nvSpPr>
          <p:cNvPr id="16" name="TextBox 15">
            <a:extLst>
              <a:ext uri="{FF2B5EF4-FFF2-40B4-BE49-F238E27FC236}">
                <a16:creationId xmlns:a16="http://schemas.microsoft.com/office/drawing/2014/main" id="{A5B9765E-9CC7-8EE7-940E-2E4BB1F210B9}"/>
              </a:ext>
            </a:extLst>
          </p:cNvPr>
          <p:cNvSpPr txBox="1"/>
          <p:nvPr/>
        </p:nvSpPr>
        <p:spPr>
          <a:xfrm>
            <a:off x="357005" y="4461471"/>
            <a:ext cx="11349040" cy="923330"/>
          </a:xfrm>
          <a:prstGeom prst="rect">
            <a:avLst/>
          </a:prstGeom>
          <a:solidFill>
            <a:schemeClr val="bg2">
              <a:lumMod val="90000"/>
            </a:schemeClr>
          </a:solidFill>
        </p:spPr>
        <p:txBody>
          <a:bodyPr wrap="square">
            <a:spAutoFit/>
          </a:bodyPr>
          <a:lstStyle/>
          <a:p>
            <a:r>
              <a:rPr lang="en-US" b="1" i="1" dirty="0">
                <a:solidFill>
                  <a:srgbClr val="FF0000"/>
                </a:solidFill>
              </a:rPr>
              <a:t>Why: </a:t>
            </a:r>
            <a:r>
              <a:rPr lang="en-US" dirty="0"/>
              <a:t>A chain can be as </a:t>
            </a:r>
            <a:r>
              <a:rPr lang="en-US" b="1" dirty="0"/>
              <a:t>fast</a:t>
            </a:r>
            <a:r>
              <a:rPr lang="en-US" dirty="0"/>
              <a:t> and </a:t>
            </a:r>
            <a:r>
              <a:rPr lang="en-US" b="1" dirty="0"/>
              <a:t>cheap</a:t>
            </a:r>
            <a:r>
              <a:rPr lang="en-US" dirty="0"/>
              <a:t> as Solana or as secure as Ethereum, but if government regulators won’t legally allow a bank to put customer data or financial assets </a:t>
            </a:r>
            <a:r>
              <a:rPr lang="en-US" b="1" dirty="0"/>
              <a:t>on a public, permissionless network</a:t>
            </a:r>
            <a:r>
              <a:rPr lang="en-US" dirty="0"/>
              <a:t>, </a:t>
            </a:r>
            <a:r>
              <a:rPr lang="en-US" b="1" u="sng" dirty="0">
                <a:solidFill>
                  <a:srgbClr val="FF0000"/>
                </a:solidFill>
              </a:rPr>
              <a:t>those speed and cost advantages don’t matter. </a:t>
            </a:r>
            <a:r>
              <a:rPr lang="en-US" b="1" dirty="0"/>
              <a:t>The bank must choose a regulated or permissioned alternative like Corda or Hyperledger.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9.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0B4FBB19-8003-BED7-172F-F1A8565A307E}"/>
              </a:ext>
            </a:extLst>
          </p:cNvPr>
          <p:cNvSpPr txBox="1"/>
          <p:nvPr/>
        </p:nvSpPr>
        <p:spPr>
          <a:xfrm>
            <a:off x="632178" y="1330657"/>
            <a:ext cx="10871200" cy="461665"/>
          </a:xfrm>
          <a:prstGeom prst="rect">
            <a:avLst/>
          </a:prstGeom>
          <a:noFill/>
        </p:spPr>
        <p:txBody>
          <a:bodyPr wrap="square">
            <a:spAutoFit/>
          </a:bodyPr>
          <a:lstStyle/>
          <a:p>
            <a:r>
              <a:rPr lang="en-US" sz="2400" dirty="0">
                <a:solidFill>
                  <a:schemeClr val="bg1">
                    <a:lumMod val="50000"/>
                  </a:schemeClr>
                </a:solidFill>
              </a:rPr>
              <a:t>evaluate a specific business problem against the 5 criteria to pick the right blockchain</a:t>
            </a:r>
          </a:p>
        </p:txBody>
      </p:sp>
      <p:sp>
        <p:nvSpPr>
          <p:cNvPr id="6" name="TextBox 5">
            <a:extLst>
              <a:ext uri="{FF2B5EF4-FFF2-40B4-BE49-F238E27FC236}">
                <a16:creationId xmlns:a16="http://schemas.microsoft.com/office/drawing/2014/main" id="{E30080B2-685A-7794-60E0-584BB87C2DDA}"/>
              </a:ext>
            </a:extLst>
          </p:cNvPr>
          <p:cNvSpPr txBox="1"/>
          <p:nvPr/>
        </p:nvSpPr>
        <p:spPr>
          <a:xfrm>
            <a:off x="395111" y="1203867"/>
            <a:ext cx="11480800" cy="5632311"/>
          </a:xfrm>
          <a:prstGeom prst="rect">
            <a:avLst/>
          </a:prstGeom>
          <a:solidFill>
            <a:schemeClr val="bg2">
              <a:lumMod val="90000"/>
            </a:schemeClr>
          </a:solidFill>
          <a:effectLst>
            <a:outerShdw blurRad="50800" dist="38100" dir="2700000" algn="tl" rotWithShape="0">
              <a:prstClr val="black">
                <a:alpha val="40000"/>
              </a:prstClr>
            </a:outerShdw>
          </a:effectLst>
        </p:spPr>
        <p:txBody>
          <a:bodyPr wrap="square">
            <a:spAutoFit/>
          </a:bodyPr>
          <a:lstStyle/>
          <a:p>
            <a:r>
              <a:rPr lang="en-US" sz="2400" b="1" dirty="0"/>
              <a:t>Hyperledger Fabric is the best fit for this scenario. Here is why: </a:t>
            </a:r>
          </a:p>
          <a:p>
            <a:r>
              <a:rPr lang="en-US" sz="2400" b="1" dirty="0">
                <a:solidFill>
                  <a:srgbClr val="C00000"/>
                </a:solidFill>
              </a:rPr>
              <a:t>Permissioned Access: </a:t>
            </a:r>
            <a:r>
              <a:rPr lang="en-US" sz="2400" dirty="0"/>
              <a:t>Because the banks already know each other, they don’t need a wide-open public network like Bitcoin or Ethereum. </a:t>
            </a:r>
            <a:r>
              <a:rPr lang="en-US" sz="2400" b="1" dirty="0">
                <a:solidFill>
                  <a:srgbClr val="002060"/>
                </a:solidFill>
              </a:rPr>
              <a:t>They only need a private network where access is strictly controlled.</a:t>
            </a:r>
            <a:r>
              <a:rPr lang="en-US" sz="2400" dirty="0"/>
              <a:t> </a:t>
            </a:r>
          </a:p>
          <a:p>
            <a:r>
              <a:rPr lang="en-US" sz="2400" b="1" dirty="0">
                <a:solidFill>
                  <a:srgbClr val="C00000"/>
                </a:solidFill>
              </a:rPr>
              <a:t>Speed &amp; Privacy: </a:t>
            </a:r>
            <a:r>
              <a:rPr lang="en-US" sz="2400" dirty="0"/>
              <a:t>Hyperledger Fabric is </a:t>
            </a:r>
            <a:r>
              <a:rPr lang="en-US" sz="2400" b="1" dirty="0"/>
              <a:t>fast</a:t>
            </a:r>
            <a:r>
              <a:rPr lang="en-US" sz="2400" dirty="0"/>
              <a:t> and keeps transaction data confidential between the participating banks. </a:t>
            </a:r>
          </a:p>
          <a:p>
            <a:r>
              <a:rPr lang="en-US" sz="2400" b="1" dirty="0">
                <a:solidFill>
                  <a:srgbClr val="C00000"/>
                </a:solidFill>
              </a:rPr>
              <a:t>Regulatory Compliance</a:t>
            </a:r>
            <a:r>
              <a:rPr lang="en-US" sz="2400" dirty="0"/>
              <a:t>: It fits neatly into a strict banking regulation setting where data privacy and compliance are mandatory. </a:t>
            </a:r>
          </a:p>
          <a:p>
            <a:r>
              <a:rPr lang="en-US" sz="2400" b="1" dirty="0">
                <a:solidFill>
                  <a:srgbClr val="FF0000"/>
                </a:solidFill>
              </a:rPr>
              <a:t>Why Not Use a Public Blockchain?</a:t>
            </a:r>
          </a:p>
          <a:p>
            <a:r>
              <a:rPr lang="en-US" sz="2400" dirty="0"/>
              <a:t>Even if a public chain (like Ethereum or Solana) were cheaper or easier to launch, it would lose on two crucial criteria: </a:t>
            </a:r>
          </a:p>
          <a:p>
            <a:r>
              <a:rPr lang="en-US" sz="2400" b="1" dirty="0">
                <a:solidFill>
                  <a:srgbClr val="00B050"/>
                </a:solidFill>
              </a:rPr>
              <a:t>Governance:</a:t>
            </a:r>
            <a:r>
              <a:rPr lang="en-US" sz="2400" dirty="0"/>
              <a:t> On a public chain, random anonymous global nodes control network upgrades rather than local banking authorities. </a:t>
            </a:r>
          </a:p>
          <a:p>
            <a:r>
              <a:rPr lang="en-US" sz="2400" b="1" dirty="0">
                <a:solidFill>
                  <a:srgbClr val="00B050"/>
                </a:solidFill>
              </a:rPr>
              <a:t>Regulatory Profile: </a:t>
            </a:r>
            <a:r>
              <a:rPr lang="en-US" sz="2400" dirty="0"/>
              <a:t>Local financial regulators will not allow sensitive, local customer or bank transaction data to be broadcast on a public ledger.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0.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7BFC88EE-F933-30BD-6B57-96DA48A5AEFA}"/>
              </a:ext>
            </a:extLst>
          </p:cNvPr>
          <p:cNvSpPr txBox="1"/>
          <p:nvPr/>
        </p:nvSpPr>
        <p:spPr>
          <a:xfrm>
            <a:off x="1164336" y="5261884"/>
            <a:ext cx="9863328" cy="523220"/>
          </a:xfrm>
          <a:prstGeom prst="rect">
            <a:avLst/>
          </a:prstGeom>
          <a:solidFill>
            <a:schemeClr val="bg2">
              <a:lumMod val="90000"/>
            </a:schemeClr>
          </a:solidFill>
        </p:spPr>
        <p:txBody>
          <a:bodyPr wrap="square">
            <a:spAutoFit/>
          </a:bodyPr>
          <a:lstStyle/>
          <a:p>
            <a:r>
              <a:rPr lang="en-US" sz="2800" b="1" dirty="0">
                <a:solidFill>
                  <a:srgbClr val="FF0000"/>
                </a:solidFill>
                <a:effectLst>
                  <a:outerShdw blurRad="38100" dist="38100" dir="2700000" algn="tl">
                    <a:srgbClr val="000000">
                      <a:alpha val="43137"/>
                    </a:srgbClr>
                  </a:outerShdw>
                </a:effectLst>
              </a:rPr>
              <a:t>You can solve each of the three use cases based on the 5 criteria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4"/>
                                        </p:tgtEl>
                                        <p:attrNameLst>
                                          <p:attrName>r</p:attrName>
                                        </p:attrNameLst>
                                      </p:cBhvr>
                                    </p:animRot>
                                    <p:animRot by="-240000">
                                      <p:cBhvr>
                                        <p:cTn id="7" dur="200" fill="hold">
                                          <p:stCondLst>
                                            <p:cond delay="200"/>
                                          </p:stCondLst>
                                        </p:cTn>
                                        <p:tgtEl>
                                          <p:spTgt spid="4"/>
                                        </p:tgtEl>
                                        <p:attrNameLst>
                                          <p:attrName>r</p:attrName>
                                        </p:attrNameLst>
                                      </p:cBhvr>
                                    </p:animRot>
                                    <p:animRot by="240000">
                                      <p:cBhvr>
                                        <p:cTn id="8" dur="200" fill="hold">
                                          <p:stCondLst>
                                            <p:cond delay="400"/>
                                          </p:stCondLst>
                                        </p:cTn>
                                        <p:tgtEl>
                                          <p:spTgt spid="4"/>
                                        </p:tgtEl>
                                        <p:attrNameLst>
                                          <p:attrName>r</p:attrName>
                                        </p:attrNameLst>
                                      </p:cBhvr>
                                    </p:animRot>
                                    <p:animRot by="-240000">
                                      <p:cBhvr>
                                        <p:cTn id="9" dur="200" fill="hold">
                                          <p:stCondLst>
                                            <p:cond delay="600"/>
                                          </p:stCondLst>
                                        </p:cTn>
                                        <p:tgtEl>
                                          <p:spTgt spid="4"/>
                                        </p:tgtEl>
                                        <p:attrNameLst>
                                          <p:attrName>r</p:attrName>
                                        </p:attrNameLst>
                                      </p:cBhvr>
                                    </p:animRot>
                                    <p:animRot by="120000">
                                      <p:cBhvr>
                                        <p:cTn id="10" dur="200" fill="hold">
                                          <p:stCondLst>
                                            <p:cond delay="80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861</TotalTime>
  <Words>1710</Words>
  <Application>Microsoft Office PowerPoint</Application>
  <PresentationFormat>Widescreen</PresentationFormat>
  <Paragraphs>110</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Faiz Ul Islam</cp:lastModifiedBy>
  <cp:revision>60</cp:revision>
  <dcterms:created xsi:type="dcterms:W3CDTF">2013-01-27T09:14:16Z</dcterms:created>
  <dcterms:modified xsi:type="dcterms:W3CDTF">2026-10-21T07:59:13Z</dcterms:modified>
  <cp:category/>
</cp:coreProperties>
</file>