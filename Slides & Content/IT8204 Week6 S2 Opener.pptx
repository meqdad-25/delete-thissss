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9" r:id="rId3"/>
    <p:sldId id="257" r:id="rId4"/>
    <p:sldId id="258" r:id="rId5"/>
    <p:sldId id="259" r:id="rId6"/>
    <p:sldId id="270" r:id="rId7"/>
    <p:sldId id="260" r:id="rId8"/>
    <p:sldId id="271"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9" autoAdjust="0"/>
    <p:restoredTop sz="91768" autoAdjust="0"/>
  </p:normalViewPr>
  <p:slideViewPr>
    <p:cSldViewPr snapToGrid="0" snapToObjects="1">
      <p:cViewPr varScale="1">
        <p:scale>
          <a:sx n="101" d="100"/>
          <a:sy n="101" d="100"/>
        </p:scale>
        <p:origin x="130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7588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a:buNone/>
            </a:pP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1A148-4A42-8BAA-5FD4-AD8088403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A2755-8E0C-F37A-E3C8-41A2099871B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0144D79-3458-4CA8-0EA6-623D3C333A1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4D465F4-7A7B-EDC1-08BF-EA0F8EE6365A}"/>
              </a:ext>
            </a:extLst>
          </p:cNvPr>
          <p:cNvSpPr>
            <a:spLocks noGrp="1"/>
          </p:cNvSpPr>
          <p:nvPr>
            <p:ph type="sldNum" sz="quarter" idx="5"/>
          </p:nvPr>
        </p:nvSpPr>
        <p:spPr/>
      </p:sp>
    </p:spTree>
    <p:extLst>
      <p:ext uri="{BB962C8B-B14F-4D97-AF65-F5344CB8AC3E}">
        <p14:creationId xmlns:p14="http://schemas.microsoft.com/office/powerpoint/2010/main" val="2535714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90E2A-8795-9A63-9479-4873A4001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9AB6E-1AE1-792E-D8A4-C1001BA2938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9FCAA9B-6A26-5395-DE68-8C6F790F0139}"/>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ED6A3CC-4FCC-AA76-FCD1-E967F9FCEB2B}"/>
              </a:ext>
            </a:extLst>
          </p:cNvPr>
          <p:cNvSpPr>
            <a:spLocks noGrp="1"/>
          </p:cNvSpPr>
          <p:nvPr>
            <p:ph type="sldNum" sz="quarter" idx="5"/>
          </p:nvPr>
        </p:nvSpPr>
        <p:spPr/>
      </p:sp>
    </p:spTree>
    <p:extLst>
      <p:ext uri="{BB962C8B-B14F-4D97-AF65-F5344CB8AC3E}">
        <p14:creationId xmlns:p14="http://schemas.microsoft.com/office/powerpoint/2010/main" val="1792239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en-US" b="1" dirty="0"/>
              <a:t>How to explain it in class (about 1 minute)</a:t>
            </a:r>
          </a:p>
          <a:p>
            <a:pPr rtl="0"/>
            <a:r>
              <a:rPr lang="en-US" dirty="0"/>
              <a:t>“Three things to remember. First, the controller is whoever decides why and how personal data is used. In DeFi, we may not find one, and that is the hard gap. When you write about it, don’t force one answer. Split the product into parts and say which part has a controller and which doesn’t. Second, our standing checklist is four articles: 12, 22, 23 and 24. Third, if a case is borderline, advise honestly, write it down, and pass it up. And never sign off on a risk that is still unresolved, because your signature closes the question for everyone else.”</a:t>
            </a:r>
          </a:p>
          <a:p>
            <a:pPr rtl="0"/>
            <a:r>
              <a:rPr lang="en-US" b="1" dirty="0"/>
              <a:t>One sentence to remember</a:t>
            </a:r>
          </a:p>
          <a:p>
            <a:pPr rtl="0"/>
            <a:r>
              <a:rPr lang="en-US" i="1" dirty="0"/>
              <a:t>Find who decides, split the product into parts, be honest about the gap, and never sign off on an open risk.</a:t>
            </a:r>
            <a:endParaRPr lang="en-US" dirty="0"/>
          </a:p>
          <a:p>
            <a:endParaRPr lang="en-US" dirty="0"/>
          </a:p>
          <a:p>
            <a:endParaRPr lang="en-US" dirty="0"/>
          </a:p>
          <a:p>
            <a:endParaRPr lang="en-US" dirty="0"/>
          </a:p>
          <a:p>
            <a:endParaRPr lang="en-US" dirty="0"/>
          </a:p>
          <a:p>
            <a:endParaRPr lang="en-US" dirty="0"/>
          </a:p>
          <a:p>
            <a:r>
              <a:rPr dirty="0"/>
              <a:t>The controller test is a test about decision-making. Applying it to a permissionless protocol is where the course's hardest gap appears.</a:t>
            </a:r>
          </a:p>
          <a:p>
            <a:endParaRPr dirty="0"/>
          </a:p>
          <a:p>
            <a:r>
              <a:rPr dirty="0"/>
              <a:t>The definition comes first, and the worksheet will use it. The data controller is whoever decides why and how personal data is processed, and the duties in the law fall on them. The definition has two halves. The why is the purpose. The how is the method. A party who decides only one of these is not automatically the controller.</a:t>
            </a:r>
          </a:p>
          <a:p>
            <a:endParaRPr dirty="0"/>
          </a:p>
          <a:p>
            <a:r>
              <a:rPr dirty="0"/>
              <a:t>Now we can apply the test to a permissionless protocol. There may be no clear controller. This is described as the hard compliance gap, not as a puzzle with an answer at the back of the book. That affects how you write. Suppose an answer says the controller is unclear. It explains which candidates partly qualify, and why none fully does. That is a strong answer. Suppose another answer picks one candidate and asserts it confidently, with no mention of the difficulty. That answer is weaker, even if the choice is defensible.</a:t>
            </a:r>
          </a:p>
          <a:p>
            <a:endParaRPr dirty="0"/>
          </a:p>
          <a:p>
            <a:r>
              <a:rPr dirty="0"/>
              <a:t>The phrasing is the hard part, so here is a strong example. The front-end operator decides what data is collected at the point of use, and so has a strong claim to being a controller for that data. Nobody appears to decide the purpose of the underlying protocol, so that part is unresolved. This is strong because it splits the product into parts and answers each part separately. It does not force one verdict onto the whole thing.</a:t>
            </a:r>
          </a:p>
          <a:p>
            <a:endParaRPr dirty="0"/>
          </a:p>
          <a:p>
            <a:r>
              <a:rPr dirty="0"/>
              <a:t>The four articles are the mapping set. Article 12 covers cross-border transfer. Article 22 covers decisions made solely by a machine. Article 23 covers rectification and erasure. Article 24 covers valid consent. These four are now the standing checklist for any product in this course.</a:t>
            </a:r>
          </a:p>
          <a:p>
            <a:endParaRPr dirty="0"/>
          </a:p>
          <a:p>
            <a:r>
              <a:rPr dirty="0"/>
              <a:t>In a borderline case, the duty is three actions in order: advise honestly on the tension, document it, and escalate it. One flat rule comes with them: never sign off on an unresolved risk. To sign off means to put your name to a statement that something is compliant. Once your name is on it, the question is closed as far as everyone else is concerned. That is why the rule is absolute.</a:t>
            </a:r>
          </a:p>
          <a:p>
            <a:endParaRPr dirty="0"/>
          </a:p>
          <a:p>
            <a:r>
              <a:rPr dirty="0"/>
              <a:t>Next, we run a real product through all of this.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8DBBF39B-CC5F-7F42-F7C2-9C2AD3ABC345}"/>
              </a:ext>
            </a:extLst>
          </p:cNvPr>
          <p:cNvSpPr txBox="1"/>
          <p:nvPr/>
        </p:nvSpPr>
        <p:spPr>
          <a:xfrm>
            <a:off x="5960533" y="10068"/>
            <a:ext cx="6468533" cy="1077218"/>
          </a:xfrm>
          <a:prstGeom prst="rect">
            <a:avLst/>
          </a:prstGeom>
          <a:solidFill>
            <a:schemeClr val="accent2"/>
          </a:solidFill>
        </p:spPr>
        <p:txBody>
          <a:bodyPr wrap="square">
            <a:spAutoFit/>
          </a:bodyPr>
          <a:lstStyle/>
          <a:p>
            <a:r>
              <a:rPr lang="en-US" sz="3200" dirty="0">
                <a:solidFill>
                  <a:schemeClr val="bg1"/>
                </a:solidFill>
              </a:rPr>
              <a:t>Who controls the data in a system with no central authority?</a:t>
            </a:r>
          </a:p>
        </p:txBody>
      </p:sp>
      <p:sp>
        <p:nvSpPr>
          <p:cNvPr id="5" name="TextBox 4">
            <a:extLst>
              <a:ext uri="{FF2B5EF4-FFF2-40B4-BE49-F238E27FC236}">
                <a16:creationId xmlns:a16="http://schemas.microsoft.com/office/drawing/2014/main" id="{44AACDA3-90A7-8463-544E-1C4492F2E6CD}"/>
              </a:ext>
            </a:extLst>
          </p:cNvPr>
          <p:cNvSpPr txBox="1"/>
          <p:nvPr/>
        </p:nvSpPr>
        <p:spPr>
          <a:xfrm>
            <a:off x="5960533" y="1287270"/>
            <a:ext cx="6271146" cy="1569660"/>
          </a:xfrm>
          <a:prstGeom prst="rect">
            <a:avLst/>
          </a:prstGeom>
          <a:solidFill>
            <a:schemeClr val="accent2"/>
          </a:solidFill>
        </p:spPr>
        <p:txBody>
          <a:bodyPr wrap="square">
            <a:spAutoFit/>
          </a:bodyPr>
          <a:lstStyle/>
          <a:p>
            <a:r>
              <a:rPr lang="en-US" sz="3200" dirty="0">
                <a:solidFill>
                  <a:schemeClr val="bg1"/>
                </a:solidFill>
              </a:rPr>
              <a:t>When nobody is in charge of a system, who is responsible for the people using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0DFB1F-24B2-BE49-D676-EE075A32A5D1}"/>
              </a:ext>
            </a:extLst>
          </p:cNvPr>
          <p:cNvSpPr txBox="1"/>
          <p:nvPr/>
        </p:nvSpPr>
        <p:spPr>
          <a:xfrm>
            <a:off x="152399" y="335845"/>
            <a:ext cx="11700933" cy="6001643"/>
          </a:xfrm>
          <a:prstGeom prst="rect">
            <a:avLst/>
          </a:prstGeom>
          <a:noFill/>
        </p:spPr>
        <p:txBody>
          <a:bodyPr wrap="square">
            <a:spAutoFit/>
          </a:bodyPr>
          <a:lstStyle/>
          <a:p>
            <a:pPr marL="571500" indent="-571500" algn="just">
              <a:buFont typeface="Arial" panose="020B0604020202020204" pitchFamily="34" charset="0"/>
              <a:buChar char="•"/>
            </a:pPr>
            <a:r>
              <a:rPr lang="en-US" sz="3200" dirty="0"/>
              <a:t>Suppose you download a mobile app that mishandles your private financial records or leaks your personal information. </a:t>
            </a:r>
          </a:p>
          <a:p>
            <a:pPr marL="571500" indent="-571500" algn="just">
              <a:buFont typeface="Arial" panose="020B0604020202020204" pitchFamily="34" charset="0"/>
              <a:buChar char="•"/>
            </a:pPr>
            <a:r>
              <a:rPr lang="en-US" sz="3200" dirty="0"/>
              <a:t>Naturally, you’d demand accountability. </a:t>
            </a:r>
          </a:p>
          <a:p>
            <a:pPr marL="571500" indent="-571500" algn="just">
              <a:buFont typeface="Arial" panose="020B0604020202020204" pitchFamily="34" charset="0"/>
              <a:buChar char="•"/>
            </a:pPr>
            <a:r>
              <a:rPr lang="en-US" sz="3200" dirty="0"/>
              <a:t>You’d complain to the company, report them to the data protection authority, or take legal action.</a:t>
            </a:r>
          </a:p>
          <a:p>
            <a:pPr marL="571500" indent="-571500" algn="just">
              <a:buFont typeface="Arial" panose="020B0604020202020204" pitchFamily="34" charset="0"/>
              <a:buChar char="•"/>
            </a:pPr>
            <a:r>
              <a:rPr lang="en-US" sz="3200" dirty="0"/>
              <a:t>Now, imagine that same privacy leak happens on a decentralized app. </a:t>
            </a:r>
          </a:p>
          <a:p>
            <a:pPr marL="571500" indent="-571500" algn="just">
              <a:buFont typeface="Arial" panose="020B0604020202020204" pitchFamily="34" charset="0"/>
              <a:buChar char="•"/>
            </a:pPr>
            <a:r>
              <a:rPr lang="en-US" sz="3200" dirty="0"/>
              <a:t>There is no company, no physical office, no customer support team, and no CEO. </a:t>
            </a:r>
          </a:p>
          <a:p>
            <a:pPr marL="571500" indent="-571500" algn="just">
              <a:buFont typeface="Arial" panose="020B0604020202020204" pitchFamily="34" charset="0"/>
              <a:buChar char="•"/>
            </a:pPr>
            <a:r>
              <a:rPr lang="en-US" sz="3200" dirty="0"/>
              <a:t>The application runs entirely on automated code across thousands of nodes worldwide. </a:t>
            </a:r>
          </a:p>
          <a:p>
            <a:pPr marL="571500" indent="-571500" algn="just">
              <a:buFont typeface="Arial" panose="020B0604020202020204" pitchFamily="34" charset="0"/>
              <a:buChar char="•"/>
            </a:pPr>
            <a:r>
              <a:rPr lang="en-US" sz="3200" b="1" dirty="0">
                <a:solidFill>
                  <a:srgbClr val="C00000"/>
                </a:solidFill>
                <a:highlight>
                  <a:srgbClr val="FFFF00"/>
                </a:highlight>
              </a:rPr>
              <a:t>Who do you hold accountable? Who do you sue or report?</a:t>
            </a:r>
          </a:p>
        </p:txBody>
      </p:sp>
    </p:spTree>
    <p:extLst>
      <p:ext uri="{BB962C8B-B14F-4D97-AF65-F5344CB8AC3E}">
        <p14:creationId xmlns:p14="http://schemas.microsoft.com/office/powerpoint/2010/main" val="1450034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2.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6CDA6F90-AF9A-FBF8-53D3-B571DB5756B8}"/>
              </a:ext>
            </a:extLst>
          </p:cNvPr>
          <p:cNvSpPr txBox="1"/>
          <p:nvPr/>
        </p:nvSpPr>
        <p:spPr>
          <a:xfrm>
            <a:off x="1135117" y="2884763"/>
            <a:ext cx="11361677" cy="830997"/>
          </a:xfrm>
          <a:prstGeom prst="rect">
            <a:avLst/>
          </a:prstGeom>
          <a:solidFill>
            <a:schemeClr val="accent3">
              <a:lumMod val="20000"/>
              <a:lumOff val="80000"/>
            </a:schemeClr>
          </a:solidFill>
        </p:spPr>
        <p:txBody>
          <a:bodyPr wrap="square">
            <a:spAutoFit/>
          </a:bodyPr>
          <a:lstStyle/>
          <a:p>
            <a:r>
              <a:rPr lang="en-US" sz="2400" dirty="0">
                <a:solidFill>
                  <a:schemeClr val="tx1">
                    <a:lumMod val="95000"/>
                    <a:lumOff val="5000"/>
                  </a:schemeClr>
                </a:solidFill>
              </a:rPr>
              <a:t>covered the key articles of the Personal Data Protection Law (PDPL) and one big problem, immutability (data that can’t be changed or deleted), along with four ways to reduce it</a:t>
            </a:r>
          </a:p>
        </p:txBody>
      </p:sp>
      <p:sp>
        <p:nvSpPr>
          <p:cNvPr id="6" name="TextBox 5">
            <a:extLst>
              <a:ext uri="{FF2B5EF4-FFF2-40B4-BE49-F238E27FC236}">
                <a16:creationId xmlns:a16="http://schemas.microsoft.com/office/drawing/2014/main" id="{986356ED-B913-03B6-BED0-CD241E53792A}"/>
              </a:ext>
            </a:extLst>
          </p:cNvPr>
          <p:cNvSpPr txBox="1"/>
          <p:nvPr/>
        </p:nvSpPr>
        <p:spPr>
          <a:xfrm>
            <a:off x="1589308" y="4293744"/>
            <a:ext cx="10907485" cy="830997"/>
          </a:xfrm>
          <a:prstGeom prst="rect">
            <a:avLst/>
          </a:prstGeom>
          <a:solidFill>
            <a:schemeClr val="accent3">
              <a:lumMod val="20000"/>
              <a:lumOff val="80000"/>
            </a:schemeClr>
          </a:solidFill>
        </p:spPr>
        <p:txBody>
          <a:bodyPr wrap="square">
            <a:spAutoFit/>
          </a:bodyPr>
          <a:lstStyle/>
          <a:p>
            <a:r>
              <a:rPr lang="en-US" sz="2400" dirty="0"/>
              <a:t>You put that knowledge into practice by designing a loyalty rewards system that followed data privacy laws</a:t>
            </a:r>
          </a:p>
        </p:txBody>
      </p:sp>
      <p:sp>
        <p:nvSpPr>
          <p:cNvPr id="8" name="TextBox 7">
            <a:extLst>
              <a:ext uri="{FF2B5EF4-FFF2-40B4-BE49-F238E27FC236}">
                <a16:creationId xmlns:a16="http://schemas.microsoft.com/office/drawing/2014/main" id="{E7166615-8FAA-19F2-D1E5-A0FE094775F5}"/>
              </a:ext>
            </a:extLst>
          </p:cNvPr>
          <p:cNvSpPr txBox="1"/>
          <p:nvPr/>
        </p:nvSpPr>
        <p:spPr>
          <a:xfrm>
            <a:off x="979710" y="5982286"/>
            <a:ext cx="11212290" cy="830997"/>
          </a:xfrm>
          <a:prstGeom prst="rect">
            <a:avLst/>
          </a:prstGeom>
          <a:solidFill>
            <a:schemeClr val="accent3">
              <a:lumMod val="20000"/>
              <a:lumOff val="80000"/>
            </a:schemeClr>
          </a:solidFill>
        </p:spPr>
        <p:txBody>
          <a:bodyPr wrap="square">
            <a:spAutoFit/>
          </a:bodyPr>
          <a:lstStyle/>
          <a:p>
            <a:r>
              <a:rPr lang="en-US" sz="2400" b="1" dirty="0">
                <a:solidFill>
                  <a:schemeClr val="tx1">
                    <a:lumMod val="95000"/>
                    <a:lumOff val="5000"/>
                  </a:schemeClr>
                </a:solidFill>
              </a:rPr>
              <a:t>First</a:t>
            </a:r>
            <a:r>
              <a:rPr lang="en-US" sz="2400" dirty="0">
                <a:solidFill>
                  <a:schemeClr val="tx1">
                    <a:lumMod val="95000"/>
                    <a:lumOff val="5000"/>
                  </a:schemeClr>
                </a:solidFill>
              </a:rPr>
              <a:t>, the ethics of a compliance officer. </a:t>
            </a:r>
            <a:r>
              <a:rPr lang="en-US" sz="2400" b="1" dirty="0">
                <a:solidFill>
                  <a:schemeClr val="tx1">
                    <a:lumMod val="95000"/>
                    <a:lumOff val="5000"/>
                  </a:schemeClr>
                </a:solidFill>
              </a:rPr>
              <a:t>Second</a:t>
            </a:r>
            <a:r>
              <a:rPr lang="en-US" sz="2400" dirty="0">
                <a:solidFill>
                  <a:schemeClr val="tx1">
                    <a:lumMod val="95000"/>
                    <a:lumOff val="5000"/>
                  </a:schemeClr>
                </a:solidFill>
              </a:rPr>
              <a:t>, taking a real </a:t>
            </a:r>
            <a:r>
              <a:rPr lang="en-US" sz="2400" dirty="0" err="1">
                <a:solidFill>
                  <a:schemeClr val="tx1">
                    <a:lumMod val="95000"/>
                    <a:lumOff val="5000"/>
                  </a:schemeClr>
                </a:solidFill>
              </a:rPr>
              <a:t>decentralised</a:t>
            </a:r>
            <a:r>
              <a:rPr lang="en-US" sz="2400" dirty="0">
                <a:solidFill>
                  <a:schemeClr val="tx1">
                    <a:lumMod val="95000"/>
                    <a:lumOff val="5000"/>
                  </a:schemeClr>
                </a:solidFill>
              </a:rPr>
              <a:t> finance (DeFi) product and mapping it to the PDPL. </a:t>
            </a:r>
            <a:r>
              <a:rPr lang="en-US" sz="2400" b="1" dirty="0">
                <a:solidFill>
                  <a:schemeClr val="tx1">
                    <a:lumMod val="95000"/>
                    <a:lumOff val="5000"/>
                  </a:schemeClr>
                </a:solidFill>
              </a:rPr>
              <a:t>Third</a:t>
            </a:r>
            <a:r>
              <a:rPr lang="en-US" sz="2400" dirty="0">
                <a:solidFill>
                  <a:schemeClr val="tx1">
                    <a:lumMod val="95000"/>
                    <a:lumOff val="5000"/>
                  </a:schemeClr>
                </a:solidFill>
              </a:rPr>
              <a:t>, forming your capstone groups.</a:t>
            </a:r>
          </a:p>
        </p:txBody>
      </p:sp>
      <p:sp>
        <p:nvSpPr>
          <p:cNvPr id="5" name="TextBox 4">
            <a:extLst>
              <a:ext uri="{FF2B5EF4-FFF2-40B4-BE49-F238E27FC236}">
                <a16:creationId xmlns:a16="http://schemas.microsoft.com/office/drawing/2014/main" id="{7CA88C94-4DEB-07E1-576B-1AF96A6D002F}"/>
              </a:ext>
            </a:extLst>
          </p:cNvPr>
          <p:cNvSpPr txBox="1"/>
          <p:nvPr/>
        </p:nvSpPr>
        <p:spPr>
          <a:xfrm>
            <a:off x="352095" y="1468021"/>
            <a:ext cx="11839905" cy="5262979"/>
          </a:xfrm>
          <a:prstGeom prst="rect">
            <a:avLst/>
          </a:prstGeom>
          <a:solidFill>
            <a:schemeClr val="bg1"/>
          </a:solidFill>
        </p:spPr>
        <p:txBody>
          <a:bodyPr wrap="square">
            <a:spAutoFit/>
          </a:bodyPr>
          <a:lstStyle/>
          <a:p>
            <a:r>
              <a:rPr lang="en-US" sz="2800" dirty="0"/>
              <a:t>Today’s products have no bank behind them. </a:t>
            </a:r>
            <a:r>
              <a:rPr lang="en-US" sz="2800" b="1" dirty="0">
                <a:solidFill>
                  <a:srgbClr val="FF0000"/>
                </a:solidFill>
              </a:rPr>
              <a:t>This does not mean the law doesn’t apply.</a:t>
            </a:r>
            <a:r>
              <a:rPr lang="en-US" sz="2800" dirty="0"/>
              <a:t> </a:t>
            </a:r>
            <a:r>
              <a:rPr lang="en-US" sz="2800" b="1" dirty="0">
                <a:solidFill>
                  <a:srgbClr val="00B050"/>
                </a:solidFill>
              </a:rPr>
              <a:t>It means the law is hard to apply</a:t>
            </a:r>
            <a:r>
              <a:rPr lang="en-US" sz="2800" dirty="0"/>
              <a:t>. </a:t>
            </a:r>
            <a:r>
              <a:rPr lang="en-US" sz="2800" dirty="0">
                <a:highlight>
                  <a:srgbClr val="FFFF00"/>
                </a:highlight>
              </a:rPr>
              <a:t>Those are different things</a:t>
            </a:r>
            <a:r>
              <a:rPr lang="en-US" sz="2800" dirty="0"/>
              <a:t>.</a:t>
            </a:r>
          </a:p>
          <a:p>
            <a:r>
              <a:rPr lang="en-US" sz="2800" b="1" u="sng" dirty="0"/>
              <a:t>The duties still exist. The difficulty is finding who carries them.</a:t>
            </a:r>
          </a:p>
          <a:p>
            <a:br>
              <a:rPr lang="en-US" sz="2800" dirty="0"/>
            </a:br>
            <a:r>
              <a:rPr lang="en-US" sz="2800" b="1" i="1" dirty="0">
                <a:solidFill>
                  <a:srgbClr val="C00000"/>
                </a:solidFill>
              </a:rPr>
              <a:t>Imagine</a:t>
            </a:r>
            <a:r>
              <a:rPr lang="en-US" sz="2800" dirty="0"/>
              <a:t> your rights as a customer. Your data has rights, but nobody can be found who must respect them. Did the right disappear? No. The person responsible just hasn’t been found yet. Finding them is today’s work.</a:t>
            </a:r>
          </a:p>
          <a:p>
            <a:r>
              <a:rPr lang="en-US" sz="2800" dirty="0"/>
              <a:t>Common mistake to warn about:</a:t>
            </a:r>
            <a:br>
              <a:rPr lang="en-US" sz="2800" dirty="0"/>
            </a:br>
            <a:r>
              <a:rPr lang="en-US" sz="2800" dirty="0"/>
              <a:t>“No company runs it, so no rules apply.” A good compliance professional never thinks this way, and it doesn’t protect the customer.</a:t>
            </a:r>
          </a:p>
          <a:p>
            <a:r>
              <a:rPr lang="en-US" sz="2800" b="1" i="1" dirty="0">
                <a:solidFill>
                  <a:srgbClr val="C00000"/>
                </a:solidFill>
              </a:rPr>
              <a:t>Remember</a:t>
            </a:r>
            <a:r>
              <a:rPr lang="en-US" sz="2800" dirty="0"/>
              <a:t>:</a:t>
            </a:r>
          </a:p>
          <a:p>
            <a:r>
              <a:rPr lang="en-US" sz="2800" b="1" dirty="0">
                <a:solidFill>
                  <a:srgbClr val="FF0000"/>
                </a:solidFill>
              </a:rPr>
              <a:t>No bank doesn’t mean no rules. Our job today is to find who carries the duties.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3.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A18D7279-779C-1E9C-ABDE-90B6B099EDC7}"/>
              </a:ext>
            </a:extLst>
          </p:cNvPr>
          <p:cNvSpPr txBox="1"/>
          <p:nvPr/>
        </p:nvSpPr>
        <p:spPr>
          <a:xfrm>
            <a:off x="1306285" y="2825425"/>
            <a:ext cx="10885715" cy="923330"/>
          </a:xfrm>
          <a:prstGeom prst="rect">
            <a:avLst/>
          </a:prstGeom>
          <a:solidFill>
            <a:schemeClr val="accent3">
              <a:lumMod val="20000"/>
              <a:lumOff val="80000"/>
            </a:schemeClr>
          </a:solidFill>
        </p:spPr>
        <p:txBody>
          <a:bodyPr wrap="square">
            <a:spAutoFit/>
          </a:bodyPr>
          <a:lstStyle/>
          <a:p>
            <a:r>
              <a:rPr lang="en-US" dirty="0"/>
              <a:t>Take a real crypto lending app and match it against 4 articles of Bahrain's privacy law (PDPL). </a:t>
            </a:r>
          </a:p>
          <a:p>
            <a:r>
              <a:rPr lang="en-US" b="1" i="1" dirty="0">
                <a:solidFill>
                  <a:srgbClr val="C00000"/>
                </a:solidFill>
              </a:rPr>
              <a:t>The Catch: </a:t>
            </a:r>
            <a:r>
              <a:rPr lang="en-US" dirty="0"/>
              <a:t>Because it's a real app (not a textbook story), some law conflicts will not have an easy fix. </a:t>
            </a:r>
          </a:p>
          <a:p>
            <a:r>
              <a:rPr lang="en-US" dirty="0"/>
              <a:t>Admitting that a problem cannot be fully solved is part of the right answer.</a:t>
            </a:r>
          </a:p>
        </p:txBody>
      </p:sp>
      <p:sp>
        <p:nvSpPr>
          <p:cNvPr id="6" name="TextBox 5">
            <a:extLst>
              <a:ext uri="{FF2B5EF4-FFF2-40B4-BE49-F238E27FC236}">
                <a16:creationId xmlns:a16="http://schemas.microsoft.com/office/drawing/2014/main" id="{E652FB22-7F42-CBDE-B714-88FA9C9BA436}"/>
              </a:ext>
            </a:extLst>
          </p:cNvPr>
          <p:cNvSpPr txBox="1"/>
          <p:nvPr/>
        </p:nvSpPr>
        <p:spPr>
          <a:xfrm>
            <a:off x="1393365" y="4442736"/>
            <a:ext cx="11125200" cy="461665"/>
          </a:xfrm>
          <a:prstGeom prst="rect">
            <a:avLst/>
          </a:prstGeom>
          <a:solidFill>
            <a:schemeClr val="accent3">
              <a:lumMod val="20000"/>
              <a:lumOff val="80000"/>
            </a:schemeClr>
          </a:solidFill>
        </p:spPr>
        <p:txBody>
          <a:bodyPr wrap="square">
            <a:spAutoFit/>
          </a:bodyPr>
          <a:lstStyle/>
          <a:p>
            <a:r>
              <a:rPr lang="en-US" sz="2400" dirty="0"/>
              <a:t>Judge what a compliance officer should do when a tech system sits in a legal grey area</a:t>
            </a:r>
          </a:p>
        </p:txBody>
      </p:sp>
      <p:sp>
        <p:nvSpPr>
          <p:cNvPr id="8" name="TextBox 7">
            <a:extLst>
              <a:ext uri="{FF2B5EF4-FFF2-40B4-BE49-F238E27FC236}">
                <a16:creationId xmlns:a16="http://schemas.microsoft.com/office/drawing/2014/main" id="{3B2305A6-C0C3-758B-AE18-972120501C6E}"/>
              </a:ext>
            </a:extLst>
          </p:cNvPr>
          <p:cNvSpPr txBox="1"/>
          <p:nvPr/>
        </p:nvSpPr>
        <p:spPr>
          <a:xfrm>
            <a:off x="1344388" y="5957895"/>
            <a:ext cx="10978238" cy="830997"/>
          </a:xfrm>
          <a:prstGeom prst="rect">
            <a:avLst/>
          </a:prstGeom>
          <a:solidFill>
            <a:schemeClr val="accent3">
              <a:lumMod val="20000"/>
              <a:lumOff val="80000"/>
            </a:schemeClr>
          </a:solidFill>
        </p:spPr>
        <p:txBody>
          <a:bodyPr wrap="square">
            <a:spAutoFit/>
          </a:bodyPr>
          <a:lstStyle/>
          <a:p>
            <a:r>
              <a:rPr lang="en-US" sz="2400" dirty="0"/>
              <a:t>Try to figure out who is legally in charge ("data controller") when using a decentralized app with no company behind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4.png"/>
          <p:cNvPicPr>
            <a:picLocks noChangeAspect="1"/>
          </p:cNvPicPr>
          <p:nvPr/>
        </p:nvPicPr>
        <p:blipFill>
          <a:blip r:embed="rId3"/>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DF6C8C49-FE45-C6BE-CBF8-D7F3E02246E7}"/>
              </a:ext>
            </a:extLst>
          </p:cNvPr>
          <p:cNvSpPr txBox="1"/>
          <p:nvPr/>
        </p:nvSpPr>
        <p:spPr>
          <a:xfrm>
            <a:off x="250487" y="1280424"/>
            <a:ext cx="11272356" cy="1015663"/>
          </a:xfrm>
          <a:prstGeom prst="rect">
            <a:avLst/>
          </a:prstGeom>
          <a:solidFill>
            <a:schemeClr val="accent3">
              <a:lumMod val="20000"/>
              <a:lumOff val="80000"/>
            </a:schemeClr>
          </a:solidFill>
        </p:spPr>
        <p:txBody>
          <a:bodyPr wrap="square">
            <a:spAutoFit/>
          </a:bodyPr>
          <a:lstStyle/>
          <a:p>
            <a:pPr marL="342900" indent="-342900">
              <a:buFont typeface="Arial" panose="020B0604020202020204" pitchFamily="34" charset="0"/>
              <a:buChar char="•"/>
            </a:pPr>
            <a:r>
              <a:rPr lang="en-US" sz="2000" dirty="0"/>
              <a:t>Means control is spread across many independent participants. </a:t>
            </a:r>
          </a:p>
          <a:p>
            <a:pPr marL="342900" indent="-342900">
              <a:buFont typeface="Arial" panose="020B0604020202020204" pitchFamily="34" charset="0"/>
              <a:buChar char="•"/>
            </a:pPr>
            <a:r>
              <a:rPr lang="en-US" sz="2000" dirty="0"/>
              <a:t>No single one can decide alone or shut the system down. It comes in degrees. It is not an on/off switch</a:t>
            </a:r>
          </a:p>
          <a:p>
            <a:pPr marL="342900" indent="-342900">
              <a:buFont typeface="Arial" panose="020B0604020202020204" pitchFamily="34" charset="0"/>
              <a:buChar char="•"/>
            </a:pPr>
            <a:r>
              <a:rPr lang="en-US" sz="2000" dirty="0"/>
              <a:t>Almost nothing is fully </a:t>
            </a:r>
            <a:r>
              <a:rPr lang="en-US" sz="2000" dirty="0" err="1"/>
              <a:t>decentralised</a:t>
            </a:r>
            <a:r>
              <a:rPr lang="en-US" sz="2000" dirty="0"/>
              <a:t>. So always think: how much, and who holds the rest of the control?</a:t>
            </a:r>
          </a:p>
        </p:txBody>
      </p:sp>
      <p:sp>
        <p:nvSpPr>
          <p:cNvPr id="10" name="TextBox 9">
            <a:extLst>
              <a:ext uri="{FF2B5EF4-FFF2-40B4-BE49-F238E27FC236}">
                <a16:creationId xmlns:a16="http://schemas.microsoft.com/office/drawing/2014/main" id="{59228EAB-642A-9FED-D553-F9AE8045048B}"/>
              </a:ext>
            </a:extLst>
          </p:cNvPr>
          <p:cNvSpPr txBox="1"/>
          <p:nvPr/>
        </p:nvSpPr>
        <p:spPr>
          <a:xfrm>
            <a:off x="914401" y="3245452"/>
            <a:ext cx="10484069" cy="3416320"/>
          </a:xfrm>
          <a:prstGeom prst="rect">
            <a:avLst/>
          </a:prstGeom>
          <a:solidFill>
            <a:schemeClr val="accent3">
              <a:lumMod val="20000"/>
              <a:lumOff val="80000"/>
            </a:schemeClr>
          </a:solidFill>
        </p:spPr>
        <p:txBody>
          <a:bodyPr wrap="square">
            <a:spAutoFit/>
          </a:bodyPr>
          <a:lstStyle/>
          <a:p>
            <a:r>
              <a:rPr lang="en-US" sz="2400" dirty="0"/>
              <a:t>The simple three-question test: </a:t>
            </a:r>
          </a:p>
          <a:p>
            <a:r>
              <a:rPr lang="en-US" sz="2400" b="1" i="1" dirty="0"/>
              <a:t>Who decided?</a:t>
            </a:r>
          </a:p>
          <a:p>
            <a:r>
              <a:rPr lang="en-US" sz="2400" b="1" i="1" dirty="0"/>
              <a:t>Who benefits?</a:t>
            </a:r>
          </a:p>
          <a:p>
            <a:r>
              <a:rPr lang="en-US" sz="2400" b="1" i="1" dirty="0"/>
              <a:t>Who could switch it off?</a:t>
            </a:r>
          </a:p>
          <a:p>
            <a:r>
              <a:rPr lang="en-US" sz="2400" dirty="0">
                <a:solidFill>
                  <a:srgbClr val="FF0000"/>
                </a:solidFill>
              </a:rPr>
              <a:t>If any answer has a name attached, the system is less </a:t>
            </a:r>
            <a:r>
              <a:rPr lang="en-US" sz="2400" dirty="0" err="1">
                <a:solidFill>
                  <a:srgbClr val="FF0000"/>
                </a:solidFill>
              </a:rPr>
              <a:t>decentralised</a:t>
            </a:r>
            <a:r>
              <a:rPr lang="en-US" sz="2400" dirty="0">
                <a:solidFill>
                  <a:srgbClr val="FF0000"/>
                </a:solidFill>
              </a:rPr>
              <a:t> than it claims</a:t>
            </a:r>
            <a:r>
              <a:rPr lang="en-US" sz="2400" dirty="0"/>
              <a:t>.</a:t>
            </a:r>
          </a:p>
          <a:p>
            <a:r>
              <a:rPr lang="en-US" sz="2400" b="1" i="1" dirty="0">
                <a:solidFill>
                  <a:srgbClr val="FF0000"/>
                </a:solidFill>
              </a:rPr>
              <a:t>Test</a:t>
            </a:r>
            <a:r>
              <a:rPr lang="en-US" sz="2400" dirty="0"/>
              <a:t>: A chain with four validators, all in one country. Is it </a:t>
            </a:r>
            <a:r>
              <a:rPr lang="en-US" sz="2400" dirty="0" err="1"/>
              <a:t>decentralised</a:t>
            </a:r>
            <a:r>
              <a:rPr lang="en-US" sz="2400" dirty="0"/>
              <a:t>? </a:t>
            </a:r>
          </a:p>
          <a:p>
            <a:r>
              <a:rPr lang="en-US" sz="2400" dirty="0"/>
              <a:t>A validator is a computer chosen to propose or approve the next block.</a:t>
            </a:r>
          </a:p>
          <a:p>
            <a:r>
              <a:rPr lang="en-US" sz="2400" b="1" i="1" dirty="0"/>
              <a:t>Apply the test</a:t>
            </a:r>
            <a:r>
              <a:rPr lang="en-US" sz="2400" dirty="0"/>
              <a:t>: control sits with only four participants in one country, so it is </a:t>
            </a:r>
            <a:r>
              <a:rPr lang="en-US" sz="2400" dirty="0" err="1"/>
              <a:t>decentralised</a:t>
            </a:r>
            <a:r>
              <a:rPr lang="en-US" sz="2400" dirty="0"/>
              <a:t> only to a small degree.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FC27D-2AF5-C337-6A9A-0E50AF2DA535}"/>
            </a:ext>
          </a:extLst>
        </p:cNvPr>
        <p:cNvGrpSpPr/>
        <p:nvPr/>
      </p:nvGrpSpPr>
      <p:grpSpPr>
        <a:xfrm>
          <a:off x="0" y="0"/>
          <a:ext cx="0" cy="0"/>
          <a:chOff x="0" y="0"/>
          <a:chExt cx="0" cy="0"/>
        </a:xfrm>
      </p:grpSpPr>
      <p:pic>
        <p:nvPicPr>
          <p:cNvPr id="2" name="Picture 1" descr="s4.png">
            <a:extLst>
              <a:ext uri="{FF2B5EF4-FFF2-40B4-BE49-F238E27FC236}">
                <a16:creationId xmlns:a16="http://schemas.microsoft.com/office/drawing/2014/main" id="{90960B34-A814-7A6C-DCB8-5DF3F64C4259}"/>
              </a:ext>
            </a:extLst>
          </p:cNvPr>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5C0C89BB-7C0C-CB17-DB78-56C23EA96CC3}"/>
              </a:ext>
            </a:extLst>
          </p:cNvPr>
          <p:cNvSpPr txBox="1"/>
          <p:nvPr/>
        </p:nvSpPr>
        <p:spPr>
          <a:xfrm>
            <a:off x="1024759" y="4528121"/>
            <a:ext cx="11272357" cy="830997"/>
          </a:xfrm>
          <a:prstGeom prst="rect">
            <a:avLst/>
          </a:prstGeom>
          <a:solidFill>
            <a:schemeClr val="bg1">
              <a:lumMod val="95000"/>
            </a:schemeClr>
          </a:solidFill>
        </p:spPr>
        <p:txBody>
          <a:bodyPr wrap="square">
            <a:spAutoFit/>
          </a:bodyPr>
          <a:lstStyle/>
          <a:p>
            <a:r>
              <a:rPr lang="en-US" sz="2400" dirty="0"/>
              <a:t>Money services (like borrowing or lending) run entirely by automated software code on a public blockchain, without a central bank or company in charge</a:t>
            </a:r>
          </a:p>
        </p:txBody>
      </p:sp>
      <p:sp>
        <p:nvSpPr>
          <p:cNvPr id="6" name="TextBox 5">
            <a:extLst>
              <a:ext uri="{FF2B5EF4-FFF2-40B4-BE49-F238E27FC236}">
                <a16:creationId xmlns:a16="http://schemas.microsoft.com/office/drawing/2014/main" id="{3A6DA870-5AC4-F71C-0326-28A262EE6B30}"/>
              </a:ext>
            </a:extLst>
          </p:cNvPr>
          <p:cNvSpPr txBox="1"/>
          <p:nvPr/>
        </p:nvSpPr>
        <p:spPr>
          <a:xfrm>
            <a:off x="1497729" y="6132813"/>
            <a:ext cx="11272357" cy="400110"/>
          </a:xfrm>
          <a:prstGeom prst="rect">
            <a:avLst/>
          </a:prstGeom>
          <a:solidFill>
            <a:schemeClr val="bg1">
              <a:lumMod val="95000"/>
            </a:schemeClr>
          </a:solidFill>
        </p:spPr>
        <p:txBody>
          <a:bodyPr wrap="square">
            <a:spAutoFit/>
          </a:bodyPr>
          <a:lstStyle/>
          <a:p>
            <a:r>
              <a:rPr lang="en-US" sz="2000" dirty="0"/>
              <a:t>An online organization run by smart contract rules, where members hold tokens to vote on decisions</a:t>
            </a:r>
          </a:p>
        </p:txBody>
      </p:sp>
      <p:sp>
        <p:nvSpPr>
          <p:cNvPr id="5" name="TextBox 4">
            <a:extLst>
              <a:ext uri="{FF2B5EF4-FFF2-40B4-BE49-F238E27FC236}">
                <a16:creationId xmlns:a16="http://schemas.microsoft.com/office/drawing/2014/main" id="{5118D352-7FE4-1B58-91D2-0D3D45726F13}"/>
              </a:ext>
            </a:extLst>
          </p:cNvPr>
          <p:cNvSpPr txBox="1"/>
          <p:nvPr/>
        </p:nvSpPr>
        <p:spPr>
          <a:xfrm>
            <a:off x="325814" y="2828835"/>
            <a:ext cx="11540371" cy="1200329"/>
          </a:xfrm>
          <a:prstGeom prst="rect">
            <a:avLst/>
          </a:prstGeom>
          <a:solidFill>
            <a:srgbClr val="002060"/>
          </a:solidFill>
        </p:spPr>
        <p:txBody>
          <a:bodyPr wrap="square">
            <a:spAutoFit/>
          </a:bodyPr>
          <a:lstStyle/>
          <a:p>
            <a:r>
              <a:rPr lang="en-US" sz="3600" dirty="0" err="1">
                <a:solidFill>
                  <a:schemeClr val="bg1"/>
                </a:solidFill>
              </a:rPr>
              <a:t>Decentralised</a:t>
            </a:r>
            <a:r>
              <a:rPr lang="en-US" sz="3600" dirty="0">
                <a:solidFill>
                  <a:schemeClr val="bg1"/>
                </a:solidFill>
              </a:rPr>
              <a:t> does not mean nobody is responsible. </a:t>
            </a:r>
          </a:p>
          <a:p>
            <a:r>
              <a:rPr lang="en-US" sz="3600" dirty="0">
                <a:solidFill>
                  <a:schemeClr val="bg1"/>
                </a:solidFill>
              </a:rPr>
              <a:t>It means responsibility is harder to find.</a:t>
            </a:r>
          </a:p>
        </p:txBody>
      </p:sp>
    </p:spTree>
    <p:extLst>
      <p:ext uri="{BB962C8B-B14F-4D97-AF65-F5344CB8AC3E}">
        <p14:creationId xmlns:p14="http://schemas.microsoft.com/office/powerpoint/2010/main" val="330343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5.png"/>
          <p:cNvPicPr>
            <a:picLocks noChangeAspect="1"/>
          </p:cNvPicPr>
          <p:nvPr/>
        </p:nvPicPr>
        <p:blipFill>
          <a:blip r:embed="rId3"/>
          <a:stretch>
            <a:fillRect/>
          </a:stretch>
        </p:blipFill>
        <p:spPr>
          <a:xfrm>
            <a:off x="0" y="0"/>
            <a:ext cx="12192000" cy="6858000"/>
          </a:xfrm>
          <a:prstGeom prst="rect">
            <a:avLst/>
          </a:prstGeom>
        </p:spPr>
      </p:pic>
      <p:grpSp>
        <p:nvGrpSpPr>
          <p:cNvPr id="11" name="Group 10">
            <a:extLst>
              <a:ext uri="{FF2B5EF4-FFF2-40B4-BE49-F238E27FC236}">
                <a16:creationId xmlns:a16="http://schemas.microsoft.com/office/drawing/2014/main" id="{E8B34DAD-F57E-DAE7-4C6F-75B0106A45DE}"/>
              </a:ext>
            </a:extLst>
          </p:cNvPr>
          <p:cNvGrpSpPr/>
          <p:nvPr/>
        </p:nvGrpSpPr>
        <p:grpSpPr>
          <a:xfrm>
            <a:off x="80667" y="1352471"/>
            <a:ext cx="6096001" cy="5416867"/>
            <a:chOff x="296957" y="2124981"/>
            <a:chExt cx="5690412" cy="5416867"/>
          </a:xfrm>
        </p:grpSpPr>
        <p:sp>
          <p:nvSpPr>
            <p:cNvPr id="8" name="TextBox 7">
              <a:extLst>
                <a:ext uri="{FF2B5EF4-FFF2-40B4-BE49-F238E27FC236}">
                  <a16:creationId xmlns:a16="http://schemas.microsoft.com/office/drawing/2014/main" id="{DC9A1C4F-C33B-3286-72BD-69DAECC8EC2A}"/>
                </a:ext>
              </a:extLst>
            </p:cNvPr>
            <p:cNvSpPr txBox="1"/>
            <p:nvPr/>
          </p:nvSpPr>
          <p:spPr>
            <a:xfrm>
              <a:off x="296957" y="2648201"/>
              <a:ext cx="5690412" cy="4893647"/>
            </a:xfrm>
            <a:prstGeom prst="rect">
              <a:avLst/>
            </a:prstGeom>
            <a:solidFill>
              <a:schemeClr val="accent3">
                <a:lumMod val="20000"/>
                <a:lumOff val="80000"/>
              </a:schemeClr>
            </a:solidFill>
          </p:spPr>
          <p:txBody>
            <a:bodyPr wrap="square">
              <a:spAutoFit/>
            </a:bodyPr>
            <a:lstStyle/>
            <a:p>
              <a:r>
                <a:rPr lang="en-US" sz="2400" dirty="0"/>
                <a:t>Think of it as </a:t>
              </a:r>
              <a:r>
                <a:rPr lang="en-US" sz="2400" b="1" dirty="0">
                  <a:solidFill>
                    <a:srgbClr val="FF0000"/>
                  </a:solidFill>
                </a:rPr>
                <a:t>“Who is responsible for the data?”</a:t>
              </a:r>
            </a:p>
            <a:p>
              <a:r>
                <a:rPr lang="en-US" sz="2400" dirty="0"/>
                <a:t>The </a:t>
              </a:r>
              <a:r>
                <a:rPr lang="en-US" sz="2400" b="1" dirty="0"/>
                <a:t>law (PDPL) puts duties on one person or </a:t>
              </a:r>
              <a:r>
                <a:rPr lang="en-US" sz="2400" b="1" dirty="0" err="1"/>
                <a:t>organisation</a:t>
              </a:r>
              <a:r>
                <a:rPr lang="en-US" sz="2400" b="1" dirty="0"/>
                <a:t>: </a:t>
              </a:r>
              <a:r>
                <a:rPr lang="en-US" sz="2400" dirty="0"/>
                <a:t>the </a:t>
              </a:r>
              <a:r>
                <a:rPr lang="en-US" sz="2400" b="1" dirty="0">
                  <a:solidFill>
                    <a:srgbClr val="FF0000"/>
                  </a:solidFill>
                </a:rPr>
                <a:t>controller</a:t>
              </a:r>
              <a:r>
                <a:rPr lang="en-US" sz="2400" dirty="0"/>
                <a:t>, </a:t>
              </a:r>
              <a:r>
                <a:rPr lang="en-US" sz="2400" b="1" i="1" dirty="0"/>
                <a:t>whoever decides why and how data is used.</a:t>
              </a:r>
            </a:p>
            <a:p>
              <a:r>
                <a:rPr lang="en-US" sz="2400" b="1" i="1" dirty="0"/>
                <a:t>Normally</a:t>
              </a:r>
              <a:r>
                <a:rPr lang="en-US" sz="2400" dirty="0"/>
                <a:t> that is </a:t>
              </a:r>
              <a:r>
                <a:rPr lang="en-US" sz="2400" b="1" dirty="0"/>
                <a:t>easy</a:t>
              </a:r>
              <a:r>
                <a:rPr lang="en-US" sz="2400" dirty="0"/>
                <a:t>. </a:t>
              </a:r>
              <a:r>
                <a:rPr lang="en-US" sz="2400" b="1" dirty="0">
                  <a:solidFill>
                    <a:srgbClr val="FF0000"/>
                  </a:solidFill>
                </a:rPr>
                <a:t>A bank is the controller</a:t>
              </a:r>
              <a:r>
                <a:rPr lang="en-US" sz="2400" dirty="0"/>
                <a:t>.</a:t>
              </a:r>
            </a:p>
            <a:p>
              <a:r>
                <a:rPr lang="en-US" sz="2400" u="sng" dirty="0"/>
                <a:t>In DeFi, nobody is clearly in charge, so we can’t easily say who must follow the law.</a:t>
              </a:r>
            </a:p>
            <a:p>
              <a:r>
                <a:rPr lang="en-US" sz="2400" dirty="0"/>
                <a:t>There are </a:t>
              </a:r>
              <a:r>
                <a:rPr lang="en-US" sz="2400" b="1" dirty="0">
                  <a:solidFill>
                    <a:srgbClr val="FF0000"/>
                  </a:solidFill>
                </a:rPr>
                <a:t>three</a:t>
              </a:r>
              <a:r>
                <a:rPr lang="en-US" sz="2400" dirty="0"/>
                <a:t> possible candidates (</a:t>
              </a:r>
              <a:r>
                <a:rPr lang="en-US" sz="2400" b="1" dirty="0">
                  <a:solidFill>
                    <a:srgbClr val="FF0000"/>
                  </a:solidFill>
                </a:rPr>
                <a:t>the website</a:t>
              </a:r>
              <a:r>
                <a:rPr lang="en-US" sz="2400" dirty="0"/>
                <a:t>, the </a:t>
              </a:r>
              <a:r>
                <a:rPr lang="en-US" sz="2400" b="1" dirty="0">
                  <a:solidFill>
                    <a:srgbClr val="002060"/>
                  </a:solidFill>
                </a:rPr>
                <a:t>DAO</a:t>
              </a:r>
              <a:r>
                <a:rPr lang="en-US" sz="2400" dirty="0"/>
                <a:t>, the </a:t>
              </a:r>
              <a:r>
                <a:rPr lang="en-US" sz="2400" b="1" dirty="0">
                  <a:solidFill>
                    <a:srgbClr val="00B050"/>
                  </a:solidFill>
                </a:rPr>
                <a:t>developers</a:t>
              </a:r>
              <a:r>
                <a:rPr lang="en-US" sz="2400" dirty="0"/>
                <a:t>), </a:t>
              </a:r>
              <a:r>
                <a:rPr lang="en-US" sz="2400" u="sng" dirty="0"/>
                <a:t>but each one is only partly responsible.</a:t>
              </a:r>
            </a:p>
            <a:p>
              <a:r>
                <a:rPr lang="en-US" sz="2400" b="1" i="1" u="sng" dirty="0">
                  <a:solidFill>
                    <a:schemeClr val="tx1">
                      <a:lumMod val="85000"/>
                      <a:lumOff val="15000"/>
                    </a:schemeClr>
                  </a:solidFill>
                </a:rPr>
                <a:t>This gap is the problem. </a:t>
              </a:r>
            </a:p>
            <a:p>
              <a:r>
                <a:rPr lang="en-US" sz="2400" b="1" i="1" u="sng" dirty="0">
                  <a:solidFill>
                    <a:schemeClr val="tx1">
                      <a:lumMod val="85000"/>
                      <a:lumOff val="15000"/>
                    </a:schemeClr>
                  </a:solidFill>
                </a:rPr>
                <a:t>Gap = the law is unclear here.</a:t>
              </a:r>
            </a:p>
          </p:txBody>
        </p:sp>
        <p:sp>
          <p:nvSpPr>
            <p:cNvPr id="10" name="TextBox 9">
              <a:extLst>
                <a:ext uri="{FF2B5EF4-FFF2-40B4-BE49-F238E27FC236}">
                  <a16:creationId xmlns:a16="http://schemas.microsoft.com/office/drawing/2014/main" id="{3B89DE0A-66F5-8CC7-E817-A431D574AE20}"/>
                </a:ext>
              </a:extLst>
            </p:cNvPr>
            <p:cNvSpPr txBox="1"/>
            <p:nvPr/>
          </p:nvSpPr>
          <p:spPr>
            <a:xfrm>
              <a:off x="382314" y="2124981"/>
              <a:ext cx="5529755" cy="523220"/>
            </a:xfrm>
            <a:prstGeom prst="rect">
              <a:avLst/>
            </a:prstGeom>
            <a:solidFill>
              <a:schemeClr val="accent3">
                <a:lumMod val="20000"/>
                <a:lumOff val="80000"/>
              </a:schemeClr>
            </a:solidFill>
          </p:spPr>
          <p:txBody>
            <a:bodyPr wrap="square">
              <a:spAutoFit/>
            </a:bodyPr>
            <a:lstStyle/>
            <a:p>
              <a:r>
                <a:rPr lang="en-US" sz="2800" dirty="0">
                  <a:solidFill>
                    <a:srgbClr val="C00000"/>
                  </a:solidFill>
                </a:rPr>
                <a:t>What is the problem?</a:t>
              </a:r>
            </a:p>
          </p:txBody>
        </p:sp>
      </p:grpSp>
      <p:grpSp>
        <p:nvGrpSpPr>
          <p:cNvPr id="16" name="Group 15">
            <a:extLst>
              <a:ext uri="{FF2B5EF4-FFF2-40B4-BE49-F238E27FC236}">
                <a16:creationId xmlns:a16="http://schemas.microsoft.com/office/drawing/2014/main" id="{FBDFA80B-5A17-7F06-68B1-FD0212422837}"/>
              </a:ext>
            </a:extLst>
          </p:cNvPr>
          <p:cNvGrpSpPr/>
          <p:nvPr/>
        </p:nvGrpSpPr>
        <p:grpSpPr>
          <a:xfrm>
            <a:off x="6144612" y="1506359"/>
            <a:ext cx="6219496" cy="5154294"/>
            <a:chOff x="6144612" y="1506359"/>
            <a:chExt cx="6219496" cy="5154294"/>
          </a:xfrm>
        </p:grpSpPr>
        <p:sp>
          <p:nvSpPr>
            <p:cNvPr id="13" name="TextBox 12">
              <a:extLst>
                <a:ext uri="{FF2B5EF4-FFF2-40B4-BE49-F238E27FC236}">
                  <a16:creationId xmlns:a16="http://schemas.microsoft.com/office/drawing/2014/main" id="{4ABA6158-FD99-CB56-5F47-465A2CEC7919}"/>
                </a:ext>
              </a:extLst>
            </p:cNvPr>
            <p:cNvSpPr txBox="1"/>
            <p:nvPr/>
          </p:nvSpPr>
          <p:spPr>
            <a:xfrm>
              <a:off x="6144612" y="1506359"/>
              <a:ext cx="6219496" cy="461665"/>
            </a:xfrm>
            <a:prstGeom prst="rect">
              <a:avLst/>
            </a:prstGeom>
            <a:solidFill>
              <a:schemeClr val="bg2">
                <a:lumMod val="90000"/>
              </a:schemeClr>
            </a:solidFill>
          </p:spPr>
          <p:txBody>
            <a:bodyPr wrap="square">
              <a:spAutoFit/>
            </a:bodyPr>
            <a:lstStyle/>
            <a:p>
              <a:r>
                <a:rPr lang="en-US" sz="2400" b="1" dirty="0">
                  <a:solidFill>
                    <a:srgbClr val="C00000"/>
                  </a:solidFill>
                </a:rPr>
                <a:t>What should a compliance officer do about it?</a:t>
              </a:r>
            </a:p>
          </p:txBody>
        </p:sp>
        <p:sp>
          <p:nvSpPr>
            <p:cNvPr id="15" name="TextBox 14">
              <a:extLst>
                <a:ext uri="{FF2B5EF4-FFF2-40B4-BE49-F238E27FC236}">
                  <a16:creationId xmlns:a16="http://schemas.microsoft.com/office/drawing/2014/main" id="{ABB2E6D2-C61A-5B78-9CB9-072A3F99DE7D}"/>
                </a:ext>
              </a:extLst>
            </p:cNvPr>
            <p:cNvSpPr txBox="1"/>
            <p:nvPr/>
          </p:nvSpPr>
          <p:spPr>
            <a:xfrm>
              <a:off x="6268109" y="2136338"/>
              <a:ext cx="5800396" cy="4524315"/>
            </a:xfrm>
            <a:prstGeom prst="rect">
              <a:avLst/>
            </a:prstGeom>
            <a:solidFill>
              <a:schemeClr val="bg2">
                <a:lumMod val="90000"/>
              </a:schemeClr>
            </a:solidFill>
          </p:spPr>
          <p:txBody>
            <a:bodyPr wrap="square">
              <a:spAutoFit/>
            </a:bodyPr>
            <a:lstStyle/>
            <a:p>
              <a:r>
                <a:rPr lang="en-US" sz="2400" dirty="0"/>
                <a:t>Think of it as “</a:t>
              </a:r>
              <a:r>
                <a:rPr lang="en-US" sz="2400" b="1" i="1" dirty="0"/>
                <a:t>How should a good compliance officer behave when the law is unclear</a:t>
              </a:r>
              <a:r>
                <a:rPr lang="en-US" sz="2400" dirty="0"/>
                <a:t>?”</a:t>
              </a:r>
            </a:p>
            <a:p>
              <a:r>
                <a:rPr lang="en-US" sz="2400" b="1" dirty="0">
                  <a:solidFill>
                    <a:srgbClr val="C00000"/>
                  </a:solidFill>
                </a:rPr>
                <a:t>1- Be honest. </a:t>
              </a:r>
              <a:r>
                <a:rPr lang="en-US" sz="2400" dirty="0"/>
                <a:t>Give the true answer, not the answer the company wants to hear.</a:t>
              </a:r>
            </a:p>
            <a:p>
              <a:r>
                <a:rPr lang="en-US" sz="2400" b="1" dirty="0">
                  <a:solidFill>
                    <a:srgbClr val="C00000"/>
                  </a:solidFill>
                </a:rPr>
                <a:t>2- Write it down. </a:t>
              </a:r>
              <a:r>
                <a:rPr lang="en-US" sz="2400" dirty="0"/>
                <a:t>Record the unclear part. Don’t hide it.</a:t>
              </a:r>
            </a:p>
            <a:p>
              <a:r>
                <a:rPr lang="en-US" sz="2400" b="1" dirty="0">
                  <a:solidFill>
                    <a:srgbClr val="C00000"/>
                  </a:solidFill>
                </a:rPr>
                <a:t>3- Pass it up. </a:t>
              </a:r>
              <a:r>
                <a:rPr lang="en-US" sz="2400" dirty="0"/>
                <a:t>If it’s a really difficult decision, give it to someone senior who can accept the risk.</a:t>
              </a:r>
            </a:p>
            <a:p>
              <a:r>
                <a:rPr lang="en-US" sz="2400" b="1" dirty="0">
                  <a:solidFill>
                    <a:srgbClr val="C00000"/>
                  </a:solidFill>
                </a:rPr>
                <a:t>4- Think of the customer. </a:t>
              </a:r>
              <a:r>
                <a:rPr lang="en-US" sz="2400" dirty="0"/>
                <a:t>Protect the person whose data it is, not only the company.</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8064C-825C-404E-E6DE-84FF59D9EF02}"/>
            </a:ext>
          </a:extLst>
        </p:cNvPr>
        <p:cNvGrpSpPr/>
        <p:nvPr/>
      </p:nvGrpSpPr>
      <p:grpSpPr>
        <a:xfrm>
          <a:off x="0" y="0"/>
          <a:ext cx="0" cy="0"/>
          <a:chOff x="0" y="0"/>
          <a:chExt cx="0" cy="0"/>
        </a:xfrm>
      </p:grpSpPr>
      <p:pic>
        <p:nvPicPr>
          <p:cNvPr id="2" name="Picture 1" descr="s5.png">
            <a:extLst>
              <a:ext uri="{FF2B5EF4-FFF2-40B4-BE49-F238E27FC236}">
                <a16:creationId xmlns:a16="http://schemas.microsoft.com/office/drawing/2014/main" id="{FDEAC0C4-AFBA-B3C5-D2AB-93DC75C5CE87}"/>
              </a:ext>
            </a:extLst>
          </p:cNvPr>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0C92A3E4-DAA5-340F-3916-1B548744E9FB}"/>
              </a:ext>
            </a:extLst>
          </p:cNvPr>
          <p:cNvSpPr txBox="1"/>
          <p:nvPr/>
        </p:nvSpPr>
        <p:spPr>
          <a:xfrm>
            <a:off x="0" y="1178768"/>
            <a:ext cx="6096000" cy="5647700"/>
          </a:xfrm>
          <a:prstGeom prst="rect">
            <a:avLst/>
          </a:prstGeom>
          <a:solidFill>
            <a:schemeClr val="bg2">
              <a:lumMod val="90000"/>
            </a:schemeClr>
          </a:solidFill>
        </p:spPr>
        <p:txBody>
          <a:bodyPr wrap="square">
            <a:spAutoFit/>
          </a:bodyPr>
          <a:lstStyle/>
          <a:p>
            <a:r>
              <a:rPr lang="en-US" sz="1900" b="1" dirty="0"/>
              <a:t>The controller question</a:t>
            </a:r>
          </a:p>
          <a:p>
            <a:r>
              <a:rPr lang="en-US" sz="1900" b="1" dirty="0">
                <a:solidFill>
                  <a:srgbClr val="C00000"/>
                </a:solidFill>
              </a:rPr>
              <a:t>Controller</a:t>
            </a:r>
            <a:r>
              <a:rPr lang="en-US" sz="1900" dirty="0"/>
              <a:t> = whoever decides why and how personal data is collected and used. </a:t>
            </a:r>
          </a:p>
          <a:p>
            <a:r>
              <a:rPr lang="en-US" sz="1900" dirty="0"/>
              <a:t>It is about function, not job title. Don’t ask “who owns it?” or “who wrote the code?” Ask “who makes the decisions?”</a:t>
            </a:r>
          </a:p>
          <a:p>
            <a:r>
              <a:rPr lang="en-US" sz="1900" b="1" dirty="0">
                <a:solidFill>
                  <a:srgbClr val="C00000"/>
                </a:solidFill>
              </a:rPr>
              <a:t>Permissionless</a:t>
            </a:r>
            <a:r>
              <a:rPr lang="en-US" sz="1900" dirty="0"/>
              <a:t> = open to anyone. Anyone can use it or build on it. There is no gatekeeper.</a:t>
            </a:r>
          </a:p>
          <a:p>
            <a:r>
              <a:rPr lang="en-US" sz="1900" b="1" dirty="0"/>
              <a:t>Put them together</a:t>
            </a:r>
            <a:r>
              <a:rPr lang="en-US" sz="1900" dirty="0"/>
              <a:t>: The duties fall on whoever decides. The system was designed so no single party decides. So the test returns no answer.</a:t>
            </a:r>
          </a:p>
          <a:p>
            <a:r>
              <a:rPr lang="en-US" sz="1900" b="1" dirty="0"/>
              <a:t>Three partial candidates. </a:t>
            </a:r>
            <a:r>
              <a:rPr lang="en-US" sz="1900" dirty="0"/>
              <a:t>Each has a claim, but none has the full claim: </a:t>
            </a:r>
          </a:p>
          <a:p>
            <a:r>
              <a:rPr lang="en-US" sz="1900" b="1" dirty="0">
                <a:solidFill>
                  <a:srgbClr val="C00000"/>
                </a:solidFill>
              </a:rPr>
              <a:t>Front-end: </a:t>
            </a:r>
            <a:r>
              <a:rPr lang="en-US" sz="1900" dirty="0"/>
              <a:t>the website or app people use. Whoever runs it decides what data is collected there.</a:t>
            </a:r>
          </a:p>
          <a:p>
            <a:r>
              <a:rPr lang="en-US" sz="1900" b="1" dirty="0">
                <a:solidFill>
                  <a:srgbClr val="C00000"/>
                </a:solidFill>
              </a:rPr>
              <a:t>DAO</a:t>
            </a:r>
            <a:r>
              <a:rPr lang="en-US" sz="1900" dirty="0"/>
              <a:t>: a group that governs a protocol by token-holder voting. It makes some decisions together.</a:t>
            </a:r>
          </a:p>
          <a:p>
            <a:r>
              <a:rPr lang="en-US" sz="1900" b="1" dirty="0">
                <a:solidFill>
                  <a:srgbClr val="C00000"/>
                </a:solidFill>
              </a:rPr>
              <a:t>Developers</a:t>
            </a:r>
            <a:r>
              <a:rPr lang="en-US" sz="1900" dirty="0"/>
              <a:t>: they wrote the rules everything else follows.</a:t>
            </a:r>
          </a:p>
          <a:p>
            <a:r>
              <a:rPr lang="en-US" sz="1900" b="1" i="1" dirty="0"/>
              <a:t>The gap between these is where professional judgement is needed.</a:t>
            </a:r>
          </a:p>
        </p:txBody>
      </p:sp>
      <p:sp>
        <p:nvSpPr>
          <p:cNvPr id="6" name="TextBox 5">
            <a:extLst>
              <a:ext uri="{FF2B5EF4-FFF2-40B4-BE49-F238E27FC236}">
                <a16:creationId xmlns:a16="http://schemas.microsoft.com/office/drawing/2014/main" id="{E3667B0F-C34E-154B-9BE3-1F80A30002DE}"/>
              </a:ext>
            </a:extLst>
          </p:cNvPr>
          <p:cNvSpPr txBox="1"/>
          <p:nvPr/>
        </p:nvSpPr>
        <p:spPr>
          <a:xfrm>
            <a:off x="6248399" y="1694294"/>
            <a:ext cx="5728138" cy="4524315"/>
          </a:xfrm>
          <a:prstGeom prst="rect">
            <a:avLst/>
          </a:prstGeom>
          <a:solidFill>
            <a:schemeClr val="accent3">
              <a:lumMod val="20000"/>
              <a:lumOff val="80000"/>
            </a:schemeClr>
          </a:solidFill>
        </p:spPr>
        <p:txBody>
          <a:bodyPr wrap="square">
            <a:spAutoFit/>
          </a:bodyPr>
          <a:lstStyle/>
          <a:p>
            <a:r>
              <a:rPr lang="en-US" sz="2400" b="1" dirty="0"/>
              <a:t>The compliance officer’s duty</a:t>
            </a:r>
          </a:p>
          <a:p>
            <a:r>
              <a:rPr lang="en-US" sz="2400" dirty="0"/>
              <a:t>When the law doesn’t settle a question, you don’t stop working. Four duties:</a:t>
            </a:r>
          </a:p>
          <a:p>
            <a:r>
              <a:rPr lang="en-US" sz="2400" b="1" dirty="0">
                <a:solidFill>
                  <a:srgbClr val="C00000"/>
                </a:solidFill>
              </a:rPr>
              <a:t>Give the honest reading</a:t>
            </a:r>
            <a:r>
              <a:rPr lang="en-US" sz="2400" dirty="0"/>
              <a:t>, not the convenient one.</a:t>
            </a:r>
          </a:p>
          <a:p>
            <a:r>
              <a:rPr lang="en-US" sz="2400" b="1" dirty="0">
                <a:solidFill>
                  <a:srgbClr val="C00000"/>
                </a:solidFill>
              </a:rPr>
              <a:t>Write down the unresolved tension</a:t>
            </a:r>
            <a:r>
              <a:rPr lang="en-US" sz="2400" dirty="0"/>
              <a:t>. Don’t leave it out.</a:t>
            </a:r>
          </a:p>
          <a:p>
            <a:r>
              <a:rPr lang="en-US" sz="2400" b="1" dirty="0">
                <a:solidFill>
                  <a:srgbClr val="C00000"/>
                </a:solidFill>
              </a:rPr>
              <a:t>Escalate genuinely borderline calls</a:t>
            </a:r>
            <a:r>
              <a:rPr lang="en-US" sz="2400" dirty="0"/>
              <a:t>. Pass the decision to someone with the authority to accept the risk.</a:t>
            </a:r>
          </a:p>
          <a:p>
            <a:r>
              <a:rPr lang="en-US" sz="2400" b="1" dirty="0">
                <a:solidFill>
                  <a:srgbClr val="C00000"/>
                </a:solidFill>
              </a:rPr>
              <a:t>Keep the data subject in view</a:t>
            </a:r>
            <a:r>
              <a:rPr lang="en-US" sz="2400" dirty="0"/>
              <a:t>, not only the firm.</a:t>
            </a:r>
          </a:p>
        </p:txBody>
      </p:sp>
    </p:spTree>
    <p:extLst>
      <p:ext uri="{BB962C8B-B14F-4D97-AF65-F5344CB8AC3E}">
        <p14:creationId xmlns:p14="http://schemas.microsoft.com/office/powerpoint/2010/main" val="359053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6.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4A6D7CE9-6C68-1AA2-BC18-7FD65F10653C}"/>
              </a:ext>
            </a:extLst>
          </p:cNvPr>
          <p:cNvSpPr txBox="1"/>
          <p:nvPr/>
        </p:nvSpPr>
        <p:spPr>
          <a:xfrm>
            <a:off x="446688" y="1208771"/>
            <a:ext cx="11047688" cy="830997"/>
          </a:xfrm>
          <a:prstGeom prst="rect">
            <a:avLst/>
          </a:prstGeom>
          <a:solidFill>
            <a:schemeClr val="bg2">
              <a:lumMod val="90000"/>
            </a:schemeClr>
          </a:solidFill>
        </p:spPr>
        <p:txBody>
          <a:bodyPr wrap="square">
            <a:spAutoFit/>
          </a:bodyPr>
          <a:lstStyle/>
          <a:p>
            <a:r>
              <a:rPr lang="en-US" sz="2400" b="1" i="1" dirty="0">
                <a:solidFill>
                  <a:srgbClr val="C00000"/>
                </a:solidFill>
              </a:rPr>
              <a:t>The aim: </a:t>
            </a:r>
            <a:r>
              <a:rPr lang="en-US" sz="2400" dirty="0"/>
              <a:t>five questions they can ask about any product, and a rule for answering them honestly</a:t>
            </a:r>
          </a:p>
        </p:txBody>
      </p:sp>
      <p:graphicFrame>
        <p:nvGraphicFramePr>
          <p:cNvPr id="5" name="Table 4">
            <a:extLst>
              <a:ext uri="{FF2B5EF4-FFF2-40B4-BE49-F238E27FC236}">
                <a16:creationId xmlns:a16="http://schemas.microsoft.com/office/drawing/2014/main" id="{0390482C-38C4-E907-3553-2822AD216681}"/>
              </a:ext>
            </a:extLst>
          </p:cNvPr>
          <p:cNvGraphicFramePr>
            <a:graphicFrameLocks noGrp="1"/>
          </p:cNvGraphicFramePr>
          <p:nvPr>
            <p:extLst>
              <p:ext uri="{D42A27DB-BD31-4B8C-83A1-F6EECF244321}">
                <p14:modId xmlns:p14="http://schemas.microsoft.com/office/powerpoint/2010/main" val="2323573007"/>
              </p:ext>
            </p:extLst>
          </p:nvPr>
        </p:nvGraphicFramePr>
        <p:xfrm>
          <a:off x="446688" y="2113652"/>
          <a:ext cx="11424746" cy="4638275"/>
        </p:xfrm>
        <a:graphic>
          <a:graphicData uri="http://schemas.openxmlformats.org/drawingml/2006/table">
            <a:tbl>
              <a:tblPr>
                <a:tableStyleId>{5C22544A-7EE6-4342-B048-85BDC9FD1C3A}</a:tableStyleId>
              </a:tblPr>
              <a:tblGrid>
                <a:gridCol w="1706443">
                  <a:extLst>
                    <a:ext uri="{9D8B030D-6E8A-4147-A177-3AD203B41FA5}">
                      <a16:colId xmlns:a16="http://schemas.microsoft.com/office/drawing/2014/main" val="3257890685"/>
                    </a:ext>
                  </a:extLst>
                </a:gridCol>
                <a:gridCol w="4862524">
                  <a:extLst>
                    <a:ext uri="{9D8B030D-6E8A-4147-A177-3AD203B41FA5}">
                      <a16:colId xmlns:a16="http://schemas.microsoft.com/office/drawing/2014/main" val="2219533645"/>
                    </a:ext>
                  </a:extLst>
                </a:gridCol>
                <a:gridCol w="4855779">
                  <a:extLst>
                    <a:ext uri="{9D8B030D-6E8A-4147-A177-3AD203B41FA5}">
                      <a16:colId xmlns:a16="http://schemas.microsoft.com/office/drawing/2014/main" val="806390607"/>
                    </a:ext>
                  </a:extLst>
                </a:gridCol>
              </a:tblGrid>
              <a:tr h="317611">
                <a:tc>
                  <a:txBody>
                    <a:bodyPr/>
                    <a:lstStyle/>
                    <a:p>
                      <a:pPr>
                        <a:buNone/>
                      </a:pPr>
                      <a:r>
                        <a:rPr lang="en-US" sz="2300" b="1" i="1" dirty="0">
                          <a:solidFill>
                            <a:srgbClr val="C00000"/>
                          </a:solidFill>
                          <a:effectLst>
                            <a:outerShdw blurRad="38100" dist="38100" dir="2700000" algn="tl">
                              <a:srgbClr val="000000">
                                <a:alpha val="43137"/>
                              </a:srgbClr>
                            </a:outerShdw>
                          </a:effectLst>
                        </a:rPr>
                        <a:t>Question</a:t>
                      </a:r>
                    </a:p>
                  </a:txBody>
                  <a:tcPr marL="79403" marR="79403" marT="39701" marB="39701" anchor="ctr"/>
                </a:tc>
                <a:tc>
                  <a:txBody>
                    <a:bodyPr/>
                    <a:lstStyle/>
                    <a:p>
                      <a:pPr>
                        <a:buNone/>
                      </a:pPr>
                      <a:r>
                        <a:rPr lang="en-US" sz="2300" b="1" i="1" dirty="0">
                          <a:solidFill>
                            <a:srgbClr val="C00000"/>
                          </a:solidFill>
                          <a:effectLst>
                            <a:outerShdw blurRad="38100" dist="38100" dir="2700000" algn="tl">
                              <a:srgbClr val="000000">
                                <a:alpha val="43137"/>
                              </a:srgbClr>
                            </a:outerShdw>
                          </a:effectLst>
                        </a:rPr>
                        <a:t>Plain meaning</a:t>
                      </a:r>
                    </a:p>
                  </a:txBody>
                  <a:tcPr marL="79403" marR="79403" marT="39701" marB="39701" anchor="ctr"/>
                </a:tc>
                <a:tc>
                  <a:txBody>
                    <a:bodyPr/>
                    <a:lstStyle/>
                    <a:p>
                      <a:pPr>
                        <a:buNone/>
                      </a:pPr>
                      <a:r>
                        <a:rPr lang="en-US" sz="2300" b="1" i="1" dirty="0">
                          <a:solidFill>
                            <a:srgbClr val="C00000"/>
                          </a:solidFill>
                          <a:effectLst>
                            <a:outerShdw blurRad="38100" dist="38100" dir="2700000" algn="tl">
                              <a:srgbClr val="000000">
                                <a:alpha val="43137"/>
                              </a:srgbClr>
                            </a:outerShdw>
                          </a:effectLst>
                        </a:rPr>
                        <a:t>DeFi difficulty</a:t>
                      </a:r>
                    </a:p>
                  </a:txBody>
                  <a:tcPr marL="79403" marR="79403" marT="39701" marB="39701" anchor="ctr"/>
                </a:tc>
                <a:extLst>
                  <a:ext uri="{0D108BD9-81ED-4DB2-BD59-A6C34878D82A}">
                    <a16:rowId xmlns:a16="http://schemas.microsoft.com/office/drawing/2014/main" val="1593313076"/>
                  </a:ext>
                </a:extLst>
              </a:tr>
              <a:tr h="1270446">
                <a:tc>
                  <a:txBody>
                    <a:bodyPr/>
                    <a:lstStyle/>
                    <a:p>
                      <a:pPr>
                        <a:buNone/>
                      </a:pPr>
                      <a:r>
                        <a:rPr lang="en-US" sz="2300" b="1" i="1" dirty="0">
                          <a:solidFill>
                            <a:srgbClr val="C00000"/>
                          </a:solidFill>
                          <a:effectLst>
                            <a:outerShdw blurRad="38100" dist="38100" dir="2700000" algn="tl">
                              <a:srgbClr val="000000">
                                <a:alpha val="43137"/>
                              </a:srgbClr>
                            </a:outerShdw>
                          </a:effectLst>
                        </a:rPr>
                        <a:t>Article 12</a:t>
                      </a:r>
                    </a:p>
                  </a:txBody>
                  <a:tcPr marL="79403" marR="79403" marT="39701" marB="39701" anchor="ctr"/>
                </a:tc>
                <a:tc>
                  <a:txBody>
                    <a:bodyPr/>
                    <a:lstStyle/>
                    <a:p>
                      <a:pPr>
                        <a:buNone/>
                      </a:pPr>
                      <a:r>
                        <a:rPr lang="en-US" sz="2300"/>
                        <a:t>Does personal data leave Bahrain, and is that controlled?</a:t>
                      </a:r>
                    </a:p>
                  </a:txBody>
                  <a:tcPr marL="79403" marR="79403" marT="39701" marB="39701" anchor="ctr"/>
                </a:tc>
                <a:tc>
                  <a:txBody>
                    <a:bodyPr/>
                    <a:lstStyle/>
                    <a:p>
                      <a:pPr>
                        <a:buNone/>
                      </a:pPr>
                      <a:r>
                        <a:rPr lang="en-US" sz="2300"/>
                        <a:t>The blockchain is copied to computers in many countries at once. There is no single “transfer” anyone can point to.</a:t>
                      </a:r>
                    </a:p>
                  </a:txBody>
                  <a:tcPr marL="79403" marR="79403" marT="39701" marB="39701" anchor="ctr"/>
                </a:tc>
                <a:extLst>
                  <a:ext uri="{0D108BD9-81ED-4DB2-BD59-A6C34878D82A}">
                    <a16:rowId xmlns:a16="http://schemas.microsoft.com/office/drawing/2014/main" val="110573927"/>
                  </a:ext>
                </a:extLst>
              </a:tr>
              <a:tr h="794029">
                <a:tc>
                  <a:txBody>
                    <a:bodyPr/>
                    <a:lstStyle/>
                    <a:p>
                      <a:pPr>
                        <a:buNone/>
                      </a:pPr>
                      <a:r>
                        <a:rPr lang="en-US" sz="2300" b="1" i="1" dirty="0">
                          <a:solidFill>
                            <a:srgbClr val="C00000"/>
                          </a:solidFill>
                          <a:effectLst>
                            <a:outerShdw blurRad="38100" dist="38100" dir="2700000" algn="tl">
                              <a:srgbClr val="000000">
                                <a:alpha val="43137"/>
                              </a:srgbClr>
                            </a:outerShdw>
                          </a:effectLst>
                        </a:rPr>
                        <a:t>Article 22</a:t>
                      </a:r>
                    </a:p>
                  </a:txBody>
                  <a:tcPr marL="79403" marR="79403" marT="39701" marB="39701" anchor="ctr"/>
                </a:tc>
                <a:tc>
                  <a:txBody>
                    <a:bodyPr/>
                    <a:lstStyle/>
                    <a:p>
                      <a:pPr>
                        <a:buNone/>
                      </a:pPr>
                      <a:r>
                        <a:rPr lang="en-US" sz="2300"/>
                        <a:t>Is any decision about the person made only by a machine?</a:t>
                      </a:r>
                    </a:p>
                  </a:txBody>
                  <a:tcPr marL="79403" marR="79403" marT="39701" marB="39701" anchor="ctr"/>
                </a:tc>
                <a:tc>
                  <a:txBody>
                    <a:bodyPr/>
                    <a:lstStyle/>
                    <a:p>
                      <a:pPr>
                        <a:buNone/>
                      </a:pPr>
                      <a:r>
                        <a:rPr lang="en-US" sz="2300"/>
                        <a:t>Smart contracts decide automatically (for example, liquidating a loan).</a:t>
                      </a:r>
                    </a:p>
                  </a:txBody>
                  <a:tcPr marL="79403" marR="79403" marT="39701" marB="39701" anchor="ctr"/>
                </a:tc>
                <a:extLst>
                  <a:ext uri="{0D108BD9-81ED-4DB2-BD59-A6C34878D82A}">
                    <a16:rowId xmlns:a16="http://schemas.microsoft.com/office/drawing/2014/main" val="3934171967"/>
                  </a:ext>
                </a:extLst>
              </a:tr>
              <a:tr h="794029">
                <a:tc>
                  <a:txBody>
                    <a:bodyPr/>
                    <a:lstStyle/>
                    <a:p>
                      <a:pPr>
                        <a:buNone/>
                      </a:pPr>
                      <a:r>
                        <a:rPr lang="en-US" sz="2300" b="1" i="1" dirty="0">
                          <a:solidFill>
                            <a:srgbClr val="C00000"/>
                          </a:solidFill>
                          <a:effectLst>
                            <a:outerShdw blurRad="38100" dist="38100" dir="2700000" algn="tl">
                              <a:srgbClr val="000000">
                                <a:alpha val="43137"/>
                              </a:srgbClr>
                            </a:outerShdw>
                          </a:effectLst>
                        </a:rPr>
                        <a:t>Article 23</a:t>
                      </a:r>
                    </a:p>
                  </a:txBody>
                  <a:tcPr marL="79403" marR="79403" marT="39701" marB="39701" anchor="ctr"/>
                </a:tc>
                <a:tc>
                  <a:txBody>
                    <a:bodyPr/>
                    <a:lstStyle/>
                    <a:p>
                      <a:pPr>
                        <a:buNone/>
                      </a:pPr>
                      <a:r>
                        <a:rPr lang="en-US" sz="2300"/>
                        <a:t>Can data be corrected, blocked or erased if the person asks?</a:t>
                      </a:r>
                    </a:p>
                  </a:txBody>
                  <a:tcPr marL="79403" marR="79403" marT="39701" marB="39701" anchor="ctr"/>
                </a:tc>
                <a:tc>
                  <a:txBody>
                    <a:bodyPr/>
                    <a:lstStyle/>
                    <a:p>
                      <a:pPr>
                        <a:buNone/>
                      </a:pPr>
                      <a:r>
                        <a:rPr lang="en-US" sz="2300"/>
                        <a:t>The blockchain can’t delete (immutability).</a:t>
                      </a:r>
                    </a:p>
                  </a:txBody>
                  <a:tcPr marL="79403" marR="79403" marT="39701" marB="39701" anchor="ctr"/>
                </a:tc>
                <a:extLst>
                  <a:ext uri="{0D108BD9-81ED-4DB2-BD59-A6C34878D82A}">
                    <a16:rowId xmlns:a16="http://schemas.microsoft.com/office/drawing/2014/main" val="2823779360"/>
                  </a:ext>
                </a:extLst>
              </a:tr>
              <a:tr h="794029">
                <a:tc>
                  <a:txBody>
                    <a:bodyPr/>
                    <a:lstStyle/>
                    <a:p>
                      <a:pPr>
                        <a:buNone/>
                      </a:pPr>
                      <a:r>
                        <a:rPr lang="en-US" sz="2300" b="1" i="1" dirty="0">
                          <a:solidFill>
                            <a:srgbClr val="C00000"/>
                          </a:solidFill>
                          <a:effectLst>
                            <a:outerShdw blurRad="38100" dist="38100" dir="2700000" algn="tl">
                              <a:srgbClr val="000000">
                                <a:alpha val="43137"/>
                              </a:srgbClr>
                            </a:outerShdw>
                          </a:effectLst>
                        </a:rPr>
                        <a:t>Article 24</a:t>
                      </a:r>
                    </a:p>
                  </a:txBody>
                  <a:tcPr marL="79403" marR="79403" marT="39701" marB="39701" anchor="ctr"/>
                </a:tc>
                <a:tc>
                  <a:txBody>
                    <a:bodyPr/>
                    <a:lstStyle/>
                    <a:p>
                      <a:pPr>
                        <a:buNone/>
                      </a:pPr>
                      <a:r>
                        <a:rPr lang="en-US" sz="2300"/>
                        <a:t>Was the person’s consent real, freely given and for a specific purpose?</a:t>
                      </a:r>
                    </a:p>
                  </a:txBody>
                  <a:tcPr marL="79403" marR="79403" marT="39701" marB="39701" anchor="ctr"/>
                </a:tc>
                <a:tc>
                  <a:txBody>
                    <a:bodyPr/>
                    <a:lstStyle/>
                    <a:p>
                      <a:pPr>
                        <a:buNone/>
                      </a:pPr>
                      <a:r>
                        <a:rPr lang="en-US" sz="2300"/>
                        <a:t>Using a protocol may not involve any real consent step.</a:t>
                      </a:r>
                    </a:p>
                  </a:txBody>
                  <a:tcPr marL="79403" marR="79403" marT="39701" marB="39701" anchor="ctr"/>
                </a:tc>
                <a:extLst>
                  <a:ext uri="{0D108BD9-81ED-4DB2-BD59-A6C34878D82A}">
                    <a16:rowId xmlns:a16="http://schemas.microsoft.com/office/drawing/2014/main" val="670725654"/>
                  </a:ext>
                </a:extLst>
              </a:tr>
              <a:tr h="555820">
                <a:tc>
                  <a:txBody>
                    <a:bodyPr/>
                    <a:lstStyle/>
                    <a:p>
                      <a:pPr>
                        <a:buNone/>
                      </a:pPr>
                      <a:r>
                        <a:rPr lang="en-US" sz="2300" b="1" i="1" dirty="0">
                          <a:solidFill>
                            <a:srgbClr val="C00000"/>
                          </a:solidFill>
                          <a:effectLst>
                            <a:outerShdw blurRad="38100" dist="38100" dir="2700000" algn="tl">
                              <a:srgbClr val="000000">
                                <a:alpha val="43137"/>
                              </a:srgbClr>
                            </a:outerShdw>
                          </a:effectLst>
                        </a:rPr>
                        <a:t>Controller?</a:t>
                      </a:r>
                    </a:p>
                  </a:txBody>
                  <a:tcPr marL="79403" marR="79403" marT="39701" marB="39701" anchor="ctr"/>
                </a:tc>
                <a:tc>
                  <a:txBody>
                    <a:bodyPr/>
                    <a:lstStyle/>
                    <a:p>
                      <a:pPr>
                        <a:buNone/>
                      </a:pPr>
                      <a:r>
                        <a:rPr lang="en-US" sz="2300"/>
                        <a:t>Who, if anyone, is responsible?</a:t>
                      </a:r>
                    </a:p>
                  </a:txBody>
                  <a:tcPr marL="79403" marR="79403" marT="39701" marB="39701" anchor="ctr"/>
                </a:tc>
                <a:tc>
                  <a:txBody>
                    <a:bodyPr/>
                    <a:lstStyle/>
                    <a:p>
                      <a:pPr>
                        <a:buNone/>
                      </a:pPr>
                      <a:r>
                        <a:rPr lang="en-US" sz="2300" dirty="0"/>
                        <a:t>The gap from the last slide.</a:t>
                      </a:r>
                    </a:p>
                  </a:txBody>
                  <a:tcPr marL="79403" marR="79403" marT="39701" marB="39701" anchor="ctr"/>
                </a:tc>
                <a:extLst>
                  <a:ext uri="{0D108BD9-81ED-4DB2-BD59-A6C34878D82A}">
                    <a16:rowId xmlns:a16="http://schemas.microsoft.com/office/drawing/2014/main" val="255769594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7.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781A00F3-60DD-9A89-0C4A-52CCF77587C9}"/>
              </a:ext>
            </a:extLst>
          </p:cNvPr>
          <p:cNvSpPr txBox="1"/>
          <p:nvPr/>
        </p:nvSpPr>
        <p:spPr>
          <a:xfrm>
            <a:off x="478222" y="1197997"/>
            <a:ext cx="11508826" cy="2123658"/>
          </a:xfrm>
          <a:prstGeom prst="rect">
            <a:avLst/>
          </a:prstGeom>
          <a:solidFill>
            <a:schemeClr val="accent1">
              <a:lumMod val="40000"/>
              <a:lumOff val="60000"/>
            </a:schemeClr>
          </a:solidFill>
        </p:spPr>
        <p:txBody>
          <a:bodyPr wrap="square">
            <a:spAutoFit/>
          </a:bodyPr>
          <a:lstStyle/>
          <a:p>
            <a:r>
              <a:rPr lang="en-US" sz="2200" dirty="0"/>
              <a:t>The first question in any data protection analysis is </a:t>
            </a:r>
            <a:r>
              <a:rPr lang="en-US" sz="2200" b="1" dirty="0">
                <a:solidFill>
                  <a:srgbClr val="C00000"/>
                </a:solidFill>
              </a:rPr>
              <a:t>about people, not technology</a:t>
            </a:r>
            <a:r>
              <a:rPr lang="en-US" sz="2200" dirty="0"/>
              <a:t>: </a:t>
            </a:r>
            <a:r>
              <a:rPr lang="en-US" sz="2200" b="1" dirty="0"/>
              <a:t>who decides?</a:t>
            </a:r>
          </a:p>
          <a:p>
            <a:r>
              <a:rPr lang="en-US" sz="2200" dirty="0"/>
              <a:t>If you can’t name who decides, you can’t say: </a:t>
            </a:r>
          </a:p>
          <a:p>
            <a:r>
              <a:rPr lang="en-US" sz="2200" b="1" i="1" dirty="0">
                <a:solidFill>
                  <a:srgbClr val="C00000"/>
                </a:solidFill>
              </a:rPr>
              <a:t>who answers an erasure request</a:t>
            </a:r>
          </a:p>
          <a:p>
            <a:r>
              <a:rPr lang="en-US" sz="2200" b="1" i="1" dirty="0">
                <a:solidFill>
                  <a:srgbClr val="C00000"/>
                </a:solidFill>
              </a:rPr>
              <a:t>who answers the regulator</a:t>
            </a:r>
          </a:p>
          <a:p>
            <a:r>
              <a:rPr lang="en-US" sz="2200" b="1" i="1" dirty="0">
                <a:solidFill>
                  <a:srgbClr val="C00000"/>
                </a:solidFill>
              </a:rPr>
              <a:t>who is liable when things go wrong</a:t>
            </a:r>
          </a:p>
          <a:p>
            <a:r>
              <a:rPr lang="en-US" sz="2200" dirty="0"/>
              <a:t>In permissionless DeFi, the naming step fails, so everything after it becomes uncertain.</a:t>
            </a:r>
          </a:p>
        </p:txBody>
      </p:sp>
      <p:sp>
        <p:nvSpPr>
          <p:cNvPr id="6" name="TextBox 5">
            <a:extLst>
              <a:ext uri="{FF2B5EF4-FFF2-40B4-BE49-F238E27FC236}">
                <a16:creationId xmlns:a16="http://schemas.microsoft.com/office/drawing/2014/main" id="{77BCA184-E70C-9738-E568-144A6BE7145A}"/>
              </a:ext>
            </a:extLst>
          </p:cNvPr>
          <p:cNvSpPr txBox="1"/>
          <p:nvPr/>
        </p:nvSpPr>
        <p:spPr>
          <a:xfrm>
            <a:off x="341586" y="3429000"/>
            <a:ext cx="11850413" cy="1938992"/>
          </a:xfrm>
          <a:prstGeom prst="rect">
            <a:avLst/>
          </a:prstGeom>
          <a:solidFill>
            <a:schemeClr val="accent2">
              <a:lumMod val="20000"/>
              <a:lumOff val="80000"/>
            </a:schemeClr>
          </a:solidFill>
        </p:spPr>
        <p:txBody>
          <a:bodyPr wrap="square">
            <a:spAutoFit/>
          </a:bodyPr>
          <a:lstStyle/>
          <a:p>
            <a:r>
              <a:rPr lang="en-US" sz="2000" b="1" i="1" dirty="0">
                <a:solidFill>
                  <a:srgbClr val="C00000"/>
                </a:solidFill>
              </a:rPr>
              <a:t>Why? Because of consequences.</a:t>
            </a:r>
          </a:p>
          <a:p>
            <a:pPr marL="342900" indent="-342900">
              <a:buFont typeface="Arial" panose="020B0604020202020204" pitchFamily="34" charset="0"/>
              <a:buChar char="•"/>
            </a:pPr>
            <a:r>
              <a:rPr lang="en-US" sz="2000" dirty="0"/>
              <a:t>A risk that is not written down was never chosen by anyone senior.</a:t>
            </a:r>
          </a:p>
          <a:p>
            <a:pPr marL="342900" indent="-342900">
              <a:buFont typeface="Arial" panose="020B0604020202020204" pitchFamily="34" charset="0"/>
              <a:buChar char="•"/>
            </a:pPr>
            <a:r>
              <a:rPr lang="en-US" sz="2000" dirty="0"/>
              <a:t>When it happens, the firm can’t show it made any decision.</a:t>
            </a:r>
          </a:p>
          <a:p>
            <a:pPr marL="342900" indent="-342900">
              <a:buFont typeface="Arial" panose="020B0604020202020204" pitchFamily="34" charset="0"/>
              <a:buChar char="•"/>
            </a:pPr>
            <a:r>
              <a:rPr lang="en-US" sz="2000" dirty="0"/>
              <a:t>The officer who knew is left holding it.</a:t>
            </a:r>
          </a:p>
          <a:p>
            <a:pPr marL="342900" indent="-342900">
              <a:buFont typeface="Arial" panose="020B0604020202020204" pitchFamily="34" charset="0"/>
              <a:buChar char="•"/>
            </a:pPr>
            <a:r>
              <a:rPr lang="en-US" sz="2000" dirty="0"/>
              <a:t>Writing it down moves the decision to the people whose job it is to decide. This is not paperwork to protect yourself. It is how accountability moves.</a:t>
            </a:r>
          </a:p>
        </p:txBody>
      </p:sp>
      <p:sp>
        <p:nvSpPr>
          <p:cNvPr id="8" name="TextBox 7">
            <a:extLst>
              <a:ext uri="{FF2B5EF4-FFF2-40B4-BE49-F238E27FC236}">
                <a16:creationId xmlns:a16="http://schemas.microsoft.com/office/drawing/2014/main" id="{BD6954AF-F63C-2D92-6C0F-1BDE227DDC18}"/>
              </a:ext>
            </a:extLst>
          </p:cNvPr>
          <p:cNvSpPr txBox="1"/>
          <p:nvPr/>
        </p:nvSpPr>
        <p:spPr>
          <a:xfrm>
            <a:off x="189186" y="5800282"/>
            <a:ext cx="12002813" cy="954107"/>
          </a:xfrm>
          <a:prstGeom prst="rect">
            <a:avLst/>
          </a:prstGeom>
          <a:solidFill>
            <a:schemeClr val="accent6">
              <a:lumMod val="20000"/>
              <a:lumOff val="80000"/>
            </a:schemeClr>
          </a:solidFill>
        </p:spPr>
        <p:txBody>
          <a:bodyPr wrap="square">
            <a:spAutoFit/>
          </a:bodyPr>
          <a:lstStyle/>
          <a:p>
            <a:r>
              <a:rPr lang="en-US" sz="2800" b="1" i="1" dirty="0"/>
              <a:t>When the law runs out, write down what you know, send it to the right person, and protect the customer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8.png"/>
          <p:cNvPicPr>
            <a:picLocks noChangeAspect="1"/>
          </p:cNvPicPr>
          <p:nvPr/>
        </p:nvPicPr>
        <p:blipFill>
          <a:blip r:embed="rId3"/>
          <a:stretch>
            <a:fillRect/>
          </a:stretch>
        </p:blipFill>
        <p:spPr>
          <a:xfrm>
            <a:off x="0" y="0"/>
            <a:ext cx="12192000" cy="6858000"/>
          </a:xfrm>
          <a:prstGeom prst="rect">
            <a:avLst/>
          </a:prstGeom>
        </p:spPr>
      </p:pic>
      <p:graphicFrame>
        <p:nvGraphicFramePr>
          <p:cNvPr id="6" name="Table 5">
            <a:extLst>
              <a:ext uri="{FF2B5EF4-FFF2-40B4-BE49-F238E27FC236}">
                <a16:creationId xmlns:a16="http://schemas.microsoft.com/office/drawing/2014/main" id="{532A8D00-8560-92D1-372E-9282907B58A2}"/>
              </a:ext>
            </a:extLst>
          </p:cNvPr>
          <p:cNvGraphicFramePr>
            <a:graphicFrameLocks noGrp="1"/>
          </p:cNvGraphicFramePr>
          <p:nvPr>
            <p:extLst>
              <p:ext uri="{D42A27DB-BD31-4B8C-83A1-F6EECF244321}">
                <p14:modId xmlns:p14="http://schemas.microsoft.com/office/powerpoint/2010/main" val="4038602220"/>
              </p:ext>
            </p:extLst>
          </p:nvPr>
        </p:nvGraphicFramePr>
        <p:xfrm>
          <a:off x="589892" y="1679552"/>
          <a:ext cx="11423431" cy="2590800"/>
        </p:xfrm>
        <a:graphic>
          <a:graphicData uri="http://schemas.openxmlformats.org/drawingml/2006/table">
            <a:tbl>
              <a:tblPr>
                <a:tableStyleId>{21E4AEA4-8DFA-4A89-87EB-49C32662AFE0}</a:tableStyleId>
              </a:tblPr>
              <a:tblGrid>
                <a:gridCol w="1268815">
                  <a:extLst>
                    <a:ext uri="{9D8B030D-6E8A-4147-A177-3AD203B41FA5}">
                      <a16:colId xmlns:a16="http://schemas.microsoft.com/office/drawing/2014/main" val="3286661748"/>
                    </a:ext>
                  </a:extLst>
                </a:gridCol>
                <a:gridCol w="4305610">
                  <a:extLst>
                    <a:ext uri="{9D8B030D-6E8A-4147-A177-3AD203B41FA5}">
                      <a16:colId xmlns:a16="http://schemas.microsoft.com/office/drawing/2014/main" val="3572330988"/>
                    </a:ext>
                  </a:extLst>
                </a:gridCol>
                <a:gridCol w="5849006">
                  <a:extLst>
                    <a:ext uri="{9D8B030D-6E8A-4147-A177-3AD203B41FA5}">
                      <a16:colId xmlns:a16="http://schemas.microsoft.com/office/drawing/2014/main" val="3778050495"/>
                    </a:ext>
                  </a:extLst>
                </a:gridCol>
              </a:tblGrid>
              <a:tr h="0">
                <a:tc>
                  <a:txBody>
                    <a:bodyPr/>
                    <a:lstStyle/>
                    <a:p>
                      <a:pPr>
                        <a:buNone/>
                      </a:pPr>
                      <a:r>
                        <a:rPr lang="en-US" sz="2800"/>
                        <a:t>Article</a:t>
                      </a:r>
                    </a:p>
                  </a:txBody>
                  <a:tcPr anchor="ctr"/>
                </a:tc>
                <a:tc>
                  <a:txBody>
                    <a:bodyPr/>
                    <a:lstStyle/>
                    <a:p>
                      <a:pPr>
                        <a:buNone/>
                      </a:pPr>
                      <a:r>
                        <a:rPr lang="en-US" sz="2800"/>
                        <a:t>Topic</a:t>
                      </a:r>
                    </a:p>
                  </a:txBody>
                  <a:tcPr anchor="ctr"/>
                </a:tc>
                <a:tc>
                  <a:txBody>
                    <a:bodyPr/>
                    <a:lstStyle/>
                    <a:p>
                      <a:pPr>
                        <a:buNone/>
                      </a:pPr>
                      <a:r>
                        <a:rPr lang="en-US" sz="2800"/>
                        <a:t>Simple meaning</a:t>
                      </a:r>
                    </a:p>
                  </a:txBody>
                  <a:tcPr anchor="ctr"/>
                </a:tc>
                <a:extLst>
                  <a:ext uri="{0D108BD9-81ED-4DB2-BD59-A6C34878D82A}">
                    <a16:rowId xmlns:a16="http://schemas.microsoft.com/office/drawing/2014/main" val="1388986898"/>
                  </a:ext>
                </a:extLst>
              </a:tr>
              <a:tr h="0">
                <a:tc>
                  <a:txBody>
                    <a:bodyPr/>
                    <a:lstStyle/>
                    <a:p>
                      <a:pPr>
                        <a:buNone/>
                      </a:pPr>
                      <a:r>
                        <a:rPr lang="en-US" sz="2800"/>
                        <a:t>12</a:t>
                      </a:r>
                    </a:p>
                  </a:txBody>
                  <a:tcPr anchor="ctr"/>
                </a:tc>
                <a:tc>
                  <a:txBody>
                    <a:bodyPr/>
                    <a:lstStyle/>
                    <a:p>
                      <a:pPr>
                        <a:buNone/>
                      </a:pPr>
                      <a:r>
                        <a:rPr lang="en-US" sz="2800"/>
                        <a:t>Cross-border transfer</a:t>
                      </a:r>
                    </a:p>
                  </a:txBody>
                  <a:tcPr anchor="ctr"/>
                </a:tc>
                <a:tc>
                  <a:txBody>
                    <a:bodyPr/>
                    <a:lstStyle/>
                    <a:p>
                      <a:pPr>
                        <a:buNone/>
                      </a:pPr>
                      <a:r>
                        <a:rPr lang="en-US" sz="2800"/>
                        <a:t>Does data leave Bahrain?</a:t>
                      </a:r>
                    </a:p>
                  </a:txBody>
                  <a:tcPr anchor="ctr"/>
                </a:tc>
                <a:extLst>
                  <a:ext uri="{0D108BD9-81ED-4DB2-BD59-A6C34878D82A}">
                    <a16:rowId xmlns:a16="http://schemas.microsoft.com/office/drawing/2014/main" val="116733623"/>
                  </a:ext>
                </a:extLst>
              </a:tr>
              <a:tr h="0">
                <a:tc>
                  <a:txBody>
                    <a:bodyPr/>
                    <a:lstStyle/>
                    <a:p>
                      <a:pPr>
                        <a:buNone/>
                      </a:pPr>
                      <a:r>
                        <a:rPr lang="en-US" sz="2800"/>
                        <a:t>22</a:t>
                      </a:r>
                    </a:p>
                  </a:txBody>
                  <a:tcPr anchor="ctr"/>
                </a:tc>
                <a:tc>
                  <a:txBody>
                    <a:bodyPr/>
                    <a:lstStyle/>
                    <a:p>
                      <a:pPr>
                        <a:buNone/>
                      </a:pPr>
                      <a:r>
                        <a:rPr lang="en-US" sz="2800"/>
                        <a:t>Solely-automated decisions</a:t>
                      </a:r>
                    </a:p>
                  </a:txBody>
                  <a:tcPr anchor="ctr"/>
                </a:tc>
                <a:tc>
                  <a:txBody>
                    <a:bodyPr/>
                    <a:lstStyle/>
                    <a:p>
                      <a:pPr>
                        <a:buNone/>
                      </a:pPr>
                      <a:r>
                        <a:rPr lang="en-US" sz="2800"/>
                        <a:t>Is a decision made only by a machine?</a:t>
                      </a:r>
                    </a:p>
                  </a:txBody>
                  <a:tcPr anchor="ctr"/>
                </a:tc>
                <a:extLst>
                  <a:ext uri="{0D108BD9-81ED-4DB2-BD59-A6C34878D82A}">
                    <a16:rowId xmlns:a16="http://schemas.microsoft.com/office/drawing/2014/main" val="1277990521"/>
                  </a:ext>
                </a:extLst>
              </a:tr>
              <a:tr h="0">
                <a:tc>
                  <a:txBody>
                    <a:bodyPr/>
                    <a:lstStyle/>
                    <a:p>
                      <a:pPr>
                        <a:buNone/>
                      </a:pPr>
                      <a:r>
                        <a:rPr lang="en-US" sz="2800"/>
                        <a:t>23</a:t>
                      </a:r>
                    </a:p>
                  </a:txBody>
                  <a:tcPr anchor="ctr"/>
                </a:tc>
                <a:tc>
                  <a:txBody>
                    <a:bodyPr/>
                    <a:lstStyle/>
                    <a:p>
                      <a:pPr>
                        <a:buNone/>
                      </a:pPr>
                      <a:r>
                        <a:rPr lang="en-US" sz="2800"/>
                        <a:t>Rectification / erasure</a:t>
                      </a:r>
                    </a:p>
                  </a:txBody>
                  <a:tcPr anchor="ctr"/>
                </a:tc>
                <a:tc>
                  <a:txBody>
                    <a:bodyPr/>
                    <a:lstStyle/>
                    <a:p>
                      <a:pPr>
                        <a:buNone/>
                      </a:pPr>
                      <a:r>
                        <a:rPr lang="en-US" sz="2800"/>
                        <a:t>Can data be corrected or deleted?</a:t>
                      </a:r>
                    </a:p>
                  </a:txBody>
                  <a:tcPr anchor="ctr"/>
                </a:tc>
                <a:extLst>
                  <a:ext uri="{0D108BD9-81ED-4DB2-BD59-A6C34878D82A}">
                    <a16:rowId xmlns:a16="http://schemas.microsoft.com/office/drawing/2014/main" val="2219887411"/>
                  </a:ext>
                </a:extLst>
              </a:tr>
              <a:tr h="0">
                <a:tc>
                  <a:txBody>
                    <a:bodyPr/>
                    <a:lstStyle/>
                    <a:p>
                      <a:pPr>
                        <a:buNone/>
                      </a:pPr>
                      <a:r>
                        <a:rPr lang="en-US" sz="2800"/>
                        <a:t>24</a:t>
                      </a:r>
                    </a:p>
                  </a:txBody>
                  <a:tcPr anchor="ctr"/>
                </a:tc>
                <a:tc>
                  <a:txBody>
                    <a:bodyPr/>
                    <a:lstStyle/>
                    <a:p>
                      <a:pPr>
                        <a:buNone/>
                      </a:pPr>
                      <a:r>
                        <a:rPr lang="en-US" sz="2800"/>
                        <a:t>Valid consent</a:t>
                      </a:r>
                    </a:p>
                  </a:txBody>
                  <a:tcPr anchor="ctr"/>
                </a:tc>
                <a:tc>
                  <a:txBody>
                    <a:bodyPr/>
                    <a:lstStyle/>
                    <a:p>
                      <a:pPr>
                        <a:buNone/>
                      </a:pPr>
                      <a:r>
                        <a:rPr lang="en-US" sz="2800" dirty="0"/>
                        <a:t>Was consent real and freely given?</a:t>
                      </a:r>
                    </a:p>
                  </a:txBody>
                  <a:tcPr anchor="ctr"/>
                </a:tc>
                <a:extLst>
                  <a:ext uri="{0D108BD9-81ED-4DB2-BD59-A6C34878D82A}">
                    <a16:rowId xmlns:a16="http://schemas.microsoft.com/office/drawing/2014/main" val="2391466582"/>
                  </a:ext>
                </a:extLst>
              </a:tr>
            </a:tbl>
          </a:graphicData>
        </a:graphic>
      </p:graphicFrame>
      <p:sp>
        <p:nvSpPr>
          <p:cNvPr id="8" name="TextBox 7">
            <a:extLst>
              <a:ext uri="{FF2B5EF4-FFF2-40B4-BE49-F238E27FC236}">
                <a16:creationId xmlns:a16="http://schemas.microsoft.com/office/drawing/2014/main" id="{48208EF0-21B8-7520-966C-4C2B4CF6BB7F}"/>
              </a:ext>
            </a:extLst>
          </p:cNvPr>
          <p:cNvSpPr txBox="1"/>
          <p:nvPr/>
        </p:nvSpPr>
        <p:spPr>
          <a:xfrm>
            <a:off x="589892" y="4270352"/>
            <a:ext cx="11423431" cy="523220"/>
          </a:xfrm>
          <a:prstGeom prst="rect">
            <a:avLst/>
          </a:prstGeom>
          <a:solidFill>
            <a:schemeClr val="accent6">
              <a:lumMod val="20000"/>
              <a:lumOff val="80000"/>
            </a:schemeClr>
          </a:solidFill>
        </p:spPr>
        <p:txBody>
          <a:bodyPr wrap="square">
            <a:spAutoFit/>
          </a:bodyPr>
          <a:lstStyle/>
          <a:p>
            <a:pPr rtl="0">
              <a:buNone/>
            </a:pPr>
            <a:r>
              <a:rPr lang="en-US" sz="2800" dirty="0"/>
              <a:t>These four are now the </a:t>
            </a:r>
            <a:r>
              <a:rPr lang="en-US" sz="2800" b="1" dirty="0"/>
              <a:t>standing checklist</a:t>
            </a:r>
            <a:r>
              <a:rPr lang="en-US" sz="2800" dirty="0"/>
              <a:t> for any product in this course.</a:t>
            </a:r>
          </a:p>
        </p:txBody>
      </p:sp>
      <p:sp>
        <p:nvSpPr>
          <p:cNvPr id="10" name="TextBox 9">
            <a:extLst>
              <a:ext uri="{FF2B5EF4-FFF2-40B4-BE49-F238E27FC236}">
                <a16:creationId xmlns:a16="http://schemas.microsoft.com/office/drawing/2014/main" id="{D6A32F81-F386-EB41-CAC1-20A9FC5A1579}"/>
              </a:ext>
            </a:extLst>
          </p:cNvPr>
          <p:cNvSpPr txBox="1"/>
          <p:nvPr/>
        </p:nvSpPr>
        <p:spPr>
          <a:xfrm>
            <a:off x="411215" y="1407734"/>
            <a:ext cx="11423430" cy="5186676"/>
          </a:xfrm>
          <a:prstGeom prst="rect">
            <a:avLst/>
          </a:prstGeom>
          <a:solidFill>
            <a:schemeClr val="accent3">
              <a:lumMod val="20000"/>
              <a:lumOff val="80000"/>
            </a:schemeClr>
          </a:solidFill>
        </p:spPr>
        <p:txBody>
          <a:bodyPr wrap="square">
            <a:spAutoFit/>
          </a:bodyPr>
          <a:lstStyle/>
          <a:p>
            <a:pPr>
              <a:lnSpc>
                <a:spcPct val="150000"/>
              </a:lnSpc>
            </a:pPr>
            <a:r>
              <a:rPr lang="en-US" sz="3200" b="1" dirty="0"/>
              <a:t>Example</a:t>
            </a:r>
          </a:p>
          <a:p>
            <a:pPr>
              <a:lnSpc>
                <a:spcPct val="150000"/>
              </a:lnSpc>
            </a:pPr>
            <a:r>
              <a:rPr lang="en-US" sz="3200" dirty="0">
                <a:solidFill>
                  <a:srgbClr val="C00000"/>
                </a:solidFill>
              </a:rPr>
              <a:t>A building inspector finds a crack in a wall and is not sure it is safe.</a:t>
            </a:r>
          </a:p>
          <a:p>
            <a:pPr>
              <a:lnSpc>
                <a:spcPct val="150000"/>
              </a:lnSpc>
            </a:pPr>
            <a:r>
              <a:rPr lang="en-US" sz="3200" b="1" dirty="0"/>
              <a:t>Honest advice</a:t>
            </a:r>
            <a:r>
              <a:rPr lang="en-US" sz="3200" dirty="0"/>
              <a:t>: “I’m not sure this is safe.”</a:t>
            </a:r>
          </a:p>
          <a:p>
            <a:pPr>
              <a:lnSpc>
                <a:spcPct val="150000"/>
              </a:lnSpc>
            </a:pPr>
            <a:r>
              <a:rPr lang="en-US" sz="3200" dirty="0"/>
              <a:t>Writes it down in a report.</a:t>
            </a:r>
          </a:p>
          <a:p>
            <a:pPr>
              <a:lnSpc>
                <a:spcPct val="150000"/>
              </a:lnSpc>
            </a:pPr>
            <a:r>
              <a:rPr lang="en-US" sz="3200" dirty="0"/>
              <a:t>Passes it to the senior engineer.</a:t>
            </a:r>
          </a:p>
          <a:p>
            <a:pPr>
              <a:lnSpc>
                <a:spcPct val="150000"/>
              </a:lnSpc>
            </a:pPr>
            <a:r>
              <a:rPr lang="en-US" sz="3200" b="1" dirty="0">
                <a:solidFill>
                  <a:srgbClr val="FF0000"/>
                </a:solidFill>
              </a:rPr>
              <a:t>Never stamps “approved” while the question is still open. If they stamp it, everyone assumes the building is fine.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9.png"/>
          <p:cNvPicPr>
            <a:picLocks noChangeAspect="1"/>
          </p:cNvPicPr>
          <p:nvPr/>
        </p:nvPicPr>
        <p:blipFill>
          <a:blip r:embed="rId3"/>
          <a:stretch>
            <a:fillRect/>
          </a:stretch>
        </p:blipFill>
        <p:spPr>
          <a:xfrm>
            <a:off x="0" y="0"/>
            <a:ext cx="12192000" cy="6858000"/>
          </a:xfrm>
          <a:prstGeom prst="rect">
            <a:avLst/>
          </a:prstGeom>
        </p:spPr>
      </p:pic>
      <p:graphicFrame>
        <p:nvGraphicFramePr>
          <p:cNvPr id="5" name="Table 4">
            <a:extLst>
              <a:ext uri="{FF2B5EF4-FFF2-40B4-BE49-F238E27FC236}">
                <a16:creationId xmlns:a16="http://schemas.microsoft.com/office/drawing/2014/main" id="{178914ED-FF32-C216-15C7-1D7FA0C2159A}"/>
              </a:ext>
            </a:extLst>
          </p:cNvPr>
          <p:cNvGraphicFramePr>
            <a:graphicFrameLocks noGrp="1"/>
          </p:cNvGraphicFramePr>
          <p:nvPr>
            <p:extLst>
              <p:ext uri="{D42A27DB-BD31-4B8C-83A1-F6EECF244321}">
                <p14:modId xmlns:p14="http://schemas.microsoft.com/office/powerpoint/2010/main" val="1683292792"/>
              </p:ext>
            </p:extLst>
          </p:nvPr>
        </p:nvGraphicFramePr>
        <p:xfrm>
          <a:off x="189186" y="1258846"/>
          <a:ext cx="12002814" cy="5391647"/>
        </p:xfrm>
        <a:graphic>
          <a:graphicData uri="http://schemas.openxmlformats.org/drawingml/2006/table">
            <a:tbl>
              <a:tblPr>
                <a:tableStyleId>{8A107856-5554-42FB-B03E-39F5DBC370BA}</a:tableStyleId>
              </a:tblPr>
              <a:tblGrid>
                <a:gridCol w="2869324">
                  <a:extLst>
                    <a:ext uri="{9D8B030D-6E8A-4147-A177-3AD203B41FA5}">
                      <a16:colId xmlns:a16="http://schemas.microsoft.com/office/drawing/2014/main" val="1419679016"/>
                    </a:ext>
                  </a:extLst>
                </a:gridCol>
                <a:gridCol w="5817476">
                  <a:extLst>
                    <a:ext uri="{9D8B030D-6E8A-4147-A177-3AD203B41FA5}">
                      <a16:colId xmlns:a16="http://schemas.microsoft.com/office/drawing/2014/main" val="85046032"/>
                    </a:ext>
                  </a:extLst>
                </a:gridCol>
                <a:gridCol w="3316014">
                  <a:extLst>
                    <a:ext uri="{9D8B030D-6E8A-4147-A177-3AD203B41FA5}">
                      <a16:colId xmlns:a16="http://schemas.microsoft.com/office/drawing/2014/main" val="4146737881"/>
                    </a:ext>
                  </a:extLst>
                </a:gridCol>
              </a:tblGrid>
              <a:tr h="317611">
                <a:tc>
                  <a:txBody>
                    <a:bodyPr/>
                    <a:lstStyle/>
                    <a:p>
                      <a:pPr>
                        <a:buNone/>
                      </a:pPr>
                      <a:r>
                        <a:rPr lang="en-US" sz="2600" b="1" dirty="0"/>
                        <a:t>Article</a:t>
                      </a:r>
                    </a:p>
                  </a:txBody>
                  <a:tcPr marL="79403" marR="79403" marT="39701" marB="39701" anchor="ctr"/>
                </a:tc>
                <a:tc>
                  <a:txBody>
                    <a:bodyPr/>
                    <a:lstStyle/>
                    <a:p>
                      <a:pPr>
                        <a:buNone/>
                      </a:pPr>
                      <a:r>
                        <a:rPr lang="en-US" sz="2600" b="1" dirty="0"/>
                        <a:t>Result</a:t>
                      </a:r>
                    </a:p>
                  </a:txBody>
                  <a:tcPr marL="79403" marR="79403" marT="39701" marB="39701" anchor="ctr"/>
                </a:tc>
                <a:tc>
                  <a:txBody>
                    <a:bodyPr/>
                    <a:lstStyle/>
                    <a:p>
                      <a:pPr>
                        <a:buNone/>
                      </a:pPr>
                      <a:r>
                        <a:rPr lang="en-US" sz="2600" b="1" dirty="0"/>
                        <a:t>Type</a:t>
                      </a:r>
                    </a:p>
                  </a:txBody>
                  <a:tcPr marL="79403" marR="79403" marT="39701" marB="39701" anchor="ctr"/>
                </a:tc>
                <a:extLst>
                  <a:ext uri="{0D108BD9-81ED-4DB2-BD59-A6C34878D82A}">
                    <a16:rowId xmlns:a16="http://schemas.microsoft.com/office/drawing/2014/main" val="384927646"/>
                  </a:ext>
                </a:extLst>
              </a:tr>
              <a:tr h="794029">
                <a:tc>
                  <a:txBody>
                    <a:bodyPr/>
                    <a:lstStyle/>
                    <a:p>
                      <a:pPr>
                        <a:buNone/>
                      </a:pPr>
                      <a:r>
                        <a:rPr lang="en-US" sz="2600" b="1" dirty="0"/>
                        <a:t>23 (erasure)</a:t>
                      </a:r>
                    </a:p>
                  </a:txBody>
                  <a:tcPr marL="79403" marR="79403" marT="39701" marB="39701" anchor="ctr"/>
                </a:tc>
                <a:tc>
                  <a:txBody>
                    <a:bodyPr/>
                    <a:lstStyle/>
                    <a:p>
                      <a:pPr>
                        <a:buNone/>
                      </a:pPr>
                      <a:r>
                        <a:rPr lang="en-US" sz="2600" dirty="0"/>
                        <a:t>On-chain records can’t be erased, so keep personal data off the chain</a:t>
                      </a:r>
                    </a:p>
                  </a:txBody>
                  <a:tcPr marL="79403" marR="79403" marT="39701" marB="39701" anchor="ctr"/>
                </a:tc>
                <a:tc>
                  <a:txBody>
                    <a:bodyPr/>
                    <a:lstStyle/>
                    <a:p>
                      <a:pPr>
                        <a:buNone/>
                      </a:pPr>
                      <a:r>
                        <a:rPr lang="en-US" sz="2600" b="1" dirty="0"/>
                        <a:t>Clean</a:t>
                      </a:r>
                      <a:r>
                        <a:rPr lang="en-US" sz="2600" dirty="0"/>
                        <a:t>. Same design rule as last session</a:t>
                      </a:r>
                    </a:p>
                  </a:txBody>
                  <a:tcPr marL="79403" marR="79403" marT="39701" marB="39701" anchor="ctr"/>
                </a:tc>
                <a:extLst>
                  <a:ext uri="{0D108BD9-81ED-4DB2-BD59-A6C34878D82A}">
                    <a16:rowId xmlns:a16="http://schemas.microsoft.com/office/drawing/2014/main" val="1527461229"/>
                  </a:ext>
                </a:extLst>
              </a:tr>
              <a:tr h="1032237">
                <a:tc>
                  <a:txBody>
                    <a:bodyPr/>
                    <a:lstStyle/>
                    <a:p>
                      <a:pPr>
                        <a:buNone/>
                      </a:pPr>
                      <a:r>
                        <a:rPr lang="en-US" sz="2600" b="1" dirty="0"/>
                        <a:t>22 (automated decisions)</a:t>
                      </a:r>
                    </a:p>
                  </a:txBody>
                  <a:tcPr marL="79403" marR="79403" marT="39701" marB="39701" anchor="ctr"/>
                </a:tc>
                <a:tc>
                  <a:txBody>
                    <a:bodyPr/>
                    <a:lstStyle/>
                    <a:p>
                      <a:pPr>
                        <a:buNone/>
                      </a:pPr>
                      <a:r>
                        <a:rPr lang="en-US" sz="2600"/>
                        <a:t>Liquidations are decided only by software, so a retail version needs a human review route</a:t>
                      </a:r>
                    </a:p>
                  </a:txBody>
                  <a:tcPr marL="79403" marR="79403" marT="39701" marB="39701" anchor="ctr"/>
                </a:tc>
                <a:tc>
                  <a:txBody>
                    <a:bodyPr/>
                    <a:lstStyle/>
                    <a:p>
                      <a:pPr>
                        <a:buNone/>
                      </a:pPr>
                      <a:r>
                        <a:rPr lang="en-US" sz="2600" b="1" dirty="0"/>
                        <a:t>Hard</a:t>
                      </a:r>
                      <a:r>
                        <a:rPr lang="en-US" sz="2600" dirty="0"/>
                        <a:t>. Needs a design answer</a:t>
                      </a:r>
                    </a:p>
                  </a:txBody>
                  <a:tcPr marL="79403" marR="79403" marT="39701" marB="39701" anchor="ctr"/>
                </a:tc>
                <a:extLst>
                  <a:ext uri="{0D108BD9-81ED-4DB2-BD59-A6C34878D82A}">
                    <a16:rowId xmlns:a16="http://schemas.microsoft.com/office/drawing/2014/main" val="3810204811"/>
                  </a:ext>
                </a:extLst>
              </a:tr>
              <a:tr h="1032237">
                <a:tc>
                  <a:txBody>
                    <a:bodyPr/>
                    <a:lstStyle/>
                    <a:p>
                      <a:pPr>
                        <a:buNone/>
                      </a:pPr>
                      <a:r>
                        <a:rPr lang="en-US" sz="2600" b="1" dirty="0"/>
                        <a:t>12 (cross-border)</a:t>
                      </a:r>
                    </a:p>
                  </a:txBody>
                  <a:tcPr marL="79403" marR="79403" marT="39701" marB="39701" anchor="ctr"/>
                </a:tc>
                <a:tc>
                  <a:txBody>
                    <a:bodyPr/>
                    <a:lstStyle/>
                    <a:p>
                      <a:pPr>
                        <a:buNone/>
                      </a:pPr>
                      <a:r>
                        <a:rPr lang="en-US" sz="2600"/>
                        <a:t>The record is copied worldwide by design, so there is no single transfer to control</a:t>
                      </a:r>
                    </a:p>
                  </a:txBody>
                  <a:tcPr marL="79403" marR="79403" marT="39701" marB="39701" anchor="ctr"/>
                </a:tc>
                <a:tc>
                  <a:txBody>
                    <a:bodyPr/>
                    <a:lstStyle/>
                    <a:p>
                      <a:pPr>
                        <a:buNone/>
                      </a:pPr>
                      <a:r>
                        <a:rPr lang="en-US" sz="2600" b="1" dirty="0"/>
                        <a:t>Unclear</a:t>
                      </a:r>
                    </a:p>
                  </a:txBody>
                  <a:tcPr marL="79403" marR="79403" marT="39701" marB="39701" anchor="ctr"/>
                </a:tc>
                <a:extLst>
                  <a:ext uri="{0D108BD9-81ED-4DB2-BD59-A6C34878D82A}">
                    <a16:rowId xmlns:a16="http://schemas.microsoft.com/office/drawing/2014/main" val="1823777354"/>
                  </a:ext>
                </a:extLst>
              </a:tr>
              <a:tr h="794029">
                <a:tc>
                  <a:txBody>
                    <a:bodyPr/>
                    <a:lstStyle/>
                    <a:p>
                      <a:pPr>
                        <a:buNone/>
                      </a:pPr>
                      <a:r>
                        <a:rPr lang="en-US" sz="2600" b="1" dirty="0"/>
                        <a:t>24 (consent)</a:t>
                      </a:r>
                    </a:p>
                  </a:txBody>
                  <a:tcPr marL="79403" marR="79403" marT="39701" marB="39701" anchor="ctr"/>
                </a:tc>
                <a:tc>
                  <a:txBody>
                    <a:bodyPr/>
                    <a:lstStyle/>
                    <a:p>
                      <a:pPr>
                        <a:buNone/>
                      </a:pPr>
                      <a:r>
                        <a:rPr lang="en-US" sz="2600"/>
                        <a:t>No sign-up screen, nobody is asked anything, so consent is hard to show</a:t>
                      </a:r>
                    </a:p>
                  </a:txBody>
                  <a:tcPr marL="79403" marR="79403" marT="39701" marB="39701" anchor="ctr"/>
                </a:tc>
                <a:tc>
                  <a:txBody>
                    <a:bodyPr/>
                    <a:lstStyle/>
                    <a:p>
                      <a:pPr>
                        <a:buNone/>
                      </a:pPr>
                      <a:r>
                        <a:rPr lang="en-US" sz="2600" b="1" dirty="0"/>
                        <a:t>Unclear</a:t>
                      </a:r>
                      <a:r>
                        <a:rPr lang="en-US" sz="2600" dirty="0"/>
                        <a:t> / weak</a:t>
                      </a:r>
                    </a:p>
                  </a:txBody>
                  <a:tcPr marL="79403" marR="79403" marT="39701" marB="39701" anchor="ctr"/>
                </a:tc>
                <a:extLst>
                  <a:ext uri="{0D108BD9-81ED-4DB2-BD59-A6C34878D82A}">
                    <a16:rowId xmlns:a16="http://schemas.microsoft.com/office/drawing/2014/main" val="4201182212"/>
                  </a:ext>
                </a:extLst>
              </a:tr>
              <a:tr h="555820">
                <a:tc>
                  <a:txBody>
                    <a:bodyPr/>
                    <a:lstStyle/>
                    <a:p>
                      <a:pPr>
                        <a:buNone/>
                      </a:pPr>
                      <a:r>
                        <a:rPr lang="en-US" sz="2600" b="1" dirty="0"/>
                        <a:t>Controller?</a:t>
                      </a:r>
                    </a:p>
                  </a:txBody>
                  <a:tcPr marL="79403" marR="79403" marT="39701" marB="39701" anchor="ctr"/>
                </a:tc>
                <a:tc>
                  <a:txBody>
                    <a:bodyPr/>
                    <a:lstStyle/>
                    <a:p>
                      <a:pPr>
                        <a:buNone/>
                      </a:pPr>
                      <a:r>
                        <a:rPr lang="en-US" sz="2600"/>
                        <a:t>No company runs it, so who carries the duties?</a:t>
                      </a:r>
                    </a:p>
                  </a:txBody>
                  <a:tcPr marL="79403" marR="79403" marT="39701" marB="39701" anchor="ctr"/>
                </a:tc>
                <a:tc>
                  <a:txBody>
                    <a:bodyPr/>
                    <a:lstStyle/>
                    <a:p>
                      <a:pPr>
                        <a:buNone/>
                      </a:pPr>
                      <a:r>
                        <a:rPr lang="en-US" sz="2600" b="1" dirty="0"/>
                        <a:t>Unresolved</a:t>
                      </a:r>
                      <a:r>
                        <a:rPr lang="en-US" sz="2600" dirty="0"/>
                        <a:t>. Document and escalate</a:t>
                      </a:r>
                    </a:p>
                  </a:txBody>
                  <a:tcPr marL="79403" marR="79403" marT="39701" marB="39701" anchor="ctr"/>
                </a:tc>
                <a:extLst>
                  <a:ext uri="{0D108BD9-81ED-4DB2-BD59-A6C34878D82A}">
                    <a16:rowId xmlns:a16="http://schemas.microsoft.com/office/drawing/2014/main" val="97591438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0.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EA31F4D-6F63-4FE8-947D-1484059ADF67}"/>
              </a:ext>
            </a:extLst>
          </p:cNvPr>
          <p:cNvSpPr txBox="1"/>
          <p:nvPr/>
        </p:nvSpPr>
        <p:spPr>
          <a:xfrm>
            <a:off x="909144" y="8840"/>
            <a:ext cx="10373711" cy="6801862"/>
          </a:xfrm>
          <a:prstGeom prst="rect">
            <a:avLst/>
          </a:prstGeom>
          <a:solidFill>
            <a:schemeClr val="accent4">
              <a:lumMod val="20000"/>
              <a:lumOff val="80000"/>
            </a:schemeClr>
          </a:solidFill>
        </p:spPr>
        <p:txBody>
          <a:bodyPr wrap="square">
            <a:spAutoFit/>
          </a:bodyPr>
          <a:lstStyle/>
          <a:p>
            <a:r>
              <a:rPr lang="en-US" sz="2000" b="1" dirty="0"/>
              <a:t>Step 1</a:t>
            </a:r>
            <a:r>
              <a:rPr lang="en-US" sz="2000" dirty="0"/>
              <a:t>. Pick a team. Work with 2 or 3 classmates.</a:t>
            </a:r>
          </a:p>
          <a:p>
            <a:r>
              <a:rPr lang="en-US" sz="2000" b="1" dirty="0"/>
              <a:t>Step 2</a:t>
            </a:r>
            <a:r>
              <a:rPr lang="en-US" sz="2000" dirty="0"/>
              <a:t>. Choose one product: </a:t>
            </a:r>
            <a:r>
              <a:rPr lang="en-US" sz="2000" dirty="0" err="1"/>
              <a:t>Aave</a:t>
            </a:r>
            <a:r>
              <a:rPr lang="en-US" sz="2000" dirty="0"/>
              <a:t> or Compound (both are DeFi lending products).</a:t>
            </a:r>
          </a:p>
          <a:p>
            <a:r>
              <a:rPr lang="en-US" sz="2000" b="1" dirty="0"/>
              <a:t>Step 3</a:t>
            </a:r>
            <a:r>
              <a:rPr lang="en-US" sz="2000" dirty="0"/>
              <a:t>. Answer 5 questions together:</a:t>
            </a:r>
          </a:p>
          <a:p>
            <a:r>
              <a:rPr lang="en-US" sz="2000" b="1" i="1" dirty="0"/>
              <a:t>Article 12</a:t>
            </a:r>
            <a:r>
              <a:rPr lang="en-US" sz="2000" dirty="0"/>
              <a:t>: Does personal data leave Bahrain?</a:t>
            </a:r>
          </a:p>
          <a:p>
            <a:r>
              <a:rPr lang="en-US" sz="2000" b="1" i="1" dirty="0"/>
              <a:t>Article 22</a:t>
            </a:r>
            <a:r>
              <a:rPr lang="en-US" sz="2000" dirty="0"/>
              <a:t>: Does a machine make decisions about a person, with no human?</a:t>
            </a:r>
          </a:p>
          <a:p>
            <a:r>
              <a:rPr lang="en-US" sz="2000" b="1" i="1" dirty="0"/>
              <a:t>Article 23: </a:t>
            </a:r>
            <a:r>
              <a:rPr lang="en-US" sz="2000" dirty="0"/>
              <a:t>Can data be corrected or deleted?</a:t>
            </a:r>
          </a:p>
          <a:p>
            <a:r>
              <a:rPr lang="en-US" sz="2000" b="1" i="1" dirty="0"/>
              <a:t>Article 24: </a:t>
            </a:r>
            <a:r>
              <a:rPr lang="en-US" sz="2000" dirty="0"/>
              <a:t>Was consent real?</a:t>
            </a:r>
          </a:p>
          <a:p>
            <a:r>
              <a:rPr lang="en-US" sz="2000" b="1" dirty="0">
                <a:solidFill>
                  <a:srgbClr val="FF0000"/>
                </a:solidFill>
              </a:rPr>
              <a:t>Controller</a:t>
            </a:r>
            <a:r>
              <a:rPr lang="en-US" sz="2000" dirty="0"/>
              <a:t>: Who is responsible?</a:t>
            </a:r>
          </a:p>
          <a:p>
            <a:r>
              <a:rPr lang="en-US" sz="2000" b="1" dirty="0">
                <a:solidFill>
                  <a:srgbClr val="0070C0"/>
                </a:solidFill>
              </a:rPr>
              <a:t>For each one, write Yes, No, or Unclear. Never leave a blank.</a:t>
            </a:r>
          </a:p>
          <a:p>
            <a:r>
              <a:rPr lang="en-US" sz="2000" b="1" dirty="0"/>
              <a:t>Step 4. </a:t>
            </a:r>
            <a:r>
              <a:rPr lang="en-US" sz="2000" dirty="0"/>
              <a:t>Write your own tension map.</a:t>
            </a:r>
            <a:br>
              <a:rPr lang="en-US" sz="2000" dirty="0"/>
            </a:br>
            <a:r>
              <a:rPr lang="en-US" sz="2000" dirty="0"/>
              <a:t>Even though you discussed together, each student writes and submits their own. It must include:</a:t>
            </a:r>
          </a:p>
          <a:p>
            <a:r>
              <a:rPr lang="en-US" sz="2000" dirty="0"/>
              <a:t>An answer for every article</a:t>
            </a:r>
          </a:p>
          <a:p>
            <a:r>
              <a:rPr lang="en-US" sz="2000" dirty="0"/>
              <a:t>“</a:t>
            </a:r>
            <a:r>
              <a:rPr lang="en-US" sz="2000" b="1" dirty="0"/>
              <a:t>Unclear</a:t>
            </a:r>
            <a:r>
              <a:rPr lang="en-US" sz="2000" dirty="0"/>
              <a:t>” stated honestly where it is unclear</a:t>
            </a:r>
          </a:p>
          <a:p>
            <a:r>
              <a:rPr lang="en-US" sz="2000" dirty="0"/>
              <a:t>The controller question, with the possible candidates weighed</a:t>
            </a:r>
          </a:p>
          <a:p>
            <a:r>
              <a:rPr lang="en-US" sz="2000" dirty="0"/>
              <a:t>One unresolved problem, plus what you would do: write it down and pass it to a senior person</a:t>
            </a:r>
          </a:p>
          <a:p>
            <a:r>
              <a:rPr lang="en-US" sz="2000" b="1" dirty="0"/>
              <a:t>Part 2: Form groups</a:t>
            </a:r>
            <a:endParaRPr lang="en-US" sz="2000" dirty="0"/>
          </a:p>
          <a:p>
            <a:r>
              <a:rPr lang="en-US" sz="2000" b="1" dirty="0"/>
              <a:t>Step 1. </a:t>
            </a:r>
            <a:r>
              <a:rPr lang="en-US" sz="2000" dirty="0"/>
              <a:t>Choose 3 classmates you have worked well with (group of 4).</a:t>
            </a:r>
          </a:p>
          <a:p>
            <a:r>
              <a:rPr lang="en-US" sz="2000" b="1" dirty="0"/>
              <a:t>Step 2. </a:t>
            </a:r>
            <a:r>
              <a:rPr lang="en-US" sz="2000" dirty="0"/>
              <a:t>Say which role each person prefers:</a:t>
            </a:r>
          </a:p>
          <a:p>
            <a:pPr lvl="1"/>
            <a:r>
              <a:rPr lang="en-US" sz="2000" b="1" i="1" dirty="0">
                <a:solidFill>
                  <a:srgbClr val="C00000"/>
                </a:solidFill>
                <a:effectLst>
                  <a:outerShdw blurRad="38100" dist="38100" dir="2700000" algn="tl">
                    <a:srgbClr val="000000">
                      <a:alpha val="43137"/>
                    </a:srgbClr>
                  </a:outerShdw>
                </a:effectLst>
              </a:rPr>
              <a:t>A: Solution architecture</a:t>
            </a:r>
          </a:p>
          <a:p>
            <a:pPr lvl="1"/>
            <a:r>
              <a:rPr lang="en-US" sz="2000" b="1" i="1" dirty="0">
                <a:solidFill>
                  <a:srgbClr val="C00000"/>
                </a:solidFill>
                <a:effectLst>
                  <a:outerShdw blurRad="38100" dist="38100" dir="2700000" algn="tl">
                    <a:srgbClr val="000000">
                      <a:alpha val="43137"/>
                    </a:srgbClr>
                  </a:outerShdw>
                </a:effectLst>
              </a:rPr>
              <a:t>B: Regulatory map</a:t>
            </a:r>
          </a:p>
          <a:p>
            <a:pPr lvl="1"/>
            <a:r>
              <a:rPr lang="en-US" sz="2000" b="1" i="1" dirty="0">
                <a:solidFill>
                  <a:srgbClr val="C00000"/>
                </a:solidFill>
                <a:effectLst>
                  <a:outerShdw blurRad="38100" dist="38100" dir="2700000" algn="tl">
                    <a:srgbClr val="000000">
                      <a:alpha val="43137"/>
                    </a:srgbClr>
                  </a:outerShdw>
                </a:effectLst>
              </a:rPr>
              <a:t>C: Market viability</a:t>
            </a:r>
          </a:p>
          <a:p>
            <a:pPr lvl="1"/>
            <a:r>
              <a:rPr lang="en-US" sz="2000" b="1" i="1" dirty="0">
                <a:solidFill>
                  <a:srgbClr val="C00000"/>
                </a:solidFill>
                <a:effectLst>
                  <a:outerShdw blurRad="38100" dist="38100" dir="2700000" algn="tl">
                    <a:srgbClr val="000000">
                      <a:alpha val="43137"/>
                    </a:srgbClr>
                  </a:outerShdw>
                </a:effectLst>
              </a:rPr>
              <a:t>D: Risk register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344</TotalTime>
  <Words>2479</Words>
  <Application>Microsoft Office PowerPoint</Application>
  <PresentationFormat>Widescreen</PresentationFormat>
  <Paragraphs>182</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Faiz Islam</cp:lastModifiedBy>
  <cp:revision>25</cp:revision>
  <dcterms:created xsi:type="dcterms:W3CDTF">2013-01-27T09:14:16Z</dcterms:created>
  <dcterms:modified xsi:type="dcterms:W3CDTF">2026-10-21T05:57:10Z</dcterms:modified>
  <cp:category/>
</cp:coreProperties>
</file>