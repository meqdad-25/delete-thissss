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69"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627" autoAdjust="0"/>
  </p:normalViewPr>
  <p:slideViewPr>
    <p:cSldViewPr snapToGrid="0" snapToObjects="1">
      <p:cViewPr varScale="1">
        <p:scale>
          <a:sx n="36" d="100"/>
          <a:sy n="36" d="100"/>
        </p:scale>
        <p:origin x="2376"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7132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sz="2800"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E414C-52D4-CB86-0616-0385AA2DF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667C4-06FC-8761-1042-E020623A648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9E2C3DE-8023-20A4-3F4F-D3AD2DD70BF3}"/>
              </a:ext>
            </a:extLst>
          </p:cNvPr>
          <p:cNvSpPr>
            <a:spLocks noGrp="1"/>
          </p:cNvSpPr>
          <p:nvPr>
            <p:ph type="body" sz="quarter" idx="3"/>
          </p:nvPr>
        </p:nvSpPr>
        <p:spPr/>
        <p:txBody>
          <a:bodyPr/>
          <a:lstStyle/>
          <a:p>
            <a:endParaRPr lang="en-US" dirty="0"/>
          </a:p>
        </p:txBody>
      </p:sp>
      <p:sp>
        <p:nvSpPr>
          <p:cNvPr id="4" name="Slide Number Placeholder 3">
            <a:extLst>
              <a:ext uri="{FF2B5EF4-FFF2-40B4-BE49-F238E27FC236}">
                <a16:creationId xmlns:a16="http://schemas.microsoft.com/office/drawing/2014/main" id="{DD39E556-D422-05D2-8C33-D4017A178A0E}"/>
              </a:ext>
            </a:extLst>
          </p:cNvPr>
          <p:cNvSpPr>
            <a:spLocks noGrp="1"/>
          </p:cNvSpPr>
          <p:nvPr>
            <p:ph type="sldNum" sz="quarter" idx="5"/>
          </p:nvPr>
        </p:nvSpPr>
        <p:spPr/>
      </p:sp>
    </p:spTree>
    <p:extLst>
      <p:ext uri="{BB962C8B-B14F-4D97-AF65-F5344CB8AC3E}">
        <p14:creationId xmlns:p14="http://schemas.microsoft.com/office/powerpoint/2010/main" val="53843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2901-CC86-043C-BE50-DD9CF7207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E97DB-DAEE-11BD-457A-8A018BF31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4EEE68-7526-4299-54E3-7A1DEB40799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CE9E8D6-26ED-1FE3-8D00-4B3CAFCC0A0B}"/>
              </a:ext>
            </a:extLst>
          </p:cNvPr>
          <p:cNvSpPr>
            <a:spLocks noGrp="1"/>
          </p:cNvSpPr>
          <p:nvPr>
            <p:ph type="sldNum" sz="quarter" idx="5"/>
          </p:nvPr>
        </p:nvSpPr>
        <p:spPr/>
      </p:sp>
    </p:spTree>
    <p:extLst>
      <p:ext uri="{BB962C8B-B14F-4D97-AF65-F5344CB8AC3E}">
        <p14:creationId xmlns:p14="http://schemas.microsoft.com/office/powerpoint/2010/main" val="22772041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A7B3AFA-BE00-46D3-3476-9E57CFA9078A}"/>
              </a:ext>
            </a:extLst>
          </p:cNvPr>
          <p:cNvSpPr txBox="1"/>
          <p:nvPr/>
        </p:nvSpPr>
        <p:spPr>
          <a:xfrm>
            <a:off x="946785" y="494436"/>
            <a:ext cx="10298430" cy="3046988"/>
          </a:xfrm>
          <a:prstGeom prst="rect">
            <a:avLst/>
          </a:prstGeom>
          <a:solidFill>
            <a:srgbClr val="002060"/>
          </a:solidFill>
        </p:spPr>
        <p:txBody>
          <a:bodyPr wrap="square">
            <a:spAutoFit/>
          </a:bodyPr>
          <a:lstStyle/>
          <a:p>
            <a:pPr algn="just"/>
            <a:r>
              <a:rPr lang="en-US" sz="3200" dirty="0">
                <a:solidFill>
                  <a:schemeClr val="bg1"/>
                </a:solidFill>
              </a:rPr>
              <a:t>Nobody will be asked to write code here. </a:t>
            </a:r>
          </a:p>
          <a:p>
            <a:pPr algn="just"/>
            <a:endParaRPr lang="en-US" sz="3200" dirty="0">
              <a:solidFill>
                <a:schemeClr val="bg1"/>
              </a:solidFill>
            </a:endParaRPr>
          </a:p>
          <a:p>
            <a:pPr algn="just"/>
            <a:r>
              <a:rPr lang="en-US" sz="3200" dirty="0">
                <a:solidFill>
                  <a:schemeClr val="bg1"/>
                </a:solidFill>
              </a:rPr>
              <a:t>The skill being built is judgement: looking at a blockchain product and saying whether it makes business sense, and whether a regulator would allow it to run.</a:t>
            </a:r>
          </a:p>
          <a:p>
            <a:pPr algn="just"/>
            <a:endParaRPr lang="en-US" sz="3200" dirty="0">
              <a:solidFill>
                <a:schemeClr val="bg1"/>
              </a:solidFill>
            </a:endParaRPr>
          </a:p>
        </p:txBody>
      </p:sp>
      <p:sp>
        <p:nvSpPr>
          <p:cNvPr id="6" name="TextBox 5">
            <a:extLst>
              <a:ext uri="{FF2B5EF4-FFF2-40B4-BE49-F238E27FC236}">
                <a16:creationId xmlns:a16="http://schemas.microsoft.com/office/drawing/2014/main" id="{6BCEA143-AB3D-3112-F695-62C883622662}"/>
              </a:ext>
            </a:extLst>
          </p:cNvPr>
          <p:cNvSpPr txBox="1"/>
          <p:nvPr/>
        </p:nvSpPr>
        <p:spPr>
          <a:xfrm>
            <a:off x="946785" y="3753228"/>
            <a:ext cx="10298430" cy="1077218"/>
          </a:xfrm>
          <a:prstGeom prst="rect">
            <a:avLst/>
          </a:prstGeom>
          <a:solidFill>
            <a:schemeClr val="accent6">
              <a:lumMod val="50000"/>
            </a:schemeClr>
          </a:solidFill>
        </p:spPr>
        <p:txBody>
          <a:bodyPr wrap="square">
            <a:spAutoFit/>
          </a:bodyPr>
          <a:lstStyle/>
          <a:p>
            <a:r>
              <a:rPr lang="en-US" sz="3200" dirty="0">
                <a:solidFill>
                  <a:schemeClr val="bg1"/>
                </a:solidFill>
              </a:rPr>
              <a:t>who has heard the word Bitcoin in the past month, in a news report, a conversation at home, or an advertisement?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49BDE-9964-49F4-43D3-CFAA32015500}"/>
            </a:ext>
          </a:extLst>
        </p:cNvPr>
        <p:cNvGrpSpPr/>
        <p:nvPr/>
      </p:nvGrpSpPr>
      <p:grpSpPr>
        <a:xfrm>
          <a:off x="0" y="0"/>
          <a:ext cx="0" cy="0"/>
          <a:chOff x="0" y="0"/>
          <a:chExt cx="0" cy="0"/>
        </a:xfrm>
      </p:grpSpPr>
      <p:pic>
        <p:nvPicPr>
          <p:cNvPr id="2" name="Picture 1" descr="s1.png">
            <a:extLst>
              <a:ext uri="{FF2B5EF4-FFF2-40B4-BE49-F238E27FC236}">
                <a16:creationId xmlns:a16="http://schemas.microsoft.com/office/drawing/2014/main" id="{6C8DDA03-24AE-B75E-2067-869B9FD07CA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4043904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14775-46E8-01EA-34C7-0BDA49DA5CB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64393D-E116-41BC-ADC8-5CDA8B5C07F3}"/>
              </a:ext>
            </a:extLst>
          </p:cNvPr>
          <p:cNvPicPr>
            <a:picLocks noChangeAspect="1"/>
          </p:cNvPicPr>
          <p:nvPr/>
        </p:nvPicPr>
        <p:blipFill>
          <a:blip r:embed="rId3"/>
          <a:stretch>
            <a:fillRect/>
          </a:stretch>
        </p:blipFill>
        <p:spPr>
          <a:xfrm>
            <a:off x="405329" y="1779118"/>
            <a:ext cx="11381341" cy="4073041"/>
          </a:xfrm>
          <a:prstGeom prst="rect">
            <a:avLst/>
          </a:prstGeom>
        </p:spPr>
      </p:pic>
      <p:sp>
        <p:nvSpPr>
          <p:cNvPr id="6" name="TextBox 5">
            <a:extLst>
              <a:ext uri="{FF2B5EF4-FFF2-40B4-BE49-F238E27FC236}">
                <a16:creationId xmlns:a16="http://schemas.microsoft.com/office/drawing/2014/main" id="{6A263B5D-AD46-2202-E79A-5EF3A6FFE390}"/>
              </a:ext>
            </a:extLst>
          </p:cNvPr>
          <p:cNvSpPr txBox="1"/>
          <p:nvPr/>
        </p:nvSpPr>
        <p:spPr>
          <a:xfrm>
            <a:off x="528320" y="896333"/>
            <a:ext cx="6096000" cy="584775"/>
          </a:xfrm>
          <a:prstGeom prst="rect">
            <a:avLst/>
          </a:prstGeom>
          <a:noFill/>
        </p:spPr>
        <p:txBody>
          <a:bodyPr wrap="square">
            <a:spAutoFit/>
          </a:bodyPr>
          <a:lstStyle/>
          <a:p>
            <a:r>
              <a:rPr lang="en-US" sz="3200" b="1" dirty="0">
                <a:solidFill>
                  <a:srgbClr val="1F4E79"/>
                </a:solidFill>
                <a:effectLst/>
                <a:latin typeface="Aptos" panose="020B0004020202020204" pitchFamily="34" charset="0"/>
                <a:ea typeface="Aptos" panose="020B0004020202020204" pitchFamily="34" charset="0"/>
                <a:cs typeface="Arial" panose="020B0604020202020204" pitchFamily="34" charset="0"/>
              </a:rPr>
              <a:t>The four assessments</a:t>
            </a:r>
            <a:endParaRPr lang="en-US" sz="4400" dirty="0"/>
          </a:p>
        </p:txBody>
      </p:sp>
    </p:spTree>
    <p:extLst>
      <p:ext uri="{BB962C8B-B14F-4D97-AF65-F5344CB8AC3E}">
        <p14:creationId xmlns:p14="http://schemas.microsoft.com/office/powerpoint/2010/main" val="152496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4.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63E69629-6887-B790-E0C5-B4F507ECCC48}"/>
              </a:ext>
            </a:extLst>
          </p:cNvPr>
          <p:cNvSpPr txBox="1"/>
          <p:nvPr/>
        </p:nvSpPr>
        <p:spPr>
          <a:xfrm>
            <a:off x="565265" y="1987774"/>
            <a:ext cx="10989426" cy="1754326"/>
          </a:xfrm>
          <a:prstGeom prst="rect">
            <a:avLst/>
          </a:prstGeom>
          <a:solidFill>
            <a:schemeClr val="accent6">
              <a:lumMod val="50000"/>
            </a:schemeClr>
          </a:solidFill>
        </p:spPr>
        <p:txBody>
          <a:bodyPr wrap="square">
            <a:spAutoFit/>
          </a:bodyPr>
          <a:lstStyle/>
          <a:p>
            <a:r>
              <a:rPr lang="en-US" sz="3600" dirty="0">
                <a:solidFill>
                  <a:schemeClr val="bg1"/>
                </a:solidFill>
              </a:rPr>
              <a:t>The single idea: blockchain is not a magic trust machine. It is a way of reducing cost, and there are exactly two costs it reduces.</a:t>
            </a:r>
          </a:p>
        </p:txBody>
      </p:sp>
      <p:sp>
        <p:nvSpPr>
          <p:cNvPr id="6" name="TextBox 5">
            <a:extLst>
              <a:ext uri="{FF2B5EF4-FFF2-40B4-BE49-F238E27FC236}">
                <a16:creationId xmlns:a16="http://schemas.microsoft.com/office/drawing/2014/main" id="{E1193170-B7B7-F805-CEA8-1FF4C7CF1AC3}"/>
              </a:ext>
            </a:extLst>
          </p:cNvPr>
          <p:cNvSpPr txBox="1"/>
          <p:nvPr/>
        </p:nvSpPr>
        <p:spPr>
          <a:xfrm>
            <a:off x="288825" y="1987774"/>
            <a:ext cx="11754196" cy="4031873"/>
          </a:xfrm>
          <a:prstGeom prst="rect">
            <a:avLst/>
          </a:prstGeom>
          <a:solidFill>
            <a:schemeClr val="accent3">
              <a:lumMod val="75000"/>
            </a:schemeClr>
          </a:solidFill>
        </p:spPr>
        <p:txBody>
          <a:bodyPr wrap="square">
            <a:spAutoFit/>
          </a:bodyPr>
          <a:lstStyle/>
          <a:p>
            <a:r>
              <a:rPr lang="en-US" sz="3200" dirty="0">
                <a:solidFill>
                  <a:schemeClr val="bg1"/>
                </a:solidFill>
              </a:rPr>
              <a:t>A concrete example. Two people in Manama agree to sell a used car. The verification cost is the trip to confirm that the seller really owns it. The networking cost is quite separate. It is the fact that a used-car marketplace had to be built, staffed and funded before those two strangers could find each other at all. Which of the two an online marketplace solved, and which it did not. The answer is that it solved the second and barely touched the first, which is exactly why buyers still insist on seeing the papers.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5.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C5A21B21-E431-1A2C-4210-EA030CF6593F}"/>
              </a:ext>
            </a:extLst>
          </p:cNvPr>
          <p:cNvSpPr txBox="1"/>
          <p:nvPr/>
        </p:nvSpPr>
        <p:spPr>
          <a:xfrm>
            <a:off x="6594755" y="2738737"/>
            <a:ext cx="4959936" cy="738664"/>
          </a:xfrm>
          <a:prstGeom prst="rect">
            <a:avLst/>
          </a:prstGeom>
          <a:noFill/>
        </p:spPr>
        <p:txBody>
          <a:bodyPr wrap="square">
            <a:spAutoFit/>
          </a:bodyPr>
          <a:lstStyle/>
          <a:p>
            <a:r>
              <a:rPr lang="en-US" sz="2100" dirty="0"/>
              <a:t>PSP: a licensed firm that moves money for merchants. </a:t>
            </a:r>
          </a:p>
        </p:txBody>
      </p:sp>
      <p:sp>
        <p:nvSpPr>
          <p:cNvPr id="5" name="TextBox 4">
            <a:extLst>
              <a:ext uri="{FF2B5EF4-FFF2-40B4-BE49-F238E27FC236}">
                <a16:creationId xmlns:a16="http://schemas.microsoft.com/office/drawing/2014/main" id="{6D4A4A54-CAB9-241E-3217-45944F16145E}"/>
              </a:ext>
            </a:extLst>
          </p:cNvPr>
          <p:cNvSpPr txBox="1"/>
          <p:nvPr/>
        </p:nvSpPr>
        <p:spPr>
          <a:xfrm>
            <a:off x="6079819" y="4213035"/>
            <a:ext cx="5989807" cy="646331"/>
          </a:xfrm>
          <a:prstGeom prst="rect">
            <a:avLst/>
          </a:prstGeom>
          <a:noFill/>
        </p:spPr>
        <p:txBody>
          <a:bodyPr wrap="square">
            <a:spAutoFit/>
          </a:bodyPr>
          <a:lstStyle/>
          <a:p>
            <a:r>
              <a:rPr lang="en-US" dirty="0"/>
              <a:t>The regulator sits at the end or at the start? Specifically in Bahrain?</a:t>
            </a:r>
            <a:endParaRPr lang="en-US" sz="2800" dirty="0"/>
          </a:p>
        </p:txBody>
      </p:sp>
      <p:sp>
        <p:nvSpPr>
          <p:cNvPr id="6" name="TextBox 5">
            <a:extLst>
              <a:ext uri="{FF2B5EF4-FFF2-40B4-BE49-F238E27FC236}">
                <a16:creationId xmlns:a16="http://schemas.microsoft.com/office/drawing/2014/main" id="{CC4F121F-E363-A3B1-310F-083AE7492CC6}"/>
              </a:ext>
            </a:extLst>
          </p:cNvPr>
          <p:cNvSpPr txBox="1"/>
          <p:nvPr/>
        </p:nvSpPr>
        <p:spPr>
          <a:xfrm>
            <a:off x="7223122" y="4544058"/>
            <a:ext cx="4747205" cy="646331"/>
          </a:xfrm>
          <a:prstGeom prst="rect">
            <a:avLst/>
          </a:prstGeom>
          <a:solidFill>
            <a:srgbClr val="002060"/>
          </a:solidFill>
        </p:spPr>
        <p:txBody>
          <a:bodyPr wrap="square">
            <a:spAutoFit/>
          </a:bodyPr>
          <a:lstStyle/>
          <a:p>
            <a:r>
              <a:rPr lang="en-US" dirty="0">
                <a:solidFill>
                  <a:schemeClr val="bg1"/>
                </a:solidFill>
              </a:rPr>
              <a:t>It decides who is allowed to be each of the other actors on this slide. No license, no business.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6.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F12BEBF7-525C-0971-94CE-870890C8DE7F}"/>
              </a:ext>
            </a:extLst>
          </p:cNvPr>
          <p:cNvSpPr txBox="1"/>
          <p:nvPr/>
        </p:nvSpPr>
        <p:spPr>
          <a:xfrm>
            <a:off x="2892830" y="2644170"/>
            <a:ext cx="8911244" cy="1015663"/>
          </a:xfrm>
          <a:prstGeom prst="rect">
            <a:avLst/>
          </a:prstGeom>
          <a:solidFill>
            <a:srgbClr val="002060"/>
          </a:solidFill>
        </p:spPr>
        <p:txBody>
          <a:bodyPr wrap="square">
            <a:spAutoFit/>
          </a:bodyPr>
          <a:lstStyle/>
          <a:p>
            <a:r>
              <a:rPr lang="en-US" sz="2000" dirty="0">
                <a:solidFill>
                  <a:schemeClr val="bg1"/>
                </a:solidFill>
              </a:rPr>
              <a:t>Cheaply matters, because checking was always possible; it was simply expensive. Transaction and its ownership are two different claims: that the transfer happened, and that the thing transferred was the sender's to send. </a:t>
            </a:r>
          </a:p>
        </p:txBody>
      </p:sp>
      <p:sp>
        <p:nvSpPr>
          <p:cNvPr id="6" name="TextBox 5">
            <a:extLst>
              <a:ext uri="{FF2B5EF4-FFF2-40B4-BE49-F238E27FC236}">
                <a16:creationId xmlns:a16="http://schemas.microsoft.com/office/drawing/2014/main" id="{BEA0C2A9-744B-5430-D8EF-2984FF9F6F6A}"/>
              </a:ext>
            </a:extLst>
          </p:cNvPr>
          <p:cNvSpPr txBox="1"/>
          <p:nvPr/>
        </p:nvSpPr>
        <p:spPr>
          <a:xfrm>
            <a:off x="2310941" y="4197475"/>
            <a:ext cx="9797933" cy="707886"/>
          </a:xfrm>
          <a:prstGeom prst="rect">
            <a:avLst/>
          </a:prstGeom>
          <a:solidFill>
            <a:srgbClr val="002060"/>
          </a:solidFill>
        </p:spPr>
        <p:txBody>
          <a:bodyPr wrap="square">
            <a:spAutoFit/>
          </a:bodyPr>
          <a:lstStyle/>
          <a:p>
            <a:r>
              <a:rPr lang="en-US" sz="2000" dirty="0">
                <a:solidFill>
                  <a:schemeClr val="bg1"/>
                </a:solidFill>
              </a:rPr>
              <a:t>The key phrase is handing control to one central intermediary. Notice that this is a statement about who is in charge, not about how fast the system runs. Speed appears nowhere in it.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0" nodeType="clickEffect">
                                  <p:stCondLst>
                                    <p:cond delay="0"/>
                                  </p:stCondLst>
                                  <p:childTnLst>
                                    <p:animEffect transition="out" filter="barn(inVertic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7.png"/>
          <p:cNvPicPr>
            <a:picLocks noChangeAspect="1"/>
          </p:cNvPicPr>
          <p:nvPr/>
        </p:nvPicPr>
        <p:blipFill>
          <a:blip r:embed="rId3"/>
          <a:stretch>
            <a:fill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7770E405-72DD-52E3-150E-326150F2AC7C}"/>
              </a:ext>
            </a:extLst>
          </p:cNvPr>
          <p:cNvGrpSpPr/>
          <p:nvPr/>
        </p:nvGrpSpPr>
        <p:grpSpPr>
          <a:xfrm>
            <a:off x="886691" y="2693324"/>
            <a:ext cx="10418618" cy="735676"/>
            <a:chOff x="886691" y="2693324"/>
            <a:chExt cx="10418618" cy="735676"/>
          </a:xfrm>
        </p:grpSpPr>
        <p:sp>
          <p:nvSpPr>
            <p:cNvPr id="3" name="Rectangle 2">
              <a:extLst>
                <a:ext uri="{FF2B5EF4-FFF2-40B4-BE49-F238E27FC236}">
                  <a16:creationId xmlns:a16="http://schemas.microsoft.com/office/drawing/2014/main" id="{7164D1B0-CA96-86CA-DAA5-0AD2391F58B9}"/>
                </a:ext>
              </a:extLst>
            </p:cNvPr>
            <p:cNvSpPr/>
            <p:nvPr/>
          </p:nvSpPr>
          <p:spPr>
            <a:xfrm>
              <a:off x="2981497" y="2693324"/>
              <a:ext cx="8323812" cy="39901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7A48D26-F312-8908-7E03-ED7A992DF462}"/>
                </a:ext>
              </a:extLst>
            </p:cNvPr>
            <p:cNvSpPr/>
            <p:nvPr/>
          </p:nvSpPr>
          <p:spPr>
            <a:xfrm>
              <a:off x="886691" y="3029989"/>
              <a:ext cx="8323812" cy="39901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7EDE7180-7CCF-2B34-2855-B50AB4AFB6D6}"/>
              </a:ext>
            </a:extLst>
          </p:cNvPr>
          <p:cNvGrpSpPr/>
          <p:nvPr/>
        </p:nvGrpSpPr>
        <p:grpSpPr>
          <a:xfrm>
            <a:off x="919941" y="4846318"/>
            <a:ext cx="10418618" cy="735676"/>
            <a:chOff x="886691" y="2693324"/>
            <a:chExt cx="10418618" cy="735676"/>
          </a:xfrm>
        </p:grpSpPr>
        <p:sp>
          <p:nvSpPr>
            <p:cNvPr id="7" name="Rectangle 6">
              <a:extLst>
                <a:ext uri="{FF2B5EF4-FFF2-40B4-BE49-F238E27FC236}">
                  <a16:creationId xmlns:a16="http://schemas.microsoft.com/office/drawing/2014/main" id="{353CF013-E12A-4ED5-48DF-93D00BA27064}"/>
                </a:ext>
              </a:extLst>
            </p:cNvPr>
            <p:cNvSpPr/>
            <p:nvPr/>
          </p:nvSpPr>
          <p:spPr>
            <a:xfrm>
              <a:off x="2981497" y="2693324"/>
              <a:ext cx="8323812" cy="39901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C5567BC-A18F-219B-E019-BD0C4FC85992}"/>
                </a:ext>
              </a:extLst>
            </p:cNvPr>
            <p:cNvSpPr/>
            <p:nvPr/>
          </p:nvSpPr>
          <p:spPr>
            <a:xfrm>
              <a:off x="886691" y="3029989"/>
              <a:ext cx="8323812" cy="39901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0" name="TextBox 9">
            <a:extLst>
              <a:ext uri="{FF2B5EF4-FFF2-40B4-BE49-F238E27FC236}">
                <a16:creationId xmlns:a16="http://schemas.microsoft.com/office/drawing/2014/main" id="{18057B6C-0684-111D-2484-78989696E3FD}"/>
              </a:ext>
            </a:extLst>
          </p:cNvPr>
          <p:cNvSpPr txBox="1"/>
          <p:nvPr/>
        </p:nvSpPr>
        <p:spPr>
          <a:xfrm>
            <a:off x="616226" y="1276006"/>
            <a:ext cx="10959548" cy="4893647"/>
          </a:xfrm>
          <a:prstGeom prst="rect">
            <a:avLst/>
          </a:prstGeom>
          <a:solidFill>
            <a:schemeClr val="accent2"/>
          </a:solidFill>
        </p:spPr>
        <p:txBody>
          <a:bodyPr wrap="square">
            <a:spAutoFit/>
          </a:bodyPr>
          <a:lstStyle/>
          <a:p>
            <a:pPr algn="just"/>
            <a:r>
              <a:rPr lang="en-US" sz="2400" dirty="0">
                <a:solidFill>
                  <a:schemeClr val="bg1"/>
                </a:solidFill>
              </a:rPr>
              <a:t>If nobody owns the marketplace — no company;</a:t>
            </a:r>
          </a:p>
          <a:p>
            <a:pPr algn="just"/>
            <a:endParaRPr lang="en-US" sz="2400" dirty="0">
              <a:solidFill>
                <a:schemeClr val="bg1"/>
              </a:solidFill>
            </a:endParaRPr>
          </a:p>
          <a:p>
            <a:pPr algn="just"/>
            <a:r>
              <a:rPr lang="en-US" sz="2400" dirty="0">
                <a:solidFill>
                  <a:schemeClr val="bg1"/>
                </a:solidFill>
              </a:rPr>
              <a:t>then who's actually running the servers? Blockchains aren't magic; they run on real computers, using real electricity, and someone has to keep them online 24/7. </a:t>
            </a:r>
          </a:p>
          <a:p>
            <a:pPr algn="just"/>
            <a:endParaRPr lang="en-US" sz="2400" dirty="0">
              <a:solidFill>
                <a:schemeClr val="bg1"/>
              </a:solidFill>
            </a:endParaRPr>
          </a:p>
          <a:p>
            <a:pPr algn="just"/>
            <a:r>
              <a:rPr lang="en-US" sz="2400" dirty="0">
                <a:solidFill>
                  <a:schemeClr val="bg1"/>
                </a:solidFill>
              </a:rPr>
              <a:t>In a normal company, you'd just... pay employees. But there is no company here. </a:t>
            </a:r>
          </a:p>
          <a:p>
            <a:pPr algn="just"/>
            <a:endParaRPr lang="en-US" sz="2400" dirty="0">
              <a:solidFill>
                <a:schemeClr val="bg1"/>
              </a:solidFill>
            </a:endParaRPr>
          </a:p>
          <a:p>
            <a:pPr algn="just"/>
            <a:r>
              <a:rPr lang="en-US" sz="2400" dirty="0">
                <a:solidFill>
                  <a:schemeClr val="bg1"/>
                </a:solidFill>
              </a:rPr>
              <a:t>So who foots that bill? </a:t>
            </a:r>
          </a:p>
          <a:p>
            <a:pPr algn="just"/>
            <a:endParaRPr lang="en-US" sz="2400" dirty="0">
              <a:solidFill>
                <a:schemeClr val="bg1"/>
              </a:solidFill>
            </a:endParaRPr>
          </a:p>
          <a:p>
            <a:pPr algn="just"/>
            <a:r>
              <a:rPr lang="en-US" sz="2400" dirty="0">
                <a:solidFill>
                  <a:schemeClr val="bg1"/>
                </a:solidFill>
              </a:rPr>
              <a:t>The answer: the network pays for its own upkeep, built into its </a:t>
            </a:r>
            <a:r>
              <a:rPr lang="en-US" sz="2400" dirty="0" err="1">
                <a:solidFill>
                  <a:schemeClr val="bg1"/>
                </a:solidFill>
              </a:rPr>
              <a:t>rulesInstead</a:t>
            </a:r>
            <a:r>
              <a:rPr lang="en-US" sz="2400" dirty="0">
                <a:solidFill>
                  <a:schemeClr val="bg1"/>
                </a:solidFill>
              </a:rPr>
              <a:t> of a company hiring staff and paying them a salary, the blockchain's own code offers a reward to anyone who volunteers to do the work of maintaining the shared record. This is usually called mining (Bitcoin-style) or staking (newer systems like Ethereum).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nodeType="clickEffect">
                                  <p:stCondLst>
                                    <p:cond delay="0"/>
                                  </p:stCondLst>
                                  <p:childTnLst>
                                    <p:animEffect transition="out" filter="barn(inVertic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nodeType="clickEffect">
                                  <p:stCondLst>
                                    <p:cond delay="0"/>
                                  </p:stCondLst>
                                  <p:childTnLst>
                                    <p:animEffect transition="out" filter="barn(inVertic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9.png"/>
          <p:cNvPicPr>
            <a:picLocks noChangeAspect="1"/>
          </p:cNvPicPr>
          <p:nvPr/>
        </p:nvPicPr>
        <p:blipFill>
          <a:blip r:embed="rId3"/>
          <a:stretch>
            <a:fillRect/>
          </a:stretch>
        </p:blipFill>
        <p:spPr>
          <a:xfrm>
            <a:off x="0" y="0"/>
            <a:ext cx="12192000" cy="6858000"/>
          </a:xfrm>
          <a:prstGeom prst="rect">
            <a:avLst/>
          </a:prstGeom>
        </p:spPr>
      </p:pic>
      <p:grpSp>
        <p:nvGrpSpPr>
          <p:cNvPr id="3" name="Group 2">
            <a:extLst>
              <a:ext uri="{FF2B5EF4-FFF2-40B4-BE49-F238E27FC236}">
                <a16:creationId xmlns:a16="http://schemas.microsoft.com/office/drawing/2014/main" id="{4AE12EA8-4D9A-CDBE-58A2-267FFB766244}"/>
              </a:ext>
            </a:extLst>
          </p:cNvPr>
          <p:cNvGrpSpPr/>
          <p:nvPr/>
        </p:nvGrpSpPr>
        <p:grpSpPr>
          <a:xfrm>
            <a:off x="905436" y="2626018"/>
            <a:ext cx="11068850" cy="1422699"/>
            <a:chOff x="905436" y="2528047"/>
            <a:chExt cx="10562216" cy="1422699"/>
          </a:xfrm>
        </p:grpSpPr>
        <p:sp>
          <p:nvSpPr>
            <p:cNvPr id="4" name="Rectangle 3">
              <a:extLst>
                <a:ext uri="{FF2B5EF4-FFF2-40B4-BE49-F238E27FC236}">
                  <a16:creationId xmlns:a16="http://schemas.microsoft.com/office/drawing/2014/main" id="{A886EEB9-AB4F-609B-A890-12F1B3F850A3}"/>
                </a:ext>
              </a:extLst>
            </p:cNvPr>
            <p:cNvSpPr/>
            <p:nvPr/>
          </p:nvSpPr>
          <p:spPr>
            <a:xfrm>
              <a:off x="1861073" y="2528047"/>
              <a:ext cx="9606579" cy="104349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48C7FB5-7DD2-441A-8827-201CA326EB3D}"/>
                </a:ext>
              </a:extLst>
            </p:cNvPr>
            <p:cNvSpPr/>
            <p:nvPr/>
          </p:nvSpPr>
          <p:spPr>
            <a:xfrm>
              <a:off x="905436" y="2907254"/>
              <a:ext cx="10562216" cy="1043492"/>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500" b="1" dirty="0">
                  <a:solidFill>
                    <a:srgbClr val="FF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0.png"/>
          <p:cNvPicPr>
            <a:picLocks noChangeAspect="1"/>
          </p:cNvPicPr>
          <p:nvPr/>
        </p:nvPicPr>
        <p:blipFill>
          <a:blip r:embed="rId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40A8DC3-21A2-A5DA-8C68-9D9A6AA5B245}"/>
              </a:ext>
            </a:extLst>
          </p:cNvPr>
          <p:cNvSpPr txBox="1"/>
          <p:nvPr/>
        </p:nvSpPr>
        <p:spPr>
          <a:xfrm>
            <a:off x="1018308" y="2367171"/>
            <a:ext cx="10411691" cy="2123658"/>
          </a:xfrm>
          <a:prstGeom prst="rect">
            <a:avLst/>
          </a:prstGeom>
          <a:solidFill>
            <a:schemeClr val="accent2"/>
          </a:solidFill>
        </p:spPr>
        <p:txBody>
          <a:bodyPr wrap="square">
            <a:spAutoFit/>
          </a:bodyPr>
          <a:lstStyle/>
          <a:p>
            <a:pPr algn="just"/>
            <a:r>
              <a:rPr lang="en-US" sz="4400" dirty="0">
                <a:solidFill>
                  <a:schemeClr val="bg1"/>
                </a:solidFill>
              </a:rPr>
              <a:t>job is to place it on the 2008 to 2026 timeline they read earlier, then argue why it appeared when it did.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1.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13.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487</TotalTime>
  <Words>476</Words>
  <Application>Microsoft Office PowerPoint</Application>
  <PresentationFormat>Widescreen</PresentationFormat>
  <Paragraphs>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Faiz Ul Islam</cp:lastModifiedBy>
  <cp:revision>17</cp:revision>
  <dcterms:created xsi:type="dcterms:W3CDTF">2013-01-27T09:14:16Z</dcterms:created>
  <dcterms:modified xsi:type="dcterms:W3CDTF">2026-10-21T07:51:51Z</dcterms:modified>
  <cp:category/>
</cp:coreProperties>
</file>